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9" r:id="rId2"/>
    <p:sldId id="258" r:id="rId3"/>
    <p:sldId id="257" r:id="rId4"/>
  </p:sldIdLst>
  <p:sldSz cx="12192000" cy="6858000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3" userDrawn="1">
          <p15:clr>
            <a:srgbClr val="A4A3A4"/>
          </p15:clr>
        </p15:guide>
        <p15:guide id="2" pos="385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user" initials="u" lastIdx="0" clrIdx="6"/>
  <p:cmAuthor id="1" name="wangyunfei" initials="w" lastIdx="0" clrIdx="0"/>
  <p:cmAuthor id="8" name="77" initials="7" lastIdx="0" clrIdx="7"/>
  <p:cmAuthor id="2" name="zhenhe" initials="z" lastIdx="0" clrIdx="1"/>
  <p:cmAuthor id="9" name="沐星(兰天)" initials="" lastIdx="0" clrIdx="8"/>
  <p:cmAuthor id="3" name="作者" initials="A" lastIdx="0" clrIdx="2"/>
  <p:cmAuthor id="10" name="王韵菲（实习）" initials="王韵菲（实习）" lastIdx="0" clrIdx="9"/>
  <p:cmAuthor id="4" name="瑞比（杨文祎）" initials="瑞比（杨文祎）" lastIdx="0" clrIdx="3"/>
  <p:cmAuthor id="11" name="尔泰（马梦蝶）" initials="尔泰（马梦蝶）" lastIdx="0" clrIdx="10"/>
  <p:cmAuthor id="5" name="十代（王启力）" initials="十代（王启力）" lastIdx="0" clrIdx="4"/>
  <p:cmAuthor id="6" name="常欣雨" initials="常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B851"/>
    <a:srgbClr val="009744"/>
    <a:srgbClr val="71AD47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39" autoAdjust="0"/>
    <p:restoredTop sz="94660"/>
  </p:normalViewPr>
  <p:slideViewPr>
    <p:cSldViewPr snapToGrid="0" showGuides="1">
      <p:cViewPr>
        <p:scale>
          <a:sx n="118" d="100"/>
          <a:sy n="118" d="100"/>
        </p:scale>
        <p:origin x="96" y="256"/>
      </p:cViewPr>
      <p:guideLst>
        <p:guide orient="horz" pos="2443"/>
        <p:guide pos="385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71A76-AE74-CB48-89DE-D305260AF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0391F5-CFF0-02C9-981A-7D5EB128D6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95AFF8-BD54-38E0-BF5D-4F8A75EDBE3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9396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12B1A-09A5-C1E3-E019-6AE9B5A08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3A5BA9-9745-CB37-C797-4E9F61F93A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816BA1-DB47-4766-324C-76310979EC7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566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9FD3D-38CF-9845-A76D-A88B3EF9998F}" type="datetimeFigureOut">
              <a:rPr kumimoji="1" lang="zh-CN" altLang="en-US" smtClean="0"/>
              <a:t>2026/1/23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79121-D081-264F-A9FF-758178C2F38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9FD3D-38CF-9845-A76D-A88B3EF9998F}" type="datetimeFigureOut">
              <a:rPr kumimoji="1" lang="zh-CN" altLang="en-US" smtClean="0"/>
              <a:t>2026/1/23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79121-D081-264F-A9FF-758178C2F38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9FD3D-38CF-9845-A76D-A88B3EF9998F}" type="datetimeFigureOut">
              <a:rPr kumimoji="1" lang="zh-CN" altLang="en-US" smtClean="0"/>
              <a:t>2026/1/23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79121-D081-264F-A9FF-758178C2F38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9FD3D-38CF-9845-A76D-A88B3EF9998F}" type="datetimeFigureOut">
              <a:rPr kumimoji="1" lang="zh-CN" altLang="en-US" smtClean="0"/>
              <a:t>2026/1/23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79121-D081-264F-A9FF-758178C2F38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9FD3D-38CF-9845-A76D-A88B3EF9998F}" type="datetimeFigureOut">
              <a:rPr kumimoji="1" lang="zh-CN" altLang="en-US" smtClean="0"/>
              <a:t>2026/1/23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79121-D081-264F-A9FF-758178C2F38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9FD3D-38CF-9845-A76D-A88B3EF9998F}" type="datetimeFigureOut">
              <a:rPr kumimoji="1" lang="zh-CN" altLang="en-US" smtClean="0"/>
              <a:t>2026/1/23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79121-D081-264F-A9FF-758178C2F38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9FD3D-38CF-9845-A76D-A88B3EF9998F}" type="datetimeFigureOut">
              <a:rPr kumimoji="1" lang="zh-CN" altLang="en-US" smtClean="0"/>
              <a:t>2026/1/23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79121-D081-264F-A9FF-758178C2F38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9FD3D-38CF-9845-A76D-A88B3EF9998F}" type="datetimeFigureOut">
              <a:rPr kumimoji="1" lang="zh-CN" altLang="en-US" smtClean="0"/>
              <a:t>2026/1/23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79121-D081-264F-A9FF-758178C2F38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9FD3D-38CF-9845-A76D-A88B3EF9998F}" type="datetimeFigureOut">
              <a:rPr kumimoji="1" lang="zh-CN" altLang="en-US" smtClean="0"/>
              <a:t>2026/1/23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79121-D081-264F-A9FF-758178C2F38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9FD3D-38CF-9845-A76D-A88B3EF9998F}" type="datetimeFigureOut">
              <a:rPr kumimoji="1" lang="zh-CN" altLang="en-US" smtClean="0"/>
              <a:t>2026/1/23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79121-D081-264F-A9FF-758178C2F38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9FD3D-38CF-9845-A76D-A88B3EF9998F}" type="datetimeFigureOut">
              <a:rPr kumimoji="1" lang="zh-CN" altLang="en-US" smtClean="0"/>
              <a:t>2026/1/23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79121-D081-264F-A9FF-758178C2F38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470233"/>
            <a:ext cx="9144000" cy="2387600"/>
          </a:xfrm>
          <a:prstGeom prst="rect">
            <a:avLst/>
          </a:prstGeo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 altLang="zh-CN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49908"/>
            <a:ext cx="9144000" cy="1655762"/>
          </a:xfrm>
          <a:prstGeom prst="rect">
            <a:avLst/>
          </a:prstGeo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 altLang="zh-CN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背景图案&#10;&#10;描述已自动生成"/>
          <p:cNvPicPr>
            <a:picLocks noChangeAspect="1"/>
          </p:cNvPicPr>
          <p:nvPr userDrawn="1"/>
        </p:nvPicPr>
        <p:blipFill>
          <a:blip r:embed="rId2">
            <a:alphaModFix amt="61000"/>
          </a:blip>
          <a:stretch>
            <a:fillRect/>
          </a:stretch>
        </p:blipFill>
        <p:spPr>
          <a:xfrm>
            <a:off x="0" y="0"/>
            <a:ext cx="12212201" cy="687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bg>
      <p:bgPr>
        <a:gradFill>
          <a:gsLst>
            <a:gs pos="100000">
              <a:schemeClr val="bg1"/>
            </a:gs>
            <a:gs pos="0">
              <a:srgbClr val="FF244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7"/>
          <p:cNvSpPr/>
          <p:nvPr userDrawn="1"/>
        </p:nvSpPr>
        <p:spPr>
          <a:xfrm>
            <a:off x="129627" y="137064"/>
            <a:ext cx="11932746" cy="6583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Picture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1272637" y="261422"/>
            <a:ext cx="663723" cy="3179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zh-CN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二级</a:t>
            </a:r>
          </a:p>
          <a:p>
            <a:pPr lvl="2"/>
            <a:r>
              <a:rPr lang="zh-CN" altLang="zh-CN"/>
              <a:t>三级</a:t>
            </a:r>
          </a:p>
          <a:p>
            <a:pPr lvl="3"/>
            <a:r>
              <a:rPr lang="zh-CN" altLang="zh-CN"/>
              <a:t>四级</a:t>
            </a:r>
          </a:p>
          <a:p>
            <a:pPr lvl="4"/>
            <a:r>
              <a:rPr lang="zh-CN" altLang="zh-CN"/>
              <a:t>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8500" y="211480"/>
            <a:ext cx="653607" cy="31108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/>
          <p:cNvGraphicFramePr/>
          <p:nvPr userDrawn="1">
            <p:custDataLst>
              <p:tags r:id="rId18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9" imgW="5715" imgH="5715" progId="TCLayout.ActiveDocument.1">
                  <p:embed/>
                </p:oleObj>
              </mc:Choice>
              <mc:Fallback>
                <p:oleObj name="think-cell 幻灯片" r:id="rId19" imgW="5715" imgH="571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69FD3D-38CF-9845-A76D-A88B3EF9998F}" type="datetimeFigureOut">
              <a:rPr kumimoji="1" lang="zh-CN" altLang="en-US" smtClean="0"/>
              <a:t>2026/1/23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79121-D081-264F-A9FF-758178C2F385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-2402205" y="365125"/>
            <a:ext cx="2117090" cy="90741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3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8.png"/><Relationship Id="rId12" Type="http://schemas.openxmlformats.org/officeDocument/2006/relationships/image" Target="../media/image12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11" Type="http://schemas.openxmlformats.org/officeDocument/2006/relationships/image" Target="../media/image11.png"/><Relationship Id="rId5" Type="http://schemas.openxmlformats.org/officeDocument/2006/relationships/image" Target="../media/image6.emf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1.png"/><Relationship Id="rId3" Type="http://schemas.openxmlformats.org/officeDocument/2006/relationships/tags" Target="../tags/tag6.xml"/><Relationship Id="rId7" Type="http://schemas.openxmlformats.org/officeDocument/2006/relationships/image" Target="../media/image6.emf"/><Relationship Id="rId12" Type="http://schemas.openxmlformats.org/officeDocument/2006/relationships/image" Target="../media/image13.png"/><Relationship Id="rId2" Type="http://schemas.openxmlformats.org/officeDocument/2006/relationships/tags" Target="../tags/tag5.xml"/><Relationship Id="rId16" Type="http://schemas.openxmlformats.org/officeDocument/2006/relationships/image" Target="../media/image8.png"/><Relationship Id="rId1" Type="http://schemas.openxmlformats.org/officeDocument/2006/relationships/tags" Target="../tags/tag4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7.png"/><Relationship Id="rId5" Type="http://schemas.openxmlformats.org/officeDocument/2006/relationships/notesSlide" Target="../notesSlides/notesSlide2.xml"/><Relationship Id="rId15" Type="http://schemas.openxmlformats.org/officeDocument/2006/relationships/image" Target="../media/image12.png"/><Relationship Id="rId10" Type="http://schemas.openxmlformats.org/officeDocument/2006/relationships/image" Target="../media/image10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9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tags" Target="../tags/tag9.xml"/><Relationship Id="rId7" Type="http://schemas.openxmlformats.org/officeDocument/2006/relationships/image" Target="../media/image6.emf"/><Relationship Id="rId12" Type="http://schemas.openxmlformats.org/officeDocument/2006/relationships/image" Target="../media/image9.png"/><Relationship Id="rId2" Type="http://schemas.openxmlformats.org/officeDocument/2006/relationships/tags" Target="../tags/tag8.xml"/><Relationship Id="rId16" Type="http://schemas.openxmlformats.org/officeDocument/2006/relationships/image" Target="../media/image11.png"/><Relationship Id="rId1" Type="http://schemas.openxmlformats.org/officeDocument/2006/relationships/tags" Target="../tags/tag7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8.png"/><Relationship Id="rId5" Type="http://schemas.openxmlformats.org/officeDocument/2006/relationships/notesSlide" Target="../notesSlides/notesSlide3.xml"/><Relationship Id="rId15" Type="http://schemas.openxmlformats.org/officeDocument/2006/relationships/image" Target="../media/image13.png"/><Relationship Id="rId10" Type="http://schemas.openxmlformats.org/officeDocument/2006/relationships/image" Target="../media/image12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16.png"/><Relationship Id="rId1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57E53-4B0D-9942-A675-B00592339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圆角矩形 26">
            <a:extLst>
              <a:ext uri="{FF2B5EF4-FFF2-40B4-BE49-F238E27FC236}">
                <a16:creationId xmlns:a16="http://schemas.microsoft.com/office/drawing/2014/main" id="{F2167193-7335-902A-46AC-DB0264D9B7F1}"/>
              </a:ext>
            </a:extLst>
          </p:cNvPr>
          <p:cNvSpPr/>
          <p:nvPr/>
        </p:nvSpPr>
        <p:spPr>
          <a:xfrm>
            <a:off x="330416" y="4219309"/>
            <a:ext cx="4228999" cy="2410285"/>
          </a:xfrm>
          <a:prstGeom prst="roundRect">
            <a:avLst>
              <a:gd name="adj" fmla="val 8988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3000">
                <a:srgbClr val="06B851">
                  <a:alpha val="2802"/>
                </a:srgbClr>
              </a:gs>
              <a:gs pos="83000">
                <a:srgbClr val="06B851">
                  <a:alpha val="4373"/>
                </a:srgbClr>
              </a:gs>
              <a:gs pos="100000">
                <a:schemeClr val="bg1"/>
              </a:gs>
            </a:gsLst>
            <a:lin ang="8100000" scaled="1"/>
            <a:tileRect/>
          </a:gradFill>
          <a:ln w="6350" cap="flat" cmpd="sng" algn="ctr">
            <a:solidFill>
              <a:srgbClr val="06B851">
                <a:alpha val="5784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FZVARIABLE-LANTINGHEIK MEDIUM" panose="02000600000000000000" pitchFamily="2" charset="-122"/>
              <a:ea typeface="FZVARIABLE-LANTINGHEIK MEDIUM" panose="02000600000000000000" pitchFamily="2" charset="-122"/>
            </a:endParaRPr>
          </a:p>
        </p:txBody>
      </p:sp>
      <p:graphicFrame>
        <p:nvGraphicFramePr>
          <p:cNvPr id="22" name="think-cell data - do not delete" hidden="1">
            <a:extLst>
              <a:ext uri="{FF2B5EF4-FFF2-40B4-BE49-F238E27FC236}">
                <a16:creationId xmlns:a16="http://schemas.microsoft.com/office/drawing/2014/main" id="{F50E4E80-0FE3-EE4B-A421-8F3F1F88455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78146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26" imgH="426" progId="TCLayout.ActiveDocument.1">
                  <p:embed/>
                </p:oleObj>
              </mc:Choice>
              <mc:Fallback>
                <p:oleObj name="think-cell 幻灯片" r:id="rId4" imgW="426" imgH="426" progId="TCLayout.ActiveDocument.1">
                  <p:embed/>
                  <p:pic>
                    <p:nvPicPr>
                      <p:cNvPr id="2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71F47E1-87D4-4912-8C3A-75FF9F0751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矩形: 圆角 190">
            <a:extLst>
              <a:ext uri="{FF2B5EF4-FFF2-40B4-BE49-F238E27FC236}">
                <a16:creationId xmlns:a16="http://schemas.microsoft.com/office/drawing/2014/main" id="{E1E291D6-B4D9-DA35-77FA-5496E23800DF}"/>
              </a:ext>
            </a:extLst>
          </p:cNvPr>
          <p:cNvSpPr/>
          <p:nvPr/>
        </p:nvSpPr>
        <p:spPr>
          <a:xfrm>
            <a:off x="4812224" y="1738600"/>
            <a:ext cx="4543549" cy="4890993"/>
          </a:xfrm>
          <a:prstGeom prst="roundRect">
            <a:avLst>
              <a:gd name="adj" fmla="val 6373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3000">
                <a:srgbClr val="06B851">
                  <a:alpha val="2802"/>
                </a:srgbClr>
              </a:gs>
              <a:gs pos="83000">
                <a:srgbClr val="06B851">
                  <a:alpha val="4373"/>
                </a:srgbClr>
              </a:gs>
              <a:gs pos="100000">
                <a:schemeClr val="bg1"/>
              </a:gs>
            </a:gsLst>
            <a:lin ang="8100000" scaled="1"/>
            <a:tileRect/>
          </a:gradFill>
          <a:ln w="6350" cap="flat" cmpd="sng" algn="ctr">
            <a:solidFill>
              <a:srgbClr val="06B851">
                <a:alpha val="5784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FZVARIABLE-LANTINGHEIK MEDIUM" panose="02000600000000000000" pitchFamily="2" charset="-122"/>
              <a:ea typeface="FZVARIABLE-LANTINGHEIK MEDIUM" panose="02000600000000000000" pitchFamily="2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586B9D25-4D16-FE8A-8DAE-6B05E05D61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4420" y="4097427"/>
            <a:ext cx="912958" cy="1374190"/>
          </a:xfrm>
          <a:prstGeom prst="roundRect">
            <a:avLst>
              <a:gd name="adj" fmla="val 10009"/>
            </a:avLst>
          </a:prstGeom>
          <a:ln w="12700">
            <a:solidFill>
              <a:srgbClr val="06B851"/>
            </a:solidFill>
          </a:ln>
          <a:effectLst/>
        </p:spPr>
      </p:pic>
      <p:pic>
        <p:nvPicPr>
          <p:cNvPr id="216" name="图片 215">
            <a:extLst>
              <a:ext uri="{FF2B5EF4-FFF2-40B4-BE49-F238E27FC236}">
                <a16:creationId xmlns:a16="http://schemas.microsoft.com/office/drawing/2014/main" id="{05C35B72-0B91-C616-D26D-84C68CD3AF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7342" y="4349140"/>
            <a:ext cx="869949" cy="1440000"/>
          </a:xfrm>
          <a:prstGeom prst="roundRect">
            <a:avLst>
              <a:gd name="adj" fmla="val 10009"/>
            </a:avLst>
          </a:prstGeom>
          <a:ln w="12700">
            <a:solidFill>
              <a:srgbClr val="06B851"/>
            </a:solidFill>
          </a:ln>
          <a:effectLst/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0E4E89F6-9B04-7F50-0997-DED3BFC9EB97}"/>
              </a:ext>
            </a:extLst>
          </p:cNvPr>
          <p:cNvSpPr/>
          <p:nvPr/>
        </p:nvSpPr>
        <p:spPr>
          <a:xfrm>
            <a:off x="345088" y="1738600"/>
            <a:ext cx="4214327" cy="1919979"/>
          </a:xfrm>
          <a:prstGeom prst="roundRect">
            <a:avLst>
              <a:gd name="adj" fmla="val 8988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3000">
                <a:srgbClr val="06B851">
                  <a:alpha val="2802"/>
                </a:srgbClr>
              </a:gs>
              <a:gs pos="83000">
                <a:srgbClr val="06B851">
                  <a:alpha val="4373"/>
                </a:srgbClr>
              </a:gs>
              <a:gs pos="100000">
                <a:schemeClr val="bg1"/>
              </a:gs>
            </a:gsLst>
            <a:lin ang="8100000" scaled="1"/>
            <a:tileRect/>
          </a:gradFill>
          <a:ln w="6350" cap="flat" cmpd="sng" algn="ctr">
            <a:solidFill>
              <a:srgbClr val="06B851">
                <a:alpha val="5784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FZVARIABLE-LANTINGHEIK MEDIUM" panose="02000600000000000000" pitchFamily="2" charset="-122"/>
              <a:ea typeface="FZVARIABLE-LANTINGHEIK MEDIUM" panose="02000600000000000000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461EF6B-E7AC-F9CE-7331-9F78BB21785D}"/>
              </a:ext>
            </a:extLst>
          </p:cNvPr>
          <p:cNvSpPr txBox="1"/>
          <p:nvPr/>
        </p:nvSpPr>
        <p:spPr>
          <a:xfrm>
            <a:off x="628786" y="340161"/>
            <a:ext cx="10898606" cy="8309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lvl="0" algn="ctr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2400" dirty="0">
                <a:solidFill>
                  <a:srgbClr val="06B851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  <a:cs typeface="微软雅黑" panose="020B0503020204020204" charset="-122"/>
                <a:sym typeface="+mn-ea"/>
              </a:rPr>
              <a:t>极氪001/007GT</a:t>
            </a:r>
          </a:p>
          <a:p>
            <a:pPr lvl="0" algn="ctr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dirty="0">
                <a:latin typeface="FZVARIABLE-LANTINGHEIK MEDIUM" panose="02000600000000000000" pitchFamily="2" charset="-122"/>
                <a:ea typeface="FZVARIABLE-LANTINGHEIK MEDIUM" panose="02000600000000000000" pitchFamily="2" charset="-122"/>
                <a:cs typeface="微软雅黑" panose="020B0503020204020204" charset="-122"/>
                <a:sym typeface="+mn-ea"/>
              </a:rPr>
              <a:t>以</a:t>
            </a:r>
            <a:r>
              <a:rPr lang="en-US" altLang="zh-CN" sz="2400" dirty="0">
                <a:latin typeface="FZVARIABLE-LANTINGHEIK MEDIUM" panose="02000600000000000000" pitchFamily="2" charset="-122"/>
                <a:ea typeface="FZVARIABLE-LANTINGHEIK MEDIUM" panose="02000600000000000000" pitchFamily="2" charset="-122"/>
                <a:cs typeface="微软雅黑" panose="020B0503020204020204" charset="-122"/>
                <a:sym typeface="+mn-ea"/>
              </a:rPr>
              <a:t>24</a:t>
            </a:r>
            <a:r>
              <a:rPr lang="zh-CN" altLang="en-US" sz="2400" dirty="0">
                <a:latin typeface="FZVARIABLE-LANTINGHEIK MEDIUM" panose="02000600000000000000" pitchFamily="2" charset="-122"/>
                <a:ea typeface="FZVARIABLE-LANTINGHEIK MEDIUM" panose="02000600000000000000" pitchFamily="2" charset="-122"/>
                <a:cs typeface="微软雅黑" panose="020B0503020204020204" charset="-122"/>
                <a:sym typeface="+mn-ea"/>
              </a:rPr>
              <a:t>节气为轴，打造质感猎装车种草内容，唤醒用户情绪共鸣</a:t>
            </a:r>
            <a:endParaRPr lang="zh-CN" altLang="en-US" sz="3600" dirty="0">
              <a:latin typeface="FZVARIABLE-LANTINGHEIK MEDIUM" panose="02000600000000000000" pitchFamily="2" charset="-122"/>
              <a:ea typeface="FZVARIABLE-LANTINGHEIK MEDIUM" panose="02000600000000000000" pitchFamily="2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4" name="矩形: 圆角 190">
            <a:extLst>
              <a:ext uri="{FF2B5EF4-FFF2-40B4-BE49-F238E27FC236}">
                <a16:creationId xmlns:a16="http://schemas.microsoft.com/office/drawing/2014/main" id="{02EDDEA0-2705-7525-31FE-5A0110A2A65A}"/>
              </a:ext>
            </a:extLst>
          </p:cNvPr>
          <p:cNvSpPr/>
          <p:nvPr/>
        </p:nvSpPr>
        <p:spPr>
          <a:xfrm>
            <a:off x="9594850" y="1799023"/>
            <a:ext cx="2205355" cy="3947482"/>
          </a:xfrm>
          <a:prstGeom prst="roundRect">
            <a:avLst>
              <a:gd name="adj" fmla="val 10619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3000">
                <a:srgbClr val="06B851">
                  <a:alpha val="2802"/>
                </a:srgbClr>
              </a:gs>
              <a:gs pos="83000">
                <a:srgbClr val="06B851">
                  <a:alpha val="4373"/>
                </a:srgbClr>
              </a:gs>
              <a:gs pos="100000">
                <a:schemeClr val="bg1"/>
              </a:gs>
            </a:gsLst>
            <a:lin ang="8100000" scaled="1"/>
            <a:tileRect/>
          </a:gradFill>
          <a:ln w="6350" cap="flat" cmpd="sng" algn="ctr">
            <a:solidFill>
              <a:srgbClr val="06B851">
                <a:alpha val="5784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FZVARIABLE-LANTINGHEIK MEDIUM" panose="02000600000000000000" pitchFamily="2" charset="-122"/>
              <a:ea typeface="FZVARIABLE-LANTINGHEIK MEDIUM" panose="02000600000000000000" pitchFamily="2" charset="-122"/>
            </a:endParaRPr>
          </a:p>
        </p:txBody>
      </p:sp>
      <p:sp>
        <p:nvSpPr>
          <p:cNvPr id="38" name="同侧圆角矩形 14">
            <a:extLst>
              <a:ext uri="{FF2B5EF4-FFF2-40B4-BE49-F238E27FC236}">
                <a16:creationId xmlns:a16="http://schemas.microsoft.com/office/drawing/2014/main" id="{BC976FDE-B1D4-0F96-33A1-659864844FEA}"/>
              </a:ext>
            </a:extLst>
          </p:cNvPr>
          <p:cNvSpPr/>
          <p:nvPr/>
        </p:nvSpPr>
        <p:spPr>
          <a:xfrm>
            <a:off x="4874659" y="1337453"/>
            <a:ext cx="4364355" cy="295275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0">
                <a:srgbClr val="06B851">
                  <a:alpha val="49000"/>
                </a:srgbClr>
              </a:gs>
              <a:gs pos="51000">
                <a:srgbClr val="06B851"/>
              </a:gs>
            </a:gsLst>
            <a:lin ang="10800000" scaled="1"/>
            <a:tileRect/>
          </a:gradFill>
          <a:ln w="6350" cap="flat" cmpd="sng" algn="ctr">
            <a:noFill/>
            <a:prstDash val="solid"/>
            <a:miter lim="800000"/>
          </a:ln>
          <a:effectLst/>
        </p:spPr>
        <p:txBody>
          <a:bodyPr lIns="2251" tIns="2251" rIns="2251" bIns="2251" rtlCol="0" anchor="ctr"/>
          <a:lstStyle/>
          <a:p>
            <a:pPr algn="ctr" defTabSz="60960"/>
            <a:r>
              <a:rPr lang="zh-CN" altLang="en-US" sz="1200" kern="0" dirty="0">
                <a:solidFill>
                  <a:prstClr val="white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  <a:sym typeface="+mn-ea"/>
              </a:rPr>
              <a:t>季节</a:t>
            </a:r>
            <a:r>
              <a:rPr lang="zh-CN" altLang="en-US" sz="1200" kern="0">
                <a:solidFill>
                  <a:prstClr val="white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  <a:sym typeface="+mn-ea"/>
              </a:rPr>
              <a:t>仪式感</a:t>
            </a:r>
            <a:r>
              <a:rPr lang="en-US" altLang="zh-CN" sz="1200" kern="0" dirty="0">
                <a:solidFill>
                  <a:prstClr val="white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  <a:sym typeface="+mn-ea"/>
              </a:rPr>
              <a:t> + </a:t>
            </a:r>
            <a:r>
              <a:rPr lang="zh-CN" altLang="en-US" sz="1200" kern="0" dirty="0">
                <a:solidFill>
                  <a:prstClr val="white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  <a:sym typeface="+mn-ea"/>
              </a:rPr>
              <a:t>产品功能场景化，打造质感种草内容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8CA6945-9B9C-4F8A-C3E8-0A077D8E7641}"/>
              </a:ext>
            </a:extLst>
          </p:cNvPr>
          <p:cNvSpPr txBox="1"/>
          <p:nvPr/>
        </p:nvSpPr>
        <p:spPr>
          <a:xfrm>
            <a:off x="9643824" y="1958834"/>
            <a:ext cx="21094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060575" algn="l"/>
                <a:tab pos="2600325" algn="l"/>
              </a:tabLst>
              <a:defRPr/>
            </a:pPr>
            <a:r>
              <a:rPr kumimoji="0" lang="zh-CN" altLang="en-US" sz="11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  <a:cs typeface="微软雅黑" panose="020B0503020204020204" charset="-122"/>
              </a:rPr>
              <a:t>好内容占比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060575" algn="l"/>
                <a:tab pos="2600325" algn="l"/>
              </a:tabLst>
              <a:defRPr/>
            </a:pPr>
            <a:r>
              <a:rPr kumimoji="0" lang="en-US" altLang="zh-CN" sz="3200" u="none" strike="noStrike" kern="1200" cap="none" spc="0" normalizeH="0" baseline="0" noProof="0" dirty="0">
                <a:ln>
                  <a:noFill/>
                </a:ln>
                <a:solidFill>
                  <a:srgbClr val="06B851"/>
                </a:solidFill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  <a:cs typeface="微软雅黑" panose="020B0503020204020204" charset="-122"/>
              </a:rPr>
              <a:t>80</a:t>
            </a:r>
            <a:r>
              <a:rPr kumimoji="0" lang="en-US" altLang="zh-CN" u="none" strike="noStrike" kern="1200" cap="none" spc="0" normalizeH="0" baseline="0" noProof="0" dirty="0">
                <a:ln>
                  <a:noFill/>
                </a:ln>
                <a:solidFill>
                  <a:srgbClr val="06B851"/>
                </a:solidFill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  <a:cs typeface="微软雅黑" panose="020B0503020204020204" charset="-122"/>
              </a:rPr>
              <a:t>%+</a:t>
            </a:r>
            <a:endParaRPr kumimoji="0" lang="zh-CN" altLang="en-US" u="none" strike="noStrike" kern="1200" cap="none" spc="0" normalizeH="0" baseline="0" noProof="0" dirty="0">
              <a:ln>
                <a:noFill/>
              </a:ln>
              <a:solidFill>
                <a:srgbClr val="06B851"/>
              </a:solidFill>
              <a:effectLst/>
              <a:uLnTx/>
              <a:uFillTx/>
              <a:latin typeface="FZVARIABLE-LANTINGHEIK MEDIUM" panose="02000600000000000000" pitchFamily="2" charset="-122"/>
              <a:ea typeface="FZVARIABLE-LANTINGHEIK MEDIUM" panose="02000600000000000000" pitchFamily="2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81D5201-C628-2E31-6AE5-76C78EBB9B88}"/>
              </a:ext>
            </a:extLst>
          </p:cNvPr>
          <p:cNvSpPr txBox="1"/>
          <p:nvPr/>
        </p:nvSpPr>
        <p:spPr>
          <a:xfrm>
            <a:off x="9414271" y="4821806"/>
            <a:ext cx="252857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060575" algn="l"/>
                <a:tab pos="2600325" algn="l"/>
              </a:tabLst>
              <a:defRPr/>
            </a:pPr>
            <a:r>
              <a:rPr kumimoji="0" lang="zh-CN" altLang="en-US" sz="11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  <a:cs typeface="微软雅黑" panose="020B0503020204020204" charset="-122"/>
              </a:rPr>
              <a:t>NPS口碑</a:t>
            </a:r>
          </a:p>
          <a:p>
            <a:pPr algn="ctr">
              <a:tabLst>
                <a:tab pos="2060575" algn="l"/>
                <a:tab pos="2600325" algn="l"/>
              </a:tabLst>
              <a:defRPr/>
            </a:pPr>
            <a:r>
              <a:rPr lang="en-US" sz="3200" dirty="0">
                <a:solidFill>
                  <a:srgbClr val="06B851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+16</a:t>
            </a:r>
            <a:r>
              <a:rPr lang="en-US" dirty="0">
                <a:solidFill>
                  <a:srgbClr val="06B851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%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9067C2F-3BFC-5312-B55E-CC496BF6EE59}"/>
              </a:ext>
            </a:extLst>
          </p:cNvPr>
          <p:cNvSpPr txBox="1"/>
          <p:nvPr/>
        </p:nvSpPr>
        <p:spPr>
          <a:xfrm>
            <a:off x="9643824" y="2948175"/>
            <a:ext cx="2069465" cy="716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>
                <a:tab pos="2060575" algn="l"/>
                <a:tab pos="2600325" algn="l"/>
              </a:tabLst>
              <a:defRPr/>
            </a:pPr>
            <a:r>
              <a:rPr lang="zh-CN" altLang="en-US" sz="11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  <a:cs typeface="微软雅黑" panose="020B0503020204020204" charset="-122"/>
                <a:sym typeface="+mn-ea"/>
              </a:rPr>
              <a:t>人群资产提升</a:t>
            </a:r>
            <a:endParaRPr lang="en-US" altLang="zh-CN" sz="11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FZVARIABLE-LANTINGHEIK MEDIUM" panose="02000600000000000000" pitchFamily="2" charset="-122"/>
              <a:ea typeface="FZVARIABLE-LANTINGHEIK MEDIUM" panose="02000600000000000000" pitchFamily="2" charset="-122"/>
              <a:cs typeface="微软雅黑" panose="020B0503020204020204" charset="-122"/>
              <a:sym typeface="+mn-ea"/>
            </a:endParaRPr>
          </a:p>
          <a:p>
            <a:pPr lvl="0" algn="ctr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>
                <a:tab pos="2060575" algn="l"/>
                <a:tab pos="2600325" algn="l"/>
              </a:tabLst>
              <a:defRPr/>
            </a:pPr>
            <a:r>
              <a:rPr lang="en-US" altLang="zh-CN" sz="3200" dirty="0">
                <a:solidFill>
                  <a:srgbClr val="06B851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  <a:sym typeface="+mn-ea"/>
              </a:rPr>
              <a:t>1300</a:t>
            </a:r>
            <a:r>
              <a:rPr lang="en-US" altLang="zh-CN" dirty="0">
                <a:solidFill>
                  <a:srgbClr val="06B851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  <a:sym typeface="+mn-ea"/>
              </a:rPr>
              <a:t>W+</a:t>
            </a:r>
            <a:endParaRPr lang="en-US" altLang="zh-CN" sz="3200" dirty="0">
              <a:solidFill>
                <a:srgbClr val="06B851"/>
              </a:solidFill>
              <a:latin typeface="FZVARIABLE-LANTINGHEIK MEDIUM" panose="02000600000000000000" pitchFamily="2" charset="-122"/>
              <a:ea typeface="FZVARIABLE-LANTINGHEIK MEDIUM" panose="02000600000000000000" pitchFamily="2" charset="-122"/>
              <a:sym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930A31C-062D-E13E-7F5E-56A522946915}"/>
              </a:ext>
            </a:extLst>
          </p:cNvPr>
          <p:cNvSpPr txBox="1"/>
          <p:nvPr/>
        </p:nvSpPr>
        <p:spPr>
          <a:xfrm>
            <a:off x="9787916" y="3884990"/>
            <a:ext cx="1830070" cy="716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>
                <a:tab pos="2060575" algn="l"/>
                <a:tab pos="2600325" algn="l"/>
              </a:tabLst>
              <a:defRPr/>
            </a:pPr>
            <a:r>
              <a:rPr lang="zh-CN" altLang="en-US" sz="11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  <a:cs typeface="微软雅黑" panose="020B0503020204020204" charset="-122"/>
                <a:sym typeface="+mn-ea"/>
              </a:rPr>
              <a:t>目标人群渗透</a:t>
            </a:r>
          </a:p>
          <a:p>
            <a:pPr algn="ctr">
              <a:tabLst>
                <a:tab pos="2060575" algn="l"/>
                <a:tab pos="2600325" algn="l"/>
              </a:tabLst>
              <a:defRPr/>
            </a:pPr>
            <a:r>
              <a:rPr lang="zh-CN" altLang="en-US" sz="3200" dirty="0">
                <a:solidFill>
                  <a:srgbClr val="06B851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  <a:sym typeface="+mn-ea"/>
              </a:rPr>
              <a:t>+</a:t>
            </a:r>
            <a:r>
              <a:rPr lang="en-US" altLang="zh-CN" sz="3200" dirty="0">
                <a:solidFill>
                  <a:srgbClr val="06B851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  <a:sym typeface="+mn-ea"/>
              </a:rPr>
              <a:t>42</a:t>
            </a:r>
            <a:r>
              <a:rPr lang="zh-CN" altLang="en-US" dirty="0">
                <a:solidFill>
                  <a:srgbClr val="06B851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  <a:sym typeface="+mn-ea"/>
              </a:rPr>
              <a:t>%</a:t>
            </a:r>
          </a:p>
        </p:txBody>
      </p:sp>
      <p:sp>
        <p:nvSpPr>
          <p:cNvPr id="299" name="同侧圆角矩形 14">
            <a:extLst>
              <a:ext uri="{FF2B5EF4-FFF2-40B4-BE49-F238E27FC236}">
                <a16:creationId xmlns:a16="http://schemas.microsoft.com/office/drawing/2014/main" id="{C992B25D-326F-7316-CADD-E62A182E3A99}"/>
              </a:ext>
            </a:extLst>
          </p:cNvPr>
          <p:cNvSpPr/>
          <p:nvPr/>
        </p:nvSpPr>
        <p:spPr>
          <a:xfrm>
            <a:off x="370555" y="1337453"/>
            <a:ext cx="3983504" cy="295275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0">
                <a:srgbClr val="06B851">
                  <a:alpha val="49000"/>
                </a:srgbClr>
              </a:gs>
              <a:gs pos="51000">
                <a:srgbClr val="06B851"/>
              </a:gs>
            </a:gsLst>
            <a:lin ang="10800000" scaled="1"/>
            <a:tileRect/>
          </a:gradFill>
          <a:ln w="6350" cap="flat" cmpd="sng" algn="ctr">
            <a:noFill/>
            <a:prstDash val="solid"/>
            <a:miter lim="800000"/>
          </a:ln>
          <a:effectLst/>
        </p:spPr>
        <p:txBody>
          <a:bodyPr lIns="2251" tIns="2251" rIns="2251" bIns="2251" rtlCol="0" anchor="ctr"/>
          <a:lstStyle/>
          <a:p>
            <a:pPr marL="0" marR="0" lvl="0" indent="0" algn="ctr" defTabSz="60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  <a:sym typeface="+mn-ea"/>
              </a:rPr>
              <a:t>锚定赛道痛点匹配精准打法，高效渗透用户心智</a:t>
            </a:r>
            <a:endParaRPr kumimoji="0" lang="zh-CN" sz="12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ZVARIABLE-LANTINGHEIK MEDIUM" panose="02000600000000000000" pitchFamily="2" charset="-122"/>
              <a:ea typeface="FZVARIABLE-LANTINGHEIK MEDIUM" panose="02000600000000000000" pitchFamily="2" charset="-122"/>
              <a:sym typeface="+mn-ea"/>
            </a:endParaRPr>
          </a:p>
        </p:txBody>
      </p:sp>
      <p:sp>
        <p:nvSpPr>
          <p:cNvPr id="105" name="同侧圆角矩形 14">
            <a:extLst>
              <a:ext uri="{FF2B5EF4-FFF2-40B4-BE49-F238E27FC236}">
                <a16:creationId xmlns:a16="http://schemas.microsoft.com/office/drawing/2014/main" id="{2645CD65-4DEA-5954-03EA-9E3A1D198EA6}"/>
              </a:ext>
            </a:extLst>
          </p:cNvPr>
          <p:cNvSpPr/>
          <p:nvPr/>
        </p:nvSpPr>
        <p:spPr>
          <a:xfrm>
            <a:off x="9594849" y="1337453"/>
            <a:ext cx="2205355" cy="295275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0">
                <a:srgbClr val="06B851">
                  <a:alpha val="49000"/>
                </a:srgbClr>
              </a:gs>
              <a:gs pos="51000">
                <a:srgbClr val="06B851"/>
              </a:gs>
            </a:gsLst>
            <a:lin ang="10800000" scaled="1"/>
            <a:tileRect/>
          </a:gradFill>
          <a:ln w="6350" cap="flat" cmpd="sng" algn="ctr">
            <a:noFill/>
            <a:prstDash val="solid"/>
            <a:miter lim="800000"/>
          </a:ln>
          <a:effectLst/>
        </p:spPr>
        <p:txBody>
          <a:bodyPr lIns="2251" tIns="2251" rIns="2251" bIns="2251" rtlCol="0" anchor="ctr"/>
          <a:lstStyle/>
          <a:p>
            <a:pPr algn="ctr" defTabSz="60960"/>
            <a:r>
              <a:rPr lang="zh-CN" altLang="en-US" sz="1200" kern="0" dirty="0">
                <a:solidFill>
                  <a:prstClr val="white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  <a:sym typeface="+mn-ea"/>
              </a:rPr>
              <a:t>好内容带动高转化</a:t>
            </a:r>
          </a:p>
        </p:txBody>
      </p:sp>
      <p:sp>
        <p:nvSpPr>
          <p:cNvPr id="1223" name="文本框 1222">
            <a:extLst>
              <a:ext uri="{FF2B5EF4-FFF2-40B4-BE49-F238E27FC236}">
                <a16:creationId xmlns:a16="http://schemas.microsoft.com/office/drawing/2014/main" id="{BA2D0309-B270-D363-227A-F793DAD423DE}"/>
              </a:ext>
            </a:extLst>
          </p:cNvPr>
          <p:cNvSpPr txBox="1"/>
          <p:nvPr/>
        </p:nvSpPr>
        <p:spPr>
          <a:xfrm>
            <a:off x="10007740" y="6607205"/>
            <a:ext cx="238569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FZVariable-LanTingHeiK Light" panose="02000600000000000000" pitchFamily="2" charset="-122"/>
                <a:ea typeface="FZVariable-LanTingHeiK Light" panose="02000600000000000000" pitchFamily="2" charset="-122"/>
                <a:cs typeface="微软雅黑" panose="020B0503020204020204" charset="-122"/>
              </a:rPr>
              <a:t>*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FZVariable-LanTingHeiK Light" panose="02000600000000000000" pitchFamily="2" charset="-122"/>
                <a:ea typeface="FZVariable-LanTingHeiK Light" panose="02000600000000000000" pitchFamily="2" charset="-122"/>
                <a:cs typeface="微软雅黑" panose="020B0503020204020204" charset="-122"/>
              </a:rPr>
              <a:t>数据来源：小红书数据中台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FZVariable-LanTingHeiK Light" panose="02000600000000000000" pitchFamily="2" charset="-122"/>
                <a:ea typeface="FZVariable-LanTingHeiK Light" panose="02000600000000000000" pitchFamily="2" charset="-122"/>
                <a:cs typeface="微软雅黑" panose="020B0503020204020204" charset="-122"/>
              </a:rPr>
              <a:t>25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FZVariable-LanTingHeiK Light" panose="02000600000000000000" pitchFamily="2" charset="-122"/>
                <a:ea typeface="FZVariable-LanTingHeiK Light" panose="02000600000000000000" pitchFamily="2" charset="-122"/>
                <a:cs typeface="微软雅黑" panose="020B0503020204020204" charset="-122"/>
              </a:rPr>
              <a:t>年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FZVariable-LanTingHeiK Light" panose="02000600000000000000" pitchFamily="2" charset="-122"/>
                <a:ea typeface="FZVariable-LanTingHeiK Light" panose="02000600000000000000" pitchFamily="2" charset="-122"/>
                <a:cs typeface="微软雅黑" panose="020B0503020204020204" charset="-122"/>
              </a:rPr>
              <a:t>12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FZVariable-LanTingHeiK Light" panose="02000600000000000000" pitchFamily="2" charset="-122"/>
                <a:ea typeface="FZVariable-LanTingHeiK Light" panose="02000600000000000000" pitchFamily="2" charset="-122"/>
                <a:cs typeface="微软雅黑" panose="020B0503020204020204" charset="-122"/>
              </a:rPr>
              <a:t>月数据</a:t>
            </a:r>
          </a:p>
        </p:txBody>
      </p:sp>
      <p:pic>
        <p:nvPicPr>
          <p:cNvPr id="3" name="图片 2" descr="徽标&#10;&#10;描述已自动生成">
            <a:extLst>
              <a:ext uri="{FF2B5EF4-FFF2-40B4-BE49-F238E27FC236}">
                <a16:creationId xmlns:a16="http://schemas.microsoft.com/office/drawing/2014/main" id="{29542E89-7EBC-ED0A-AE9B-580375ABC3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00588" y="292111"/>
            <a:ext cx="653607" cy="311082"/>
          </a:xfrm>
          <a:prstGeom prst="rect">
            <a:avLst/>
          </a:prstGeom>
        </p:spPr>
      </p:pic>
      <p:sp>
        <p:nvSpPr>
          <p:cNvPr id="195" name="文本框 194">
            <a:extLst>
              <a:ext uri="{FF2B5EF4-FFF2-40B4-BE49-F238E27FC236}">
                <a16:creationId xmlns:a16="http://schemas.microsoft.com/office/drawing/2014/main" id="{CB0D470C-FB85-3087-00AC-4F2E6DBE784E}"/>
              </a:ext>
            </a:extLst>
          </p:cNvPr>
          <p:cNvSpPr txBox="1"/>
          <p:nvPr/>
        </p:nvSpPr>
        <p:spPr>
          <a:xfrm>
            <a:off x="1764947" y="2256730"/>
            <a:ext cx="1823111" cy="1223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1000" b="1" dirty="0">
                <a:solidFill>
                  <a:prstClr val="black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猎装美学</a:t>
            </a:r>
            <a:endParaRPr lang="en-US" altLang="zh-CN" sz="1000" b="1" dirty="0">
              <a:solidFill>
                <a:prstClr val="black"/>
              </a:solidFill>
              <a:latin typeface="FZVARIABLE-LANTINGHEIK MEDIUM" panose="02000600000000000000" pitchFamily="2" charset="-122"/>
              <a:ea typeface="FZVARIABLE-LANTINGHEIK MEDIUM" panose="02000600000000000000" pitchFamily="2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1000" b="1" dirty="0">
                <a:solidFill>
                  <a:prstClr val="black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超跑性能</a:t>
            </a:r>
            <a:endParaRPr lang="en-US" altLang="zh-CN" sz="1000" b="1" dirty="0">
              <a:solidFill>
                <a:prstClr val="black"/>
              </a:solidFill>
              <a:latin typeface="FZVARIABLE-LANTINGHEIK MEDIUM" panose="02000600000000000000" pitchFamily="2" charset="-122"/>
              <a:ea typeface="FZVARIABLE-LANTINGHEIK MEDIUM" panose="02000600000000000000" pitchFamily="2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zh-CN" sz="1000" b="1" dirty="0">
                <a:solidFill>
                  <a:prstClr val="black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SUV</a:t>
            </a:r>
            <a:r>
              <a:rPr lang="zh-CN" altLang="en-US" sz="1000" b="1" dirty="0">
                <a:solidFill>
                  <a:prstClr val="black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通过性</a:t>
            </a:r>
            <a:endParaRPr lang="en-US" altLang="zh-CN" sz="1000" b="1" dirty="0">
              <a:solidFill>
                <a:prstClr val="black"/>
              </a:solidFill>
              <a:latin typeface="FZVARIABLE-LANTINGHEIK MEDIUM" panose="02000600000000000000" pitchFamily="2" charset="-122"/>
              <a:ea typeface="FZVARIABLE-LANTINGHEIK MEDIUM" panose="02000600000000000000" pitchFamily="2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1000" b="1" dirty="0">
                <a:solidFill>
                  <a:prstClr val="black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旅行车大空间</a:t>
            </a:r>
            <a:endParaRPr lang="en-US" altLang="zh-CN" sz="1000" b="1" dirty="0">
              <a:solidFill>
                <a:prstClr val="black"/>
              </a:solidFill>
              <a:latin typeface="FZVARIABLE-LANTINGHEIK MEDIUM" panose="02000600000000000000" pitchFamily="2" charset="-122"/>
              <a:ea typeface="FZVARIABLE-LANTINGHEIK MEDIUM" panose="02000600000000000000" pitchFamily="2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1000" b="1" dirty="0">
                <a:solidFill>
                  <a:prstClr val="black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顶级安全</a:t>
            </a:r>
            <a:endParaRPr lang="en-US" altLang="zh-CN" sz="1000" b="1" dirty="0">
              <a:solidFill>
                <a:prstClr val="black"/>
              </a:solidFill>
              <a:latin typeface="FZVARIABLE-LANTINGHEIK MEDIUM" panose="02000600000000000000" pitchFamily="2" charset="-122"/>
              <a:ea typeface="FZVARIABLE-LANTINGHEIK MEDIUM" panose="02000600000000000000" pitchFamily="2" charset="-122"/>
            </a:endParaRPr>
          </a:p>
        </p:txBody>
      </p:sp>
      <p:sp>
        <p:nvSpPr>
          <p:cNvPr id="196" name="矩形: 圆角 167">
            <a:extLst>
              <a:ext uri="{FF2B5EF4-FFF2-40B4-BE49-F238E27FC236}">
                <a16:creationId xmlns:a16="http://schemas.microsoft.com/office/drawing/2014/main" id="{F92499CC-3BEF-2D3C-2987-A10C5CB35CE5}"/>
              </a:ext>
            </a:extLst>
          </p:cNvPr>
          <p:cNvSpPr/>
          <p:nvPr/>
        </p:nvSpPr>
        <p:spPr>
          <a:xfrm>
            <a:off x="468172" y="2266000"/>
            <a:ext cx="1072483" cy="250627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自在户外爱好人群</a:t>
            </a:r>
          </a:p>
        </p:txBody>
      </p:sp>
      <p:sp>
        <p:nvSpPr>
          <p:cNvPr id="198" name="圆角矩形 197">
            <a:extLst>
              <a:ext uri="{FF2B5EF4-FFF2-40B4-BE49-F238E27FC236}">
                <a16:creationId xmlns:a16="http://schemas.microsoft.com/office/drawing/2014/main" id="{E35EE7FE-8FC6-2F23-A091-A185BB59B538}"/>
              </a:ext>
            </a:extLst>
          </p:cNvPr>
          <p:cNvSpPr/>
          <p:nvPr/>
        </p:nvSpPr>
        <p:spPr>
          <a:xfrm>
            <a:off x="764540" y="3924669"/>
            <a:ext cx="3617595" cy="521970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kern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FZVARIABLE-LANTINGHEIK MEDIUM" panose="02000600000000000000" pitchFamily="2" charset="-122"/>
              <a:ea typeface="FZVARIABLE-LANTINGHEIK MEDIUM" panose="02000600000000000000" pitchFamily="2" charset="-122"/>
              <a:sym typeface="+mn-ea"/>
            </a:endParaRPr>
          </a:p>
        </p:txBody>
      </p:sp>
      <p:sp>
        <p:nvSpPr>
          <p:cNvPr id="199" name="矩形: 圆角 143">
            <a:extLst>
              <a:ext uri="{FF2B5EF4-FFF2-40B4-BE49-F238E27FC236}">
                <a16:creationId xmlns:a16="http://schemas.microsoft.com/office/drawing/2014/main" id="{61415230-7A40-B0BE-10A3-17AB46CFDA3F}"/>
              </a:ext>
            </a:extLst>
          </p:cNvPr>
          <p:cNvSpPr/>
          <p:nvPr/>
        </p:nvSpPr>
        <p:spPr>
          <a:xfrm>
            <a:off x="347325" y="3873849"/>
            <a:ext cx="4198198" cy="29464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6B851">
                  <a:alpha val="21000"/>
                </a:srgbClr>
              </a:gs>
              <a:gs pos="51000">
                <a:srgbClr val="06B851"/>
              </a:gs>
            </a:gsLst>
            <a:lin ang="10800000" scaled="1"/>
            <a:tileRect/>
          </a:gradFill>
          <a:ln w="6350" cap="flat" cmpd="sng" algn="ctr">
            <a:noFill/>
            <a:prstDash val="solid"/>
            <a:miter lim="800000"/>
          </a:ln>
          <a:effectLst/>
        </p:spPr>
        <p:txBody>
          <a:bodyPr lIns="2251" tIns="2251" rIns="2251" bIns="2251" rtlCol="0" anchor="ctr"/>
          <a:lstStyle/>
          <a:p>
            <a:pPr algn="ctr" defTabSz="60960"/>
            <a:r>
              <a:rPr lang="zh-CN" altLang="en-US" sz="1200" kern="0" dirty="0">
                <a:solidFill>
                  <a:prstClr val="white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  <a:sym typeface="+mn-ea"/>
              </a:rPr>
              <a:t>以 24 节气时序为轴，持续化打造场景实现长线渗透</a:t>
            </a: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3312C81D-2F3C-0868-A06A-E68A32D1B98C}"/>
              </a:ext>
            </a:extLst>
          </p:cNvPr>
          <p:cNvSpPr txBox="1"/>
          <p:nvPr/>
        </p:nvSpPr>
        <p:spPr>
          <a:xfrm>
            <a:off x="6762613" y="3053863"/>
            <a:ext cx="1287780" cy="79121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1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周末短途游、年轻高知</a:t>
            </a: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7EC1EA0D-5195-3DF7-0F60-52E0E37F7E4B}"/>
              </a:ext>
            </a:extLst>
          </p:cNvPr>
          <p:cNvSpPr txBox="1"/>
          <p:nvPr/>
        </p:nvSpPr>
        <p:spPr>
          <a:xfrm>
            <a:off x="5429388" y="3053745"/>
            <a:ext cx="1370330" cy="63563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1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摄影、时尚、性能爱好者</a:t>
            </a:r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1C2D7D2C-D6BF-434D-2296-B1BF869C88F2}"/>
              </a:ext>
            </a:extLst>
          </p:cNvPr>
          <p:cNvSpPr txBox="1"/>
          <p:nvPr/>
        </p:nvSpPr>
        <p:spPr>
          <a:xfrm>
            <a:off x="8050393" y="3065293"/>
            <a:ext cx="1320165" cy="92329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00" b="1" noProof="0" dirty="0">
                <a:ln>
                  <a:noFill/>
                </a:ln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  <a:cs typeface="微软雅黑" panose="020B0503020204020204" charset="-122"/>
                <a:sym typeface="+mn-ea"/>
              </a:rPr>
              <a:t>徒步露营、长途自驾、旅行</a:t>
            </a:r>
            <a:endParaRPr kumimoji="0" lang="zh-CN" altLang="en-US" sz="800" b="1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FZVARIABLE-LANTINGHEIK MEDIUM" panose="02000600000000000000" pitchFamily="2" charset="-122"/>
              <a:ea typeface="FZVARIABLE-LANTINGHEIK MEDIUM" panose="02000600000000000000" pitchFamily="2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2" name="文本框 211">
            <a:extLst>
              <a:ext uri="{FF2B5EF4-FFF2-40B4-BE49-F238E27FC236}">
                <a16:creationId xmlns:a16="http://schemas.microsoft.com/office/drawing/2014/main" id="{516C8104-0251-174A-E233-E05AB682CCEC}"/>
              </a:ext>
            </a:extLst>
          </p:cNvPr>
          <p:cNvSpPr txBox="1"/>
          <p:nvPr/>
        </p:nvSpPr>
        <p:spPr>
          <a:xfrm>
            <a:off x="4808499" y="1742596"/>
            <a:ext cx="46960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1" i="0" u="none" strike="noStrike" kern="0" cap="none" spc="0" normalizeH="0" baseline="0">
                <a:ln>
                  <a:noFill/>
                </a:ln>
                <a:gradFill>
                  <a:gsLst>
                    <a:gs pos="0">
                      <a:schemeClr val="accent6">
                        <a:lumMod val="40000"/>
                        <a:lumOff val="60000"/>
                      </a:schemeClr>
                    </a:gs>
                    <a:gs pos="48000">
                      <a:srgbClr val="71AD47"/>
                    </a:gs>
                    <a:gs pos="100000">
                      <a:schemeClr val="accent6">
                        <a:lumMod val="50000"/>
                      </a:schemeClr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1100" b="0" dirty="0">
                <a:solidFill>
                  <a:srgbClr val="06B851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  <a:sym typeface="+mn-ea"/>
              </a:rPr>
              <a:t>结合内容方向标签选适配博主   场景化叙事风格质感统一</a:t>
            </a: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8F0B4ACC-C624-DB35-015F-A4A264BC5FC7}"/>
              </a:ext>
            </a:extLst>
          </p:cNvPr>
          <p:cNvGrpSpPr/>
          <p:nvPr/>
        </p:nvGrpSpPr>
        <p:grpSpPr>
          <a:xfrm>
            <a:off x="4950273" y="5859235"/>
            <a:ext cx="1345465" cy="194926"/>
            <a:chOff x="1215156" y="3559635"/>
            <a:chExt cx="1441468" cy="349590"/>
          </a:xfrm>
        </p:grpSpPr>
        <p:sp>
          <p:nvSpPr>
            <p:cNvPr id="61" name="圆角矩形 69">
              <a:extLst>
                <a:ext uri="{FF2B5EF4-FFF2-40B4-BE49-F238E27FC236}">
                  <a16:creationId xmlns:a16="http://schemas.microsoft.com/office/drawing/2014/main" id="{83EAA128-4C16-E754-50A5-5E62381245DF}"/>
                </a:ext>
              </a:extLst>
            </p:cNvPr>
            <p:cNvSpPr/>
            <p:nvPr/>
          </p:nvSpPr>
          <p:spPr>
            <a:xfrm>
              <a:off x="1215156" y="3637507"/>
              <a:ext cx="1326505" cy="271718"/>
            </a:xfrm>
            <a:prstGeom prst="roundRect">
              <a:avLst>
                <a:gd name="adj" fmla="val 50000"/>
              </a:avLst>
            </a:prstGeom>
            <a:solidFill>
              <a:srgbClr val="06B851"/>
            </a:solidFill>
            <a:ln w="9525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E427E8D8-FCA0-B89F-B4EE-23BC3C2E864D}"/>
                </a:ext>
              </a:extLst>
            </p:cNvPr>
            <p:cNvSpPr txBox="1"/>
            <p:nvPr/>
          </p:nvSpPr>
          <p:spPr>
            <a:xfrm>
              <a:off x="1249154" y="3559635"/>
              <a:ext cx="1407470" cy="28863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algn="ctr">
                <a:defRPr kumimoji="0" sz="1000" b="0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Medium" panose="02020500000000000000" pitchFamily="18" charset="-122"/>
                  <a:ea typeface="思源宋体 CN Medium" panose="02020500000000000000" pitchFamily="18" charset="-122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ZVARIABLE-LANTINGHEIK MEDIUM" panose="02000600000000000000" pitchFamily="2" charset="-122"/>
                  <a:ea typeface="FZVARIABLE-LANTINGHEIK MEDIUM" panose="02000600000000000000" pitchFamily="2" charset="-122"/>
                  <a:cs typeface="微软雅黑" panose="020B0503020204020204" charset="-122"/>
                </a:rPr>
                <a:t>年轻人的第一台猎装车</a:t>
              </a:r>
            </a:p>
          </p:txBody>
        </p:sp>
      </p:grpSp>
      <p:grpSp>
        <p:nvGrpSpPr>
          <p:cNvPr id="227" name="组合 226">
            <a:extLst>
              <a:ext uri="{FF2B5EF4-FFF2-40B4-BE49-F238E27FC236}">
                <a16:creationId xmlns:a16="http://schemas.microsoft.com/office/drawing/2014/main" id="{2B0FC129-3B3F-569E-1E04-553112083944}"/>
              </a:ext>
            </a:extLst>
          </p:cNvPr>
          <p:cNvGrpSpPr/>
          <p:nvPr/>
        </p:nvGrpSpPr>
        <p:grpSpPr>
          <a:xfrm>
            <a:off x="6569631" y="5854240"/>
            <a:ext cx="1230630" cy="199914"/>
            <a:chOff x="1200596" y="3550688"/>
            <a:chExt cx="1407470" cy="358537"/>
          </a:xfrm>
        </p:grpSpPr>
        <p:sp>
          <p:nvSpPr>
            <p:cNvPr id="228" name="圆角矩形 69">
              <a:extLst>
                <a:ext uri="{FF2B5EF4-FFF2-40B4-BE49-F238E27FC236}">
                  <a16:creationId xmlns:a16="http://schemas.microsoft.com/office/drawing/2014/main" id="{3633D1D2-325C-0D32-7AA5-3ADDD6E812C8}"/>
                </a:ext>
              </a:extLst>
            </p:cNvPr>
            <p:cNvSpPr/>
            <p:nvPr/>
          </p:nvSpPr>
          <p:spPr>
            <a:xfrm>
              <a:off x="1215156" y="3637507"/>
              <a:ext cx="1326505" cy="271718"/>
            </a:xfrm>
            <a:prstGeom prst="roundRect">
              <a:avLst>
                <a:gd name="adj" fmla="val 50000"/>
              </a:avLst>
            </a:prstGeom>
            <a:solidFill>
              <a:srgbClr val="06B851"/>
            </a:solidFill>
            <a:ln w="9525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</a:endParaRPr>
            </a:p>
          </p:txBody>
        </p:sp>
        <p:sp>
          <p:nvSpPr>
            <p:cNvPr id="229" name="文本框 228">
              <a:extLst>
                <a:ext uri="{FF2B5EF4-FFF2-40B4-BE49-F238E27FC236}">
                  <a16:creationId xmlns:a16="http://schemas.microsoft.com/office/drawing/2014/main" id="{951B48DF-EC3A-D773-AEED-6B1833D25F2B}"/>
                </a:ext>
              </a:extLst>
            </p:cNvPr>
            <p:cNvSpPr txBox="1"/>
            <p:nvPr/>
          </p:nvSpPr>
          <p:spPr>
            <a:xfrm>
              <a:off x="1200596" y="3550688"/>
              <a:ext cx="1407470" cy="28863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algn="ctr">
                <a:defRPr kumimoji="0" sz="1000" b="0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Medium" panose="02020500000000000000" pitchFamily="18" charset="-122"/>
                  <a:ea typeface="思源宋体 CN Medium" panose="02020500000000000000" pitchFamily="18" charset="-122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ZVARIABLE-LANTINGHEIK MEDIUM" panose="02000600000000000000" pitchFamily="2" charset="-122"/>
                  <a:ea typeface="FZVARIABLE-LANTINGHEIK MEDIUM" panose="02000600000000000000" pitchFamily="2" charset="-122"/>
                  <a:cs typeface="微软雅黑" panose="020B0503020204020204" charset="-122"/>
                </a:rPr>
                <a:t>季节仪式感</a:t>
              </a:r>
              <a:r>
                <a:rPr kumimoji="0" lang="en-US" altLang="zh-CN" sz="80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ZVARIABLE-LANTINGHEIK MEDIUM" panose="02000600000000000000" pitchFamily="2" charset="-122"/>
                  <a:ea typeface="FZVARIABLE-LANTINGHEIK MEDIUM" panose="02000600000000000000" pitchFamily="2" charset="-122"/>
                  <a:cs typeface="微软雅黑" panose="020B0503020204020204" charset="-122"/>
                </a:rPr>
                <a:t> </a:t>
              </a:r>
              <a:endParaRPr kumimoji="0" lang="zh-CN" altLang="en-US" sz="80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  <a:cs typeface="微软雅黑" panose="020B0503020204020204" charset="-122"/>
              </a:endParaRPr>
            </a:p>
          </p:txBody>
        </p:sp>
      </p:grpSp>
      <p:grpSp>
        <p:nvGrpSpPr>
          <p:cNvPr id="230" name="组合 229">
            <a:extLst>
              <a:ext uri="{FF2B5EF4-FFF2-40B4-BE49-F238E27FC236}">
                <a16:creationId xmlns:a16="http://schemas.microsoft.com/office/drawing/2014/main" id="{EC1DEC51-7AD7-1DC6-330E-AEFE8106D9C6}"/>
              </a:ext>
            </a:extLst>
          </p:cNvPr>
          <p:cNvGrpSpPr/>
          <p:nvPr/>
        </p:nvGrpSpPr>
        <p:grpSpPr>
          <a:xfrm>
            <a:off x="7901030" y="5857737"/>
            <a:ext cx="1367156" cy="199420"/>
            <a:chOff x="1203444" y="3551570"/>
            <a:chExt cx="1407470" cy="357649"/>
          </a:xfrm>
        </p:grpSpPr>
        <p:sp>
          <p:nvSpPr>
            <p:cNvPr id="231" name="圆角矩形 69">
              <a:extLst>
                <a:ext uri="{FF2B5EF4-FFF2-40B4-BE49-F238E27FC236}">
                  <a16:creationId xmlns:a16="http://schemas.microsoft.com/office/drawing/2014/main" id="{06FE1E41-4970-D428-D392-7227971BD128}"/>
                </a:ext>
              </a:extLst>
            </p:cNvPr>
            <p:cNvSpPr/>
            <p:nvPr/>
          </p:nvSpPr>
          <p:spPr>
            <a:xfrm>
              <a:off x="1215156" y="3637502"/>
              <a:ext cx="1326505" cy="271717"/>
            </a:xfrm>
            <a:prstGeom prst="roundRect">
              <a:avLst>
                <a:gd name="adj" fmla="val 50000"/>
              </a:avLst>
            </a:prstGeom>
            <a:solidFill>
              <a:srgbClr val="06B851"/>
            </a:solidFill>
            <a:ln w="9525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</a:endParaRPr>
            </a:p>
          </p:txBody>
        </p:sp>
        <p:sp>
          <p:nvSpPr>
            <p:cNvPr id="232" name="文本框 231">
              <a:extLst>
                <a:ext uri="{FF2B5EF4-FFF2-40B4-BE49-F238E27FC236}">
                  <a16:creationId xmlns:a16="http://schemas.microsoft.com/office/drawing/2014/main" id="{9768B0E2-7606-B06C-BBE7-4331F9ABF178}"/>
                </a:ext>
              </a:extLst>
            </p:cNvPr>
            <p:cNvSpPr txBox="1"/>
            <p:nvPr/>
          </p:nvSpPr>
          <p:spPr>
            <a:xfrm>
              <a:off x="1203444" y="3551570"/>
              <a:ext cx="1407470" cy="28863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algn="ctr">
                <a:defRPr kumimoji="0" sz="1000" b="0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Medium" panose="02020500000000000000" pitchFamily="18" charset="-122"/>
                  <a:ea typeface="思源宋体 CN Medium" panose="02020500000000000000" pitchFamily="18" charset="-122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ZVARIABLE-LANTINGHEIK MEDIUM" panose="02000600000000000000" pitchFamily="2" charset="-122"/>
                  <a:ea typeface="FZVARIABLE-LANTINGHEIK MEDIUM" panose="02000600000000000000" pitchFamily="2" charset="-122"/>
                  <a:cs typeface="微软雅黑" panose="020B0503020204020204" charset="-122"/>
                </a:rPr>
                <a:t>超长续航</a:t>
              </a:r>
              <a:r>
                <a:rPr lang="zh-CN" altLang="en-US" sz="800" kern="0" dirty="0">
                  <a:latin typeface="FZVARIABLE-LANTINGHEIK MEDIUM" panose="02000600000000000000" pitchFamily="2" charset="-122"/>
                  <a:ea typeface="FZVARIABLE-LANTINGHEIK MEDIUM" panose="02000600000000000000" pitchFamily="2" charset="-122"/>
                  <a:cs typeface="微软雅黑" panose="020B0503020204020204" charset="-122"/>
                </a:rPr>
                <a:t>毫无</a:t>
              </a:r>
              <a:r>
                <a:rPr kumimoji="0" lang="zh-CN" altLang="en-US" sz="80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ZVARIABLE-LANTINGHEIK MEDIUM" panose="02000600000000000000" pitchFamily="2" charset="-122"/>
                  <a:ea typeface="FZVARIABLE-LANTINGHEIK MEDIUM" panose="02000600000000000000" pitchFamily="2" charset="-122"/>
                  <a:cs typeface="微软雅黑" panose="020B0503020204020204" charset="-122"/>
                </a:rPr>
                <a:t>里程焦虑</a:t>
              </a: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CAE9268D-0B6C-D547-9703-6BBCB078A9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6737" y="4119181"/>
            <a:ext cx="894080" cy="1239957"/>
          </a:xfrm>
          <a:prstGeom prst="roundRect">
            <a:avLst>
              <a:gd name="adj" fmla="val 10009"/>
            </a:avLst>
          </a:prstGeom>
          <a:ln w="12700">
            <a:solidFill>
              <a:srgbClr val="06B851"/>
            </a:solidFill>
          </a:ln>
          <a:effectLst/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0BC9652F-28D6-DC0A-BA67-57CAD7B2116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8824" y="4100040"/>
            <a:ext cx="880464" cy="1280198"/>
          </a:xfrm>
          <a:prstGeom prst="roundRect">
            <a:avLst>
              <a:gd name="adj" fmla="val 10009"/>
            </a:avLst>
          </a:prstGeom>
          <a:ln w="12700">
            <a:solidFill>
              <a:srgbClr val="06B851"/>
            </a:solidFill>
          </a:ln>
          <a:effectLst/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D21C6B5B-CB4E-D6F8-AC13-0DC31AE04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343668" y="1485090"/>
            <a:ext cx="8034832" cy="4519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828A1AAF-D0A3-9143-DC32-EDF5D6C54390}"/>
              </a:ext>
            </a:extLst>
          </p:cNvPr>
          <p:cNvGrpSpPr/>
          <p:nvPr/>
        </p:nvGrpSpPr>
        <p:grpSpPr>
          <a:xfrm>
            <a:off x="-608186" y="4296652"/>
            <a:ext cx="5156251" cy="4058950"/>
            <a:chOff x="-295" y="6441"/>
            <a:chExt cx="7051" cy="6341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E9C51D03-25C4-A2A2-A428-37BE8331A8DA}"/>
                </a:ext>
              </a:extLst>
            </p:cNvPr>
            <p:cNvGrpSpPr/>
            <p:nvPr/>
          </p:nvGrpSpPr>
          <p:grpSpPr>
            <a:xfrm>
              <a:off x="-295" y="6441"/>
              <a:ext cx="7051" cy="6341"/>
              <a:chOff x="6272" y="3831"/>
              <a:chExt cx="7051" cy="6341"/>
            </a:xfrm>
          </p:grpSpPr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3BCA54B2-DB51-E671-5A5C-58D5699A0FAC}"/>
                  </a:ext>
                </a:extLst>
              </p:cNvPr>
              <p:cNvSpPr txBox="1"/>
              <p:nvPr/>
            </p:nvSpPr>
            <p:spPr>
              <a:xfrm>
                <a:off x="8536" y="7092"/>
                <a:ext cx="1493" cy="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000" noProof="0" dirty="0">
                    <a:ln>
                      <a:noFill/>
                    </a:ln>
                    <a:effectLst/>
                    <a:uLnTx/>
                    <a:uFillTx/>
                    <a:latin typeface="FZVARIABLE-LANTINGHEIK MEDIUM" panose="02000600000000000000" pitchFamily="2" charset="-122"/>
                    <a:ea typeface="FZVARIABLE-LANTINGHEIK MEDIUM" panose="02000600000000000000" pitchFamily="2" charset="-122"/>
                    <a:cs typeface="微软雅黑" panose="020B0503020204020204" charset="-122"/>
                    <a:sym typeface="+mn-ea"/>
                  </a:rPr>
                  <a:t>质感生活</a:t>
                </a:r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B14EA459-4668-7DB3-7FAC-C1F4E018558C}"/>
                  </a:ext>
                </a:extLst>
              </p:cNvPr>
              <p:cNvSpPr txBox="1"/>
              <p:nvPr/>
            </p:nvSpPr>
            <p:spPr>
              <a:xfrm>
                <a:off x="10154" y="7089"/>
                <a:ext cx="1493" cy="3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000" noProof="0" dirty="0">
                    <a:ln>
                      <a:noFill/>
                    </a:ln>
                    <a:effectLst/>
                    <a:uLnTx/>
                    <a:uFillTx/>
                    <a:latin typeface="FZVARIABLE-LANTINGHEIK MEDIUM" panose="02000600000000000000" pitchFamily="2" charset="-122"/>
                    <a:ea typeface="FZVARIABLE-LANTINGHEIK MEDIUM" panose="02000600000000000000" pitchFamily="2" charset="-122"/>
                    <a:cs typeface="微软雅黑" panose="020B0503020204020204" charset="-122"/>
                    <a:sym typeface="+mn-ea"/>
                  </a:rPr>
                  <a:t>城市出逃</a:t>
                </a:r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C63B74CD-3C06-F011-418D-32B23A77E51E}"/>
                  </a:ext>
                </a:extLst>
              </p:cNvPr>
              <p:cNvSpPr txBox="1"/>
              <p:nvPr/>
            </p:nvSpPr>
            <p:spPr>
              <a:xfrm>
                <a:off x="11830" y="7064"/>
                <a:ext cx="1493" cy="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000" noProof="0" dirty="0">
                    <a:ln>
                      <a:noFill/>
                    </a:ln>
                    <a:effectLst/>
                    <a:uLnTx/>
                    <a:uFillTx/>
                    <a:latin typeface="FZVARIABLE-LANTINGHEIK MEDIUM" panose="02000600000000000000" pitchFamily="2" charset="-122"/>
                    <a:ea typeface="FZVARIABLE-LANTINGHEIK MEDIUM" panose="02000600000000000000" pitchFamily="2" charset="-122"/>
                    <a:cs typeface="微软雅黑" panose="020B0503020204020204" charset="-122"/>
                    <a:sym typeface="+mn-ea"/>
                  </a:rPr>
                  <a:t>户外沉浸</a:t>
                </a:r>
              </a:p>
            </p:txBody>
          </p:sp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85F9EB22-C790-EADC-E0A6-E9DE463ECE63}"/>
                  </a:ext>
                </a:extLst>
              </p:cNvPr>
              <p:cNvGrpSpPr/>
              <p:nvPr/>
            </p:nvGrpSpPr>
            <p:grpSpPr>
              <a:xfrm>
                <a:off x="6272" y="3831"/>
                <a:ext cx="6347" cy="6341"/>
                <a:chOff x="6272" y="3831"/>
                <a:chExt cx="6347" cy="6341"/>
              </a:xfrm>
            </p:grpSpPr>
            <p:cxnSp>
              <p:nvCxnSpPr>
                <p:cNvPr id="55" name="直接连接符 46">
                  <a:extLst>
                    <a:ext uri="{FF2B5EF4-FFF2-40B4-BE49-F238E27FC236}">
                      <a16:creationId xmlns:a16="http://schemas.microsoft.com/office/drawing/2014/main" id="{FE4D59E3-DB0B-5794-D416-B3AD4EF8AC06}"/>
                    </a:ext>
                  </a:extLst>
                </p:cNvPr>
                <p:cNvCxnSpPr/>
                <p:nvPr/>
              </p:nvCxnSpPr>
              <p:spPr>
                <a:xfrm flipV="1">
                  <a:off x="8503" y="7035"/>
                  <a:ext cx="4116" cy="11"/>
                </a:xfrm>
                <a:prstGeom prst="line">
                  <a:avLst/>
                </a:prstGeom>
                <a:ln>
                  <a:solidFill>
                    <a:srgbClr val="06B85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 47">
                  <a:extLst>
                    <a:ext uri="{FF2B5EF4-FFF2-40B4-BE49-F238E27FC236}">
                      <a16:creationId xmlns:a16="http://schemas.microsoft.com/office/drawing/2014/main" id="{D00BC1B5-4DD3-0EB6-DC59-A465C12D1D51}"/>
                    </a:ext>
                  </a:extLst>
                </p:cNvPr>
                <p:cNvCxnSpPr/>
                <p:nvPr/>
              </p:nvCxnSpPr>
              <p:spPr>
                <a:xfrm flipH="1" flipV="1">
                  <a:off x="8497" y="3831"/>
                  <a:ext cx="24" cy="3215"/>
                </a:xfrm>
                <a:prstGeom prst="line">
                  <a:avLst/>
                </a:prstGeom>
                <a:ln>
                  <a:solidFill>
                    <a:srgbClr val="06B85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63" name="弧形 51">
                  <a:extLst>
                    <a:ext uri="{FF2B5EF4-FFF2-40B4-BE49-F238E27FC236}">
                      <a16:creationId xmlns:a16="http://schemas.microsoft.com/office/drawing/2014/main" id="{D4AA4D7F-F5CF-3EDC-CBEB-FE183D32A39C}"/>
                    </a:ext>
                  </a:extLst>
                </p:cNvPr>
                <p:cNvSpPr/>
                <p:nvPr/>
              </p:nvSpPr>
              <p:spPr>
                <a:xfrm>
                  <a:off x="6990" y="5555"/>
                  <a:ext cx="3118" cy="3118"/>
                </a:xfrm>
                <a:prstGeom prst="arc">
                  <a:avLst>
                    <a:gd name="adj1" fmla="val 16200000"/>
                    <a:gd name="adj2" fmla="val 21426135"/>
                  </a:avLst>
                </a:prstGeom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19000">
                        <a:srgbClr val="06B851">
                          <a:alpha val="84271"/>
                        </a:srgbClr>
                      </a:gs>
                      <a:gs pos="60000">
                        <a:srgbClr val="06B851">
                          <a:alpha val="73988"/>
                        </a:srgbClr>
                      </a:gs>
                      <a:gs pos="100000">
                        <a:srgbClr val="06B851"/>
                      </a:gs>
                    </a:gsLst>
                    <a:lin ang="5340000" scaled="1"/>
                  </a:gra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100" dirty="0">
                    <a:latin typeface="FZVARIABLE-LANTINGHEIK MEDIUM" panose="02000600000000000000" pitchFamily="2" charset="-122"/>
                    <a:ea typeface="FZVARIABLE-LANTINGHEIK MEDIUM" panose="02000600000000000000" pitchFamily="2" charset="-122"/>
                  </a:endParaRPr>
                </a:p>
              </p:txBody>
            </p:sp>
            <p:sp>
              <p:nvSpPr>
                <p:cNvPr id="65" name="弧形 56">
                  <a:extLst>
                    <a:ext uri="{FF2B5EF4-FFF2-40B4-BE49-F238E27FC236}">
                      <a16:creationId xmlns:a16="http://schemas.microsoft.com/office/drawing/2014/main" id="{0FFF49E9-7827-8A86-269C-0ED2832B2D07}"/>
                    </a:ext>
                  </a:extLst>
                </p:cNvPr>
                <p:cNvSpPr/>
                <p:nvPr/>
              </p:nvSpPr>
              <p:spPr>
                <a:xfrm>
                  <a:off x="6435" y="4736"/>
                  <a:ext cx="4687" cy="4687"/>
                </a:xfrm>
                <a:prstGeom prst="arc">
                  <a:avLst>
                    <a:gd name="adj1" fmla="val 16200000"/>
                    <a:gd name="adj2" fmla="val 21426135"/>
                  </a:avLst>
                </a:prstGeom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19000">
                        <a:srgbClr val="06B851">
                          <a:alpha val="57099"/>
                        </a:srgbClr>
                      </a:gs>
                      <a:gs pos="60000">
                        <a:srgbClr val="06B851">
                          <a:alpha val="80476"/>
                        </a:srgbClr>
                      </a:gs>
                      <a:gs pos="100000">
                        <a:srgbClr val="06B851"/>
                      </a:gs>
                    </a:gsLst>
                    <a:lin ang="5340000" scaled="1"/>
                  </a:gra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100">
                    <a:latin typeface="FZVARIABLE-LANTINGHEIK MEDIUM" panose="02000600000000000000" pitchFamily="2" charset="-122"/>
                    <a:ea typeface="FZVARIABLE-LANTINGHEIK MEDIUM" panose="02000600000000000000" pitchFamily="2" charset="-122"/>
                  </a:endParaRPr>
                </a:p>
              </p:txBody>
            </p:sp>
            <p:sp>
              <p:nvSpPr>
                <p:cNvPr id="66" name="弧形 57">
                  <a:extLst>
                    <a:ext uri="{FF2B5EF4-FFF2-40B4-BE49-F238E27FC236}">
                      <a16:creationId xmlns:a16="http://schemas.microsoft.com/office/drawing/2014/main" id="{29E7EE61-C3A8-61BA-D847-B6E924701D1F}"/>
                    </a:ext>
                  </a:extLst>
                </p:cNvPr>
                <p:cNvSpPr/>
                <p:nvPr/>
              </p:nvSpPr>
              <p:spPr>
                <a:xfrm>
                  <a:off x="6272" y="4051"/>
                  <a:ext cx="5798" cy="6121"/>
                </a:xfrm>
                <a:prstGeom prst="arc">
                  <a:avLst>
                    <a:gd name="adj1" fmla="val 16200000"/>
                    <a:gd name="adj2" fmla="val 21426135"/>
                  </a:avLst>
                </a:prstGeom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18000">
                        <a:srgbClr val="06B851"/>
                      </a:gs>
                      <a:gs pos="60000">
                        <a:srgbClr val="06B851">
                          <a:alpha val="67785"/>
                        </a:srgbClr>
                      </a:gs>
                      <a:gs pos="100000">
                        <a:srgbClr val="06B851"/>
                      </a:gs>
                    </a:gsLst>
                    <a:lin ang="5340000" scaled="1"/>
                  </a:gra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100">
                    <a:latin typeface="FZVARIABLE-LANTINGHEIK MEDIUM" panose="02000600000000000000" pitchFamily="2" charset="-122"/>
                    <a:ea typeface="FZVARIABLE-LANTINGHEIK MEDIUM" panose="02000600000000000000" pitchFamily="2" charset="-122"/>
                  </a:endParaRPr>
                </a:p>
              </p:txBody>
            </p:sp>
          </p:grp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2FDFF3C1-2DCA-EFE4-70F6-7B28A1E2CDDF}"/>
                  </a:ext>
                </a:extLst>
              </p:cNvPr>
              <p:cNvSpPr/>
              <p:nvPr/>
            </p:nvSpPr>
            <p:spPr>
              <a:xfrm>
                <a:off x="10039" y="6971"/>
                <a:ext cx="153" cy="15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ZVARIABLE-LANTINGHEIK MEDIUM" panose="02000600000000000000" pitchFamily="2" charset="-122"/>
                  <a:ea typeface="FZVARIABLE-LANTINGHEIK MEDIUM" panose="02000600000000000000" pitchFamily="2" charset="-122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6954CD37-AE14-6CB4-8C13-A423C87FB596}"/>
                  </a:ext>
                </a:extLst>
              </p:cNvPr>
              <p:cNvSpPr/>
              <p:nvPr/>
            </p:nvSpPr>
            <p:spPr>
              <a:xfrm>
                <a:off x="11054" y="6971"/>
                <a:ext cx="153" cy="15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ZVARIABLE-LANTINGHEIK MEDIUM" panose="02000600000000000000" pitchFamily="2" charset="-122"/>
                  <a:ea typeface="FZVARIABLE-LANTINGHEIK MEDIUM" panose="02000600000000000000" pitchFamily="2" charset="-122"/>
                </a:endParaRPr>
              </a:p>
            </p:txBody>
          </p:sp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B14AC71E-288F-0450-A1E6-BEF85FBA23AB}"/>
                  </a:ext>
                </a:extLst>
              </p:cNvPr>
              <p:cNvSpPr/>
              <p:nvPr/>
            </p:nvSpPr>
            <p:spPr>
              <a:xfrm>
                <a:off x="11990" y="6971"/>
                <a:ext cx="153" cy="15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ZVARIABLE-LANTINGHEIK MEDIUM" panose="02000600000000000000" pitchFamily="2" charset="-122"/>
                  <a:ea typeface="FZVARIABLE-LANTINGHEIK MEDIUM" panose="02000600000000000000" pitchFamily="2" charset="-122"/>
                </a:endParaRPr>
              </a:p>
            </p:txBody>
          </p:sp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B1E2C3D8-1CDE-3F10-2127-FD211D08C952}"/>
                  </a:ext>
                </a:extLst>
              </p:cNvPr>
              <p:cNvSpPr/>
              <p:nvPr/>
            </p:nvSpPr>
            <p:spPr>
              <a:xfrm>
                <a:off x="8465" y="3833"/>
                <a:ext cx="153" cy="15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ZVARIABLE-LANTINGHEIK MEDIUM" panose="02000600000000000000" pitchFamily="2" charset="-122"/>
                  <a:ea typeface="FZVARIABLE-LANTINGHEIK MEDIUM" panose="02000600000000000000" pitchFamily="2" charset="-122"/>
                </a:endParaRPr>
              </a:p>
            </p:txBody>
          </p:sp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CEA30A43-6F51-B5EF-995F-3DB41121924D}"/>
                  </a:ext>
                </a:extLst>
              </p:cNvPr>
              <p:cNvSpPr/>
              <p:nvPr/>
            </p:nvSpPr>
            <p:spPr>
              <a:xfrm>
                <a:off x="8465" y="4687"/>
                <a:ext cx="153" cy="15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ZVARIABLE-LANTINGHEIK MEDIUM" panose="02000600000000000000" pitchFamily="2" charset="-122"/>
                  <a:ea typeface="FZVARIABLE-LANTINGHEIK MEDIUM" panose="02000600000000000000" pitchFamily="2" charset="-122"/>
                </a:endParaRPr>
              </a:p>
            </p:txBody>
          </p:sp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id="{7303CFEC-8BE9-37C9-7204-E89D0566FE60}"/>
                  </a:ext>
                </a:extLst>
              </p:cNvPr>
              <p:cNvSpPr/>
              <p:nvPr/>
            </p:nvSpPr>
            <p:spPr>
              <a:xfrm>
                <a:off x="8465" y="5555"/>
                <a:ext cx="153" cy="15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ZVARIABLE-LANTINGHEIK MEDIUM" panose="02000600000000000000" pitchFamily="2" charset="-122"/>
                  <a:ea typeface="FZVARIABLE-LANTINGHEIK MEDIUM" panose="02000600000000000000" pitchFamily="2" charset="-122"/>
                </a:endParaRPr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2323563A-C9D2-F76A-B3BE-EF5ABBF3E8ED}"/>
                  </a:ext>
                </a:extLst>
              </p:cNvPr>
              <p:cNvSpPr txBox="1"/>
              <p:nvPr/>
            </p:nvSpPr>
            <p:spPr>
              <a:xfrm>
                <a:off x="7795" y="5498"/>
                <a:ext cx="778" cy="3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000" noProof="0" dirty="0">
                    <a:ln>
                      <a:noFill/>
                    </a:ln>
                    <a:effectLst/>
                    <a:uLnTx/>
                    <a:uFillTx/>
                    <a:latin typeface="FZVARIABLE-LANTINGHEIK MEDIUM" panose="02000600000000000000" pitchFamily="2" charset="-122"/>
                    <a:ea typeface="FZVARIABLE-LANTINGHEIK MEDIUM" panose="02000600000000000000" pitchFamily="2" charset="-122"/>
                    <a:cs typeface="微软雅黑" panose="020B0503020204020204" charset="-122"/>
                    <a:sym typeface="+mn-ea"/>
                  </a:rPr>
                  <a:t>夏</a:t>
                </a: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3DF6D1E2-C1A6-F947-B56C-89096E7BE09A}"/>
                  </a:ext>
                </a:extLst>
              </p:cNvPr>
              <p:cNvSpPr txBox="1"/>
              <p:nvPr/>
            </p:nvSpPr>
            <p:spPr>
              <a:xfrm>
                <a:off x="7794" y="4612"/>
                <a:ext cx="778" cy="3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000" noProof="0" dirty="0">
                    <a:ln>
                      <a:noFill/>
                    </a:ln>
                    <a:effectLst/>
                    <a:uLnTx/>
                    <a:uFillTx/>
                    <a:latin typeface="FZVARIABLE-LANTINGHEIK MEDIUM" panose="02000600000000000000" pitchFamily="2" charset="-122"/>
                    <a:ea typeface="FZVARIABLE-LANTINGHEIK MEDIUM" panose="02000600000000000000" pitchFamily="2" charset="-122"/>
                    <a:cs typeface="微软雅黑" panose="020B0503020204020204" charset="-122"/>
                    <a:sym typeface="+mn-ea"/>
                  </a:rPr>
                  <a:t>秋</a:t>
                </a:r>
              </a:p>
            </p:txBody>
          </p:sp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A65E6800-2056-592F-7326-C0E8DC9C0E92}"/>
                  </a:ext>
                </a:extLst>
              </p:cNvPr>
              <p:cNvSpPr txBox="1"/>
              <p:nvPr/>
            </p:nvSpPr>
            <p:spPr>
              <a:xfrm>
                <a:off x="7796" y="6384"/>
                <a:ext cx="778" cy="3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000" noProof="0" dirty="0">
                    <a:ln>
                      <a:noFill/>
                    </a:ln>
                    <a:effectLst/>
                    <a:uLnTx/>
                    <a:uFillTx/>
                    <a:latin typeface="FZVARIABLE-LANTINGHEIK MEDIUM" panose="02000600000000000000" pitchFamily="2" charset="-122"/>
                    <a:ea typeface="FZVARIABLE-LANTINGHEIK MEDIUM" panose="02000600000000000000" pitchFamily="2" charset="-122"/>
                    <a:cs typeface="微软雅黑" panose="020B0503020204020204" charset="-122"/>
                    <a:sym typeface="+mn-ea"/>
                  </a:rPr>
                  <a:t>春</a:t>
                </a:r>
              </a:p>
            </p:txBody>
          </p:sp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DC805965-4562-89BA-A736-33E9DC4A6101}"/>
                  </a:ext>
                </a:extLst>
              </p:cNvPr>
              <p:cNvSpPr txBox="1"/>
              <p:nvPr/>
            </p:nvSpPr>
            <p:spPr>
              <a:xfrm>
                <a:off x="7793" y="3838"/>
                <a:ext cx="778" cy="3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000" noProof="0" dirty="0">
                    <a:ln>
                      <a:noFill/>
                    </a:ln>
                    <a:effectLst/>
                    <a:uLnTx/>
                    <a:uFillTx/>
                    <a:latin typeface="FZVARIABLE-LANTINGHEIK MEDIUM" panose="02000600000000000000" pitchFamily="2" charset="-122"/>
                    <a:ea typeface="FZVARIABLE-LANTINGHEIK MEDIUM" panose="02000600000000000000" pitchFamily="2" charset="-122"/>
                    <a:cs typeface="微软雅黑" panose="020B0503020204020204" charset="-122"/>
                    <a:sym typeface="+mn-ea"/>
                  </a:rPr>
                  <a:t>冬</a:t>
                </a:r>
              </a:p>
            </p:txBody>
          </p:sp>
        </p:grp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213A3C57-7641-2DB8-2EBE-9F6ADA3997DA}"/>
                </a:ext>
              </a:extLst>
            </p:cNvPr>
            <p:cNvSpPr/>
            <p:nvPr/>
          </p:nvSpPr>
          <p:spPr>
            <a:xfrm>
              <a:off x="2884" y="8462"/>
              <a:ext cx="244" cy="24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6B8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17235487-9416-4648-B804-CF54C98C632B}"/>
                </a:ext>
              </a:extLst>
            </p:cNvPr>
            <p:cNvSpPr/>
            <p:nvPr/>
          </p:nvSpPr>
          <p:spPr>
            <a:xfrm>
              <a:off x="3987" y="8257"/>
              <a:ext cx="244" cy="24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6B8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2543C611-ED38-5A07-3DA1-EB7D9F06B69F}"/>
                </a:ext>
              </a:extLst>
            </p:cNvPr>
            <p:cNvSpPr txBox="1"/>
            <p:nvPr/>
          </p:nvSpPr>
          <p:spPr>
            <a:xfrm>
              <a:off x="1909" y="8728"/>
              <a:ext cx="1738" cy="3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800" dirty="0">
                  <a:solidFill>
                    <a:srgbClr val="06B851"/>
                  </a:solidFill>
                  <a:latin typeface="FZVARIABLE-LANTINGHEIK MEDIUM" panose="02000600000000000000" pitchFamily="2" charset="-122"/>
                  <a:ea typeface="FZVARIABLE-LANTINGHEIK MEDIUM" panose="02000600000000000000" pitchFamily="2" charset="-122"/>
                </a:rPr>
                <a:t>郊野花茶会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0D49E61A-2463-317D-FAA7-D0C0D7808EAE}"/>
                </a:ext>
              </a:extLst>
            </p:cNvPr>
            <p:cNvSpPr txBox="1"/>
            <p:nvPr/>
          </p:nvSpPr>
          <p:spPr>
            <a:xfrm>
              <a:off x="3341" y="7856"/>
              <a:ext cx="1893" cy="3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800" dirty="0">
                  <a:solidFill>
                    <a:srgbClr val="06B851"/>
                  </a:solidFill>
                  <a:latin typeface="FZVARIABLE-LANTINGHEIK MEDIUM" panose="02000600000000000000" pitchFamily="2" charset="-122"/>
                  <a:ea typeface="FZVARIABLE-LANTINGHEIK MEDIUM" panose="02000600000000000000" pitchFamily="2" charset="-122"/>
                </a:rPr>
                <a:t>古镇寻幽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CB371C83-A24E-2193-A785-DB6D1913A503}"/>
                </a:ext>
              </a:extLst>
            </p:cNvPr>
            <p:cNvSpPr txBox="1"/>
            <p:nvPr/>
          </p:nvSpPr>
          <p:spPr>
            <a:xfrm>
              <a:off x="4923" y="8634"/>
              <a:ext cx="1738" cy="3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800" dirty="0">
                  <a:solidFill>
                    <a:srgbClr val="06B851"/>
                  </a:solidFill>
                  <a:latin typeface="FZVARIABLE-LANTINGHEIK MEDIUM" panose="02000600000000000000" pitchFamily="2" charset="-122"/>
                  <a:ea typeface="FZVARIABLE-LANTINGHEIK MEDIUM" panose="02000600000000000000" pitchFamily="2" charset="-122"/>
                </a:rPr>
                <a:t>草原牧歌</a:t>
              </a: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50FF9949-DC3A-A70E-D9CF-B44E3B9D1B2A}"/>
                </a:ext>
              </a:extLst>
            </p:cNvPr>
            <p:cNvSpPr/>
            <p:nvPr/>
          </p:nvSpPr>
          <p:spPr>
            <a:xfrm>
              <a:off x="3743" y="6905"/>
              <a:ext cx="244" cy="24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6B8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BDAA6E3C-C205-DD96-F748-9BFC75C36707}"/>
                </a:ext>
              </a:extLst>
            </p:cNvPr>
            <p:cNvSpPr/>
            <p:nvPr/>
          </p:nvSpPr>
          <p:spPr>
            <a:xfrm>
              <a:off x="5179" y="8470"/>
              <a:ext cx="244" cy="24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6B8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EAD80441-A621-A177-53E6-2B01B370DDA1}"/>
                </a:ext>
              </a:extLst>
            </p:cNvPr>
            <p:cNvSpPr txBox="1"/>
            <p:nvPr/>
          </p:nvSpPr>
          <p:spPr>
            <a:xfrm>
              <a:off x="3837" y="6812"/>
              <a:ext cx="1893" cy="3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800" dirty="0">
                  <a:solidFill>
                    <a:srgbClr val="06B851"/>
                  </a:solidFill>
                  <a:latin typeface="FZVARIABLE-LANTINGHEIK MEDIUM" panose="02000600000000000000" pitchFamily="2" charset="-122"/>
                  <a:ea typeface="FZVARIABLE-LANTINGHEIK MEDIUM" panose="02000600000000000000" pitchFamily="2" charset="-122"/>
                </a:rPr>
                <a:t>雪林围炉煮茶</a:t>
              </a:r>
            </a:p>
          </p:txBody>
        </p:sp>
      </p:grpSp>
      <p:sp>
        <p:nvSpPr>
          <p:cNvPr id="67" name="文本框 66">
            <a:extLst>
              <a:ext uri="{FF2B5EF4-FFF2-40B4-BE49-F238E27FC236}">
                <a16:creationId xmlns:a16="http://schemas.microsoft.com/office/drawing/2014/main" id="{10BF10DE-1EAF-7164-4C85-0057C4248B68}"/>
              </a:ext>
            </a:extLst>
          </p:cNvPr>
          <p:cNvSpPr txBox="1"/>
          <p:nvPr/>
        </p:nvSpPr>
        <p:spPr>
          <a:xfrm>
            <a:off x="6646847" y="2410107"/>
            <a:ext cx="14657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800" b="1" noProof="0" dirty="0">
                <a:ln>
                  <a:noFill/>
                </a:ln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  <a:cs typeface="微软雅黑" panose="020B0503020204020204" charset="-122"/>
                <a:sym typeface="+mn-ea"/>
              </a:rPr>
              <a:t>#</a:t>
            </a:r>
            <a:r>
              <a:rPr lang="zh-CN" altLang="en-US" sz="800" b="1" noProof="0" dirty="0">
                <a:ln>
                  <a:noFill/>
                </a:ln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  <a:cs typeface="微软雅黑" panose="020B0503020204020204" charset="-122"/>
                <a:sym typeface="+mn-ea"/>
              </a:rPr>
              <a:t>江南古巷秋日慢逛指南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8E9B063-D7AC-AB1D-C4CE-AFD6F29EF4A4}"/>
              </a:ext>
            </a:extLst>
          </p:cNvPr>
          <p:cNvSpPr txBox="1"/>
          <p:nvPr/>
        </p:nvSpPr>
        <p:spPr>
          <a:xfrm>
            <a:off x="6697151" y="2565994"/>
            <a:ext cx="127298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800" b="1" noProof="0" dirty="0">
                <a:ln>
                  <a:noFill/>
                </a:ln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  <a:cs typeface="微软雅黑" panose="020B0503020204020204" charset="-122"/>
                <a:sym typeface="+mn-ea"/>
              </a:rPr>
              <a:t>#</a:t>
            </a:r>
            <a:r>
              <a:rPr lang="zh-CN" altLang="en-US" sz="800" b="1" noProof="0" dirty="0">
                <a:ln>
                  <a:noFill/>
                </a:ln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  <a:cs typeface="微软雅黑" panose="020B0503020204020204" charset="-122"/>
                <a:sym typeface="+mn-ea"/>
              </a:rPr>
              <a:t>秋日山林轻徒步企划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0EA14DA-1694-65F3-5A70-6B4369EB1903}"/>
              </a:ext>
            </a:extLst>
          </p:cNvPr>
          <p:cNvSpPr txBox="1"/>
          <p:nvPr/>
        </p:nvSpPr>
        <p:spPr>
          <a:xfrm>
            <a:off x="5402330" y="2410107"/>
            <a:ext cx="13406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800" b="1" noProof="0" dirty="0">
                <a:ln>
                  <a:noFill/>
                </a:ln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  <a:cs typeface="微软雅黑" panose="020B0503020204020204" charset="-122"/>
                <a:sym typeface="+mn-ea"/>
              </a:rPr>
              <a:t>#</a:t>
            </a:r>
            <a:r>
              <a:rPr lang="zh-CN" altLang="en-US" sz="800" b="1" noProof="0" dirty="0">
                <a:ln>
                  <a:noFill/>
                </a:ln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  <a:cs typeface="微软雅黑" panose="020B0503020204020204" charset="-122"/>
                <a:sym typeface="+mn-ea"/>
              </a:rPr>
              <a:t>海边落日公路穿搭大片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EFEC02E2-980D-72B6-7D43-D3641957BFC2}"/>
              </a:ext>
            </a:extLst>
          </p:cNvPr>
          <p:cNvSpPr txBox="1"/>
          <p:nvPr/>
        </p:nvSpPr>
        <p:spPr>
          <a:xfrm>
            <a:off x="5380815" y="2565994"/>
            <a:ext cx="130649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800" b="1" noProof="0" dirty="0">
                <a:ln>
                  <a:noFill/>
                </a:ln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  <a:cs typeface="微软雅黑" panose="020B0503020204020204" charset="-122"/>
                <a:sym typeface="+mn-ea"/>
              </a:rPr>
              <a:t>#</a:t>
            </a:r>
            <a:r>
              <a:rPr lang="zh-CN" altLang="en-US" sz="800" b="1" noProof="0" dirty="0">
                <a:ln>
                  <a:noFill/>
                </a:ln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  <a:cs typeface="微软雅黑" panose="020B0503020204020204" charset="-122"/>
                <a:sym typeface="+mn-ea"/>
              </a:rPr>
              <a:t>溪水森林露营纳凉日记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BD4B160E-601A-3E78-625B-6019E8D18C29}"/>
              </a:ext>
            </a:extLst>
          </p:cNvPr>
          <p:cNvSpPr txBox="1"/>
          <p:nvPr/>
        </p:nvSpPr>
        <p:spPr>
          <a:xfrm>
            <a:off x="7884928" y="2410107"/>
            <a:ext cx="15125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800" b="1" noProof="0" dirty="0">
                <a:ln>
                  <a:noFill/>
                </a:ln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  <a:cs typeface="微软雅黑" panose="020B0503020204020204" charset="-122"/>
                <a:sym typeface="+mn-ea"/>
              </a:rPr>
              <a:t>#</a:t>
            </a:r>
            <a:r>
              <a:rPr lang="zh-CN" altLang="en-US" sz="800" b="1" noProof="0" dirty="0">
                <a:ln>
                  <a:noFill/>
                </a:ln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  <a:cs typeface="微软雅黑" panose="020B0503020204020204" charset="-122"/>
                <a:sym typeface="+mn-ea"/>
              </a:rPr>
              <a:t>川西日照金山追光全记录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7A82273A-2A38-0B2C-5859-D77369743CD1}"/>
              </a:ext>
            </a:extLst>
          </p:cNvPr>
          <p:cNvSpPr txBox="1"/>
          <p:nvPr/>
        </p:nvSpPr>
        <p:spPr>
          <a:xfrm>
            <a:off x="7991988" y="2565994"/>
            <a:ext cx="127298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800" b="1" noProof="0" dirty="0">
                <a:ln>
                  <a:noFill/>
                </a:ln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  <a:cs typeface="微软雅黑" panose="020B0503020204020204" charset="-122"/>
                <a:sym typeface="+mn-ea"/>
              </a:rPr>
              <a:t>#</a:t>
            </a:r>
            <a:r>
              <a:rPr lang="zh-CN" altLang="en-US" sz="800" b="1" noProof="0" dirty="0">
                <a:ln>
                  <a:noFill/>
                </a:ln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  <a:cs typeface="微软雅黑" panose="020B0503020204020204" charset="-122"/>
                <a:sym typeface="+mn-ea"/>
              </a:rPr>
              <a:t>冬日山林围炉露营记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832098D2-A535-64C8-5A08-15CCD9BAB75F}"/>
              </a:ext>
            </a:extLst>
          </p:cNvPr>
          <p:cNvSpPr txBox="1"/>
          <p:nvPr/>
        </p:nvSpPr>
        <p:spPr>
          <a:xfrm>
            <a:off x="6343342" y="6089127"/>
            <a:ext cx="16011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800" b="1" dirty="0">
                <a:solidFill>
                  <a:schemeClr val="tx1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CTR</a:t>
            </a:r>
            <a:r>
              <a:rPr lang="zh-CN" altLang="en-US" sz="800" dirty="0">
                <a:solidFill>
                  <a:schemeClr val="tx1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 </a:t>
            </a:r>
            <a:r>
              <a:rPr lang="en-US" altLang="zh-CN" sz="800" dirty="0">
                <a:solidFill>
                  <a:srgbClr val="06B851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11%+</a:t>
            </a:r>
          </a:p>
          <a:p>
            <a:pPr algn="ctr"/>
            <a:r>
              <a:rPr lang="zh-CN" altLang="en-US" sz="800" b="1" dirty="0">
                <a:solidFill>
                  <a:schemeClr val="tx1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种草人群转化率 </a:t>
            </a:r>
            <a:r>
              <a:rPr lang="en-US" altLang="zh-CN" sz="800" dirty="0">
                <a:solidFill>
                  <a:srgbClr val="06B851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3%+</a:t>
            </a:r>
            <a:endParaRPr lang="zh-CN" altLang="en-US" sz="800" dirty="0">
              <a:solidFill>
                <a:srgbClr val="06B851"/>
              </a:solidFill>
              <a:latin typeface="FZVARIABLE-LANTINGHEIK MEDIUM" panose="02000600000000000000" pitchFamily="2" charset="-122"/>
              <a:ea typeface="FZVARIABLE-LANTINGHEIK MEDIUM" panose="02000600000000000000" pitchFamily="2" charset="-122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C76DCDD8-81B9-2C8B-75E3-CB5066245A32}"/>
              </a:ext>
            </a:extLst>
          </p:cNvPr>
          <p:cNvSpPr txBox="1"/>
          <p:nvPr/>
        </p:nvSpPr>
        <p:spPr>
          <a:xfrm>
            <a:off x="7861726" y="6079528"/>
            <a:ext cx="15414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800" b="1" dirty="0">
                <a:solidFill>
                  <a:schemeClr val="tx1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CTR</a:t>
            </a:r>
            <a:r>
              <a:rPr lang="zh-CN" altLang="en-US" sz="800" dirty="0">
                <a:solidFill>
                  <a:schemeClr val="tx1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 </a:t>
            </a:r>
            <a:r>
              <a:rPr lang="en-US" altLang="zh-CN" sz="800" dirty="0">
                <a:solidFill>
                  <a:srgbClr val="06B851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10%+</a:t>
            </a:r>
          </a:p>
          <a:p>
            <a:pPr algn="ctr"/>
            <a:r>
              <a:rPr lang="zh-CN" altLang="en-US" sz="800" b="1" dirty="0">
                <a:solidFill>
                  <a:schemeClr val="tx1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种草人群转化率 </a:t>
            </a:r>
            <a:r>
              <a:rPr lang="en-US" altLang="zh-CN" sz="800" dirty="0">
                <a:solidFill>
                  <a:srgbClr val="06B851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5%+</a:t>
            </a:r>
            <a:endParaRPr lang="zh-CN" altLang="en-US" sz="800" dirty="0">
              <a:solidFill>
                <a:srgbClr val="06B851"/>
              </a:solidFill>
              <a:latin typeface="FZVARIABLE-LANTINGHEIK MEDIUM" panose="02000600000000000000" pitchFamily="2" charset="-122"/>
              <a:ea typeface="FZVARIABLE-LANTINGHEIK MEDIUM" panose="02000600000000000000" pitchFamily="2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208AFFB-A4F0-902B-4E69-3CFAD1349C64}"/>
              </a:ext>
            </a:extLst>
          </p:cNvPr>
          <p:cNvGrpSpPr/>
          <p:nvPr/>
        </p:nvGrpSpPr>
        <p:grpSpPr>
          <a:xfrm>
            <a:off x="-68531" y="64477"/>
            <a:ext cx="1394633" cy="551367"/>
            <a:chOff x="-52768" y="329800"/>
            <a:chExt cx="1394633" cy="551367"/>
          </a:xfrm>
        </p:grpSpPr>
        <p:sp>
          <p:nvSpPr>
            <p:cNvPr id="2" name="同侧圆角矩形 14">
              <a:extLst>
                <a:ext uri="{FF2B5EF4-FFF2-40B4-BE49-F238E27FC236}">
                  <a16:creationId xmlns:a16="http://schemas.microsoft.com/office/drawing/2014/main" id="{548DECDF-580F-4675-1D5B-55665D00D1DB}"/>
                </a:ext>
              </a:extLst>
            </p:cNvPr>
            <p:cNvSpPr/>
            <p:nvPr/>
          </p:nvSpPr>
          <p:spPr>
            <a:xfrm>
              <a:off x="-50529" y="493729"/>
              <a:ext cx="1392394" cy="387438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06B851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2251" tIns="2251" rIns="2251" bIns="2251" rtlCol="0" anchor="ctr"/>
            <a:lstStyle/>
            <a:p>
              <a:pPr marL="0" marR="0" lvl="0" indent="0" algn="ctr" defTabSz="609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kern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ZVARIABLE-LANTINGHEIK MEDIUM" panose="02000600000000000000" pitchFamily="2" charset="-122"/>
                  <a:ea typeface="FZVARIABLE-LANTINGHEIK MEDIUM" panose="02000600000000000000" pitchFamily="2" charset="-122"/>
                  <a:cs typeface="微软雅黑" panose="020B0503020204020204" charset="-122"/>
                  <a:sym typeface="+mn-ea"/>
                </a:rPr>
                <a:t>案例分享</a:t>
              </a:r>
              <a:endParaRPr kumimoji="0" lang="zh-CN" altLang="zh-CN" u="non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" name="三角形 3">
              <a:extLst>
                <a:ext uri="{FF2B5EF4-FFF2-40B4-BE49-F238E27FC236}">
                  <a16:creationId xmlns:a16="http://schemas.microsoft.com/office/drawing/2014/main" id="{7C81ED9E-653E-0341-9EB8-080E68E943DA}"/>
                </a:ext>
              </a:extLst>
            </p:cNvPr>
            <p:cNvSpPr/>
            <p:nvPr/>
          </p:nvSpPr>
          <p:spPr>
            <a:xfrm>
              <a:off x="-52768" y="329800"/>
              <a:ext cx="105535" cy="163929"/>
            </a:xfrm>
            <a:prstGeom prst="triangle">
              <a:avLst>
                <a:gd name="adj" fmla="val 10000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FZVARIABLE-LANTINGHEIK MEDIUM" panose="02000600000000000000" pitchFamily="2" charset="-122"/>
                <a:ea typeface="FZVARIABLE-LANTINGHEIK MEDIUM" panose="02000600000000000000" pitchFamily="2" charset="-122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499F52F6-B17C-7845-ACAB-5CBCE821F3C4}"/>
              </a:ext>
            </a:extLst>
          </p:cNvPr>
          <p:cNvSpPr txBox="1"/>
          <p:nvPr/>
        </p:nvSpPr>
        <p:spPr>
          <a:xfrm>
            <a:off x="215732" y="1892824"/>
            <a:ext cx="16792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u="none" strike="noStrike" cap="none" spc="0" normalizeH="0" baseline="0">
                <a:ln>
                  <a:noFill/>
                </a:ln>
                <a:solidFill>
                  <a:srgbClr val="0F1115"/>
                </a:solidFill>
                <a:effectLst/>
                <a:highlight>
                  <a:srgbClr val="C4E59F"/>
                </a:highlight>
                <a:uLnTx/>
                <a:uFillTx/>
                <a:latin typeface="FZVariable-LanTingHeiK DemiBold" panose="02000600000000000000" pitchFamily="2" charset="-122"/>
                <a:ea typeface="FZVariable-LanTingHeiK DemiBold" panose="02000600000000000000" pitchFamily="2" charset="-122"/>
              </a:defRPr>
            </a:lvl1pPr>
          </a:lstStyle>
          <a:p>
            <a:r>
              <a:rPr lang="zh-CN" altLang="en-US" dirty="0">
                <a:solidFill>
                  <a:srgbClr val="06B851"/>
                </a:solidFill>
              </a:rPr>
              <a:t>锁定高浓度人群</a:t>
            </a:r>
          </a:p>
        </p:txBody>
      </p:sp>
      <p:sp>
        <p:nvSpPr>
          <p:cNvPr id="48" name="矩形: 圆角 22">
            <a:extLst>
              <a:ext uri="{FF2B5EF4-FFF2-40B4-BE49-F238E27FC236}">
                <a16:creationId xmlns:a16="http://schemas.microsoft.com/office/drawing/2014/main" id="{44469D57-A6CB-BB3F-B19B-8D454E3CC80F}"/>
              </a:ext>
            </a:extLst>
          </p:cNvPr>
          <p:cNvSpPr/>
          <p:nvPr/>
        </p:nvSpPr>
        <p:spPr>
          <a:xfrm>
            <a:off x="5014483" y="2378123"/>
            <a:ext cx="431896" cy="396588"/>
          </a:xfrm>
          <a:prstGeom prst="roundRect">
            <a:avLst>
              <a:gd name="adj" fmla="val 8000"/>
            </a:avLst>
          </a:prstGeom>
          <a:solidFill>
            <a:srgbClr val="06B851"/>
          </a:solidFill>
          <a:ln w="952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>
              <a:lnSpc>
                <a:spcPct val="120000"/>
              </a:lnSpc>
            </a:pPr>
            <a:endParaRPr lang="zh-CN" altLang="en-US" sz="1600" kern="0">
              <a:solidFill>
                <a:prstClr val="white"/>
              </a:solidFill>
              <a:latin typeface="FZVARIABLE-LANTINGHEIK MEDIUM" panose="02000600000000000000" pitchFamily="2" charset="-122"/>
              <a:ea typeface="FZVARIABLE-LANTINGHEIK MEDIUM" panose="02000600000000000000" pitchFamily="2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BC6093C-B8F7-DA5E-41E9-4D15911EDCA6}"/>
              </a:ext>
            </a:extLst>
          </p:cNvPr>
          <p:cNvSpPr txBox="1"/>
          <p:nvPr/>
        </p:nvSpPr>
        <p:spPr>
          <a:xfrm>
            <a:off x="4918580" y="2412109"/>
            <a:ext cx="615334" cy="421752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00" dirty="0">
                <a:solidFill>
                  <a:schemeClr val="bg1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内容</a:t>
            </a:r>
            <a:endParaRPr lang="en-US" altLang="zh-CN" sz="800" dirty="0">
              <a:solidFill>
                <a:schemeClr val="bg1"/>
              </a:solidFill>
              <a:latin typeface="FZVARIABLE-LANTINGHEIK MEDIUM" panose="02000600000000000000" pitchFamily="2" charset="-122"/>
              <a:ea typeface="FZVARIABLE-LANTINGHEIK MEDIUM" panose="02000600000000000000" pitchFamily="2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00" dirty="0">
                <a:solidFill>
                  <a:schemeClr val="bg1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方向</a:t>
            </a:r>
            <a:endParaRPr kumimoji="0" lang="zh-CN" altLang="en-US" sz="80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ZVARIABLE-LANTINGHEIK MEDIUM" panose="02000600000000000000" pitchFamily="2" charset="-122"/>
              <a:ea typeface="FZVARIABLE-LANTINGHEIK MEDIUM" panose="02000600000000000000" pitchFamily="2" charset="-122"/>
            </a:endParaRPr>
          </a:p>
        </p:txBody>
      </p:sp>
      <p:sp>
        <p:nvSpPr>
          <p:cNvPr id="58" name="矩形: 圆角 22">
            <a:extLst>
              <a:ext uri="{FF2B5EF4-FFF2-40B4-BE49-F238E27FC236}">
                <a16:creationId xmlns:a16="http://schemas.microsoft.com/office/drawing/2014/main" id="{D9F23F46-F737-6429-8A29-C425E06C1398}"/>
              </a:ext>
            </a:extLst>
          </p:cNvPr>
          <p:cNvSpPr/>
          <p:nvPr/>
        </p:nvSpPr>
        <p:spPr>
          <a:xfrm>
            <a:off x="5012380" y="2945366"/>
            <a:ext cx="436150" cy="380556"/>
          </a:xfrm>
          <a:prstGeom prst="roundRect">
            <a:avLst>
              <a:gd name="adj" fmla="val 8000"/>
            </a:avLst>
          </a:prstGeom>
          <a:solidFill>
            <a:srgbClr val="06B851"/>
          </a:solidFill>
          <a:ln w="952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>
              <a:lnSpc>
                <a:spcPct val="120000"/>
              </a:lnSpc>
            </a:pPr>
            <a:endParaRPr lang="zh-CN" altLang="en-US" sz="1600" kern="0">
              <a:solidFill>
                <a:prstClr val="white"/>
              </a:solidFill>
              <a:latin typeface="FZVARIABLE-LANTINGHEIK MEDIUM" panose="02000600000000000000" pitchFamily="2" charset="-122"/>
              <a:ea typeface="FZVARIABLE-LANTINGHEIK MEDIUM" panose="02000600000000000000" pitchFamily="2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4DE8E29F-AA03-C22D-5DAA-EA5921940373}"/>
              </a:ext>
            </a:extLst>
          </p:cNvPr>
          <p:cNvSpPr txBox="1"/>
          <p:nvPr/>
        </p:nvSpPr>
        <p:spPr>
          <a:xfrm>
            <a:off x="4950272" y="2966919"/>
            <a:ext cx="567913" cy="33855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00" dirty="0">
                <a:solidFill>
                  <a:schemeClr val="bg1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博主</a:t>
            </a:r>
            <a:endParaRPr lang="en-US" altLang="zh-CN" sz="800" dirty="0">
              <a:solidFill>
                <a:schemeClr val="bg1"/>
              </a:solidFill>
              <a:latin typeface="FZVARIABLE-LANTINGHEIK MEDIUM" panose="02000600000000000000" pitchFamily="2" charset="-122"/>
              <a:ea typeface="FZVARIABLE-LANTINGHEIK MEDIUM" panose="02000600000000000000" pitchFamily="2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标签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C258D546-2059-D767-2EF3-E1287C264C87}"/>
              </a:ext>
            </a:extLst>
          </p:cNvPr>
          <p:cNvSpPr txBox="1"/>
          <p:nvPr/>
        </p:nvSpPr>
        <p:spPr>
          <a:xfrm>
            <a:off x="4863530" y="6096872"/>
            <a:ext cx="15414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800" b="1" dirty="0">
                <a:solidFill>
                  <a:schemeClr val="tx1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CTR</a:t>
            </a:r>
            <a:r>
              <a:rPr lang="zh-CN" altLang="en-US" sz="800" dirty="0">
                <a:solidFill>
                  <a:schemeClr val="tx1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 </a:t>
            </a:r>
            <a:r>
              <a:rPr lang="en-US" altLang="zh-CN" sz="800" dirty="0">
                <a:solidFill>
                  <a:srgbClr val="06B851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12%+</a:t>
            </a:r>
          </a:p>
          <a:p>
            <a:pPr algn="ctr"/>
            <a:r>
              <a:rPr lang="zh-CN" altLang="en-US" sz="800" b="1" dirty="0">
                <a:solidFill>
                  <a:schemeClr val="tx1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种草人群转化率 </a:t>
            </a:r>
            <a:r>
              <a:rPr lang="en-US" altLang="zh-CN" sz="800" dirty="0">
                <a:solidFill>
                  <a:srgbClr val="06B851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4%+</a:t>
            </a:r>
            <a:endParaRPr lang="zh-CN" altLang="en-US" sz="800" dirty="0">
              <a:solidFill>
                <a:srgbClr val="06B851"/>
              </a:solidFill>
              <a:latin typeface="FZVARIABLE-LANTINGHEIK MEDIUM" panose="02000600000000000000" pitchFamily="2" charset="-122"/>
              <a:ea typeface="FZVARIABLE-LANTINGHEIK MEDIUM" panose="02000600000000000000" pitchFamily="2" charset="-122"/>
            </a:endParaRPr>
          </a:p>
        </p:txBody>
      </p:sp>
      <p:pic>
        <p:nvPicPr>
          <p:cNvPr id="217" name="图片 216">
            <a:extLst>
              <a:ext uri="{FF2B5EF4-FFF2-40B4-BE49-F238E27FC236}">
                <a16:creationId xmlns:a16="http://schemas.microsoft.com/office/drawing/2014/main" id="{15300C51-7031-752E-4A70-57A264B7395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40717" y="4349140"/>
            <a:ext cx="880464" cy="1440000"/>
          </a:xfrm>
          <a:prstGeom prst="roundRect">
            <a:avLst>
              <a:gd name="adj" fmla="val 10009"/>
            </a:avLst>
          </a:prstGeom>
          <a:ln w="12700">
            <a:solidFill>
              <a:srgbClr val="06B851"/>
            </a:solidFill>
          </a:ln>
          <a:effectLst/>
        </p:spPr>
      </p:pic>
      <p:pic>
        <p:nvPicPr>
          <p:cNvPr id="215" name="图片 214">
            <a:extLst>
              <a:ext uri="{FF2B5EF4-FFF2-40B4-BE49-F238E27FC236}">
                <a16:creationId xmlns:a16="http://schemas.microsoft.com/office/drawing/2014/main" id="{EDE0EB1F-87DB-2338-C17C-21A9CB2B824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40458" y="4349586"/>
            <a:ext cx="867607" cy="1440000"/>
          </a:xfrm>
          <a:prstGeom prst="roundRect">
            <a:avLst>
              <a:gd name="adj" fmla="val 10009"/>
            </a:avLst>
          </a:prstGeom>
          <a:ln w="12700">
            <a:solidFill>
              <a:srgbClr val="06B851"/>
            </a:solidFill>
          </a:ln>
          <a:effectLst/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3C3A52D-646B-4D3E-6E35-23487425B23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2040" y="5514020"/>
            <a:ext cx="1679142" cy="1101256"/>
          </a:xfrm>
          <a:prstGeom prst="rect">
            <a:avLst/>
          </a:prstGeom>
          <a:effectLst>
            <a:outerShdw dist="132155" sx="97000" sy="97000" algn="l" rotWithShape="0">
              <a:prstClr val="black">
                <a:alpha val="46000"/>
              </a:prstClr>
            </a:outerShdw>
          </a:effectLst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20BAD381-20D4-FD5A-76AA-E35257D9FAEF}"/>
              </a:ext>
            </a:extLst>
          </p:cNvPr>
          <p:cNvSpPr txBox="1"/>
          <p:nvPr/>
        </p:nvSpPr>
        <p:spPr>
          <a:xfrm>
            <a:off x="164157" y="2690693"/>
            <a:ext cx="16792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100" u="none" strike="noStrike" cap="none" spc="0" normalizeH="0" baseline="0">
                <a:ln>
                  <a:noFill/>
                </a:ln>
                <a:solidFill>
                  <a:srgbClr val="0F1115"/>
                </a:solidFill>
                <a:effectLst/>
                <a:highlight>
                  <a:srgbClr val="C4E59F"/>
                </a:highlight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</a:defRPr>
            </a:lvl1pPr>
          </a:lstStyle>
          <a:p>
            <a:r>
              <a:rPr lang="zh-CN" altLang="en-US" sz="1200" dirty="0">
                <a:solidFill>
                  <a:srgbClr val="06B851"/>
                </a:solidFill>
                <a:latin typeface="FZVariable-LanTingHeiK DemiBold" panose="02000600000000000000" pitchFamily="2" charset="-122"/>
                <a:ea typeface="FZVariable-LanTingHeiK DemiBold" panose="02000600000000000000" pitchFamily="2" charset="-122"/>
              </a:rPr>
              <a:t>赛道内容痛点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5A3BB74E-2DB0-ED5C-09B2-32413C05204B}"/>
              </a:ext>
            </a:extLst>
          </p:cNvPr>
          <p:cNvSpPr txBox="1"/>
          <p:nvPr/>
        </p:nvSpPr>
        <p:spPr>
          <a:xfrm>
            <a:off x="2075043" y="1898801"/>
            <a:ext cx="24256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u="none" strike="noStrike" cap="none" spc="0" normalizeH="0" baseline="0">
                <a:ln>
                  <a:noFill/>
                </a:ln>
                <a:solidFill>
                  <a:srgbClr val="0F1115"/>
                </a:solidFill>
                <a:effectLst/>
                <a:highlight>
                  <a:srgbClr val="C4E59F"/>
                </a:highlight>
                <a:uLnTx/>
                <a:uFillTx/>
                <a:latin typeface="FZVariable-LanTingHeiK DemiBold" panose="02000600000000000000" pitchFamily="2" charset="-122"/>
                <a:ea typeface="FZVariable-LanTingHeiK DemiBold" panose="02000600000000000000" pitchFamily="2" charset="-122"/>
              </a:defRPr>
            </a:lvl1pPr>
          </a:lstStyle>
          <a:p>
            <a:r>
              <a:rPr lang="zh-CN" altLang="en-US" dirty="0">
                <a:solidFill>
                  <a:srgbClr val="06B851"/>
                </a:solidFill>
              </a:rPr>
              <a:t>产品卖点下钻 </a:t>
            </a:r>
            <a:r>
              <a:rPr lang="en-US" altLang="zh-CN" dirty="0">
                <a:solidFill>
                  <a:srgbClr val="06B851"/>
                </a:solidFill>
              </a:rPr>
              <a:t>X</a:t>
            </a:r>
            <a:r>
              <a:rPr lang="zh-CN" altLang="en-US" dirty="0">
                <a:solidFill>
                  <a:srgbClr val="06B851"/>
                </a:solidFill>
              </a:rPr>
              <a:t> 精细化内容破局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8765EB01-434B-A7C8-C587-ED9A50F108CA}"/>
              </a:ext>
            </a:extLst>
          </p:cNvPr>
          <p:cNvSpPr txBox="1"/>
          <p:nvPr/>
        </p:nvSpPr>
        <p:spPr>
          <a:xfrm>
            <a:off x="3271039" y="2459389"/>
            <a:ext cx="1332768" cy="76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b="1" dirty="0">
                <a:solidFill>
                  <a:prstClr val="black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场景化质感种草</a:t>
            </a:r>
            <a:endParaRPr lang="en-US" altLang="zh-CN" sz="1000" b="1" dirty="0">
              <a:solidFill>
                <a:prstClr val="black"/>
              </a:solidFill>
              <a:latin typeface="FZVARIABLE-LANTINGHEIK MEDIUM" panose="02000600000000000000" pitchFamily="2" charset="-122"/>
              <a:ea typeface="FZVARIABLE-LANTINGHEIK MEDIUM" panose="02000600000000000000" pitchFamily="2" charset="-122"/>
            </a:endParaRPr>
          </a:p>
          <a:p>
            <a:pPr marR="0" lvl="0" indent="0"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b="1" dirty="0">
                <a:solidFill>
                  <a:prstClr val="black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节气长线运营</a:t>
            </a:r>
            <a:endParaRPr lang="en-US" altLang="zh-CN" sz="1000" b="1" dirty="0">
              <a:solidFill>
                <a:prstClr val="black"/>
              </a:solidFill>
              <a:latin typeface="FZVARIABLE-LANTINGHEIK MEDIUM" panose="02000600000000000000" pitchFamily="2" charset="-122"/>
              <a:ea typeface="FZVARIABLE-LANTINGHEIK MEDIUM" panose="02000600000000000000" pitchFamily="2" charset="-122"/>
            </a:endParaRPr>
          </a:p>
          <a:p>
            <a:pPr marR="0" lvl="0" indent="0"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b="1" dirty="0">
                <a:solidFill>
                  <a:prstClr val="black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精细化选</a:t>
            </a:r>
            <a:r>
              <a:rPr lang="en-US" altLang="zh-CN" sz="1000" b="1" dirty="0">
                <a:solidFill>
                  <a:prstClr val="black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K</a:t>
            </a:r>
            <a:endParaRPr lang="zh-CN" altLang="en-US" sz="1000" b="1" dirty="0">
              <a:solidFill>
                <a:prstClr val="black"/>
              </a:solidFill>
              <a:latin typeface="FZVARIABLE-LANTINGHEIK MEDIUM" panose="02000600000000000000" pitchFamily="2" charset="-122"/>
              <a:ea typeface="FZVARIABLE-LANTINGHEIK MEDIUM" panose="02000600000000000000" pitchFamily="2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B2FCED28-796F-F428-3B21-CC3BF4D22B38}"/>
              </a:ext>
            </a:extLst>
          </p:cNvPr>
          <p:cNvSpPr txBox="1"/>
          <p:nvPr/>
        </p:nvSpPr>
        <p:spPr>
          <a:xfrm>
            <a:off x="490064" y="2861966"/>
            <a:ext cx="992590" cy="76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b="1" dirty="0">
                <a:solidFill>
                  <a:prstClr val="black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内容同质化</a:t>
            </a:r>
            <a:endParaRPr lang="en-US" altLang="zh-CN" sz="1000" b="1" dirty="0">
              <a:solidFill>
                <a:prstClr val="black"/>
              </a:solidFill>
              <a:latin typeface="FZVARIABLE-LANTINGHEIK MEDIUM" panose="02000600000000000000" pitchFamily="2" charset="-122"/>
              <a:ea typeface="FZVARIABLE-LANTINGHEIK MEDIUM" panose="02000600000000000000" pitchFamily="2" charset="-122"/>
            </a:endParaRPr>
          </a:p>
          <a:p>
            <a:pPr marR="0" lvl="0" indent="0"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b="1" dirty="0">
                <a:solidFill>
                  <a:prstClr val="black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散点式种草</a:t>
            </a:r>
            <a:endParaRPr lang="en-US" altLang="zh-CN" sz="1000" b="1" dirty="0">
              <a:solidFill>
                <a:prstClr val="black"/>
              </a:solidFill>
              <a:latin typeface="FZVARIABLE-LANTINGHEIK MEDIUM" panose="02000600000000000000" pitchFamily="2" charset="-122"/>
              <a:ea typeface="FZVARIABLE-LANTINGHEIK MEDIUM" panose="02000600000000000000" pitchFamily="2" charset="-122"/>
            </a:endParaRPr>
          </a:p>
          <a:p>
            <a:pPr marR="0" lvl="0" indent="0"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b="1" dirty="0">
                <a:solidFill>
                  <a:prstClr val="black"/>
                </a:solidFill>
                <a:latin typeface="FZVARIABLE-LANTINGHEIK MEDIUM" panose="02000600000000000000" pitchFamily="2" charset="-122"/>
                <a:ea typeface="FZVARIABLE-LANTINGHEIK MEDIUM" panose="02000600000000000000" pitchFamily="2" charset="-122"/>
              </a:rPr>
              <a:t>风格不匹配</a:t>
            </a:r>
            <a:endParaRPr lang="en-US" altLang="zh-CN" sz="1000" b="1" dirty="0">
              <a:solidFill>
                <a:prstClr val="black"/>
              </a:solidFill>
              <a:latin typeface="FZVARIABLE-LANTINGHEIK MEDIUM" panose="02000600000000000000" pitchFamily="2" charset="-122"/>
              <a:ea typeface="FZVARIABLE-LANTINGHEIK MEDIUM" panose="02000600000000000000" pitchFamily="2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2E7CC725-43AB-A61E-96B3-CED886281C95}"/>
              </a:ext>
            </a:extLst>
          </p:cNvPr>
          <p:cNvSpPr txBox="1"/>
          <p:nvPr/>
        </p:nvSpPr>
        <p:spPr>
          <a:xfrm>
            <a:off x="4902852" y="3748933"/>
            <a:ext cx="46960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100" b="0" i="0" u="none" strike="noStrike" kern="0" cap="none" spc="0" normalizeH="0" baseline="0">
                <a:ln>
                  <a:noFill/>
                </a:ln>
                <a:gradFill>
                  <a:gsLst>
                    <a:gs pos="0">
                      <a:schemeClr val="accent6">
                        <a:lumMod val="40000"/>
                        <a:lumOff val="60000"/>
                      </a:schemeClr>
                    </a:gs>
                    <a:gs pos="48000">
                      <a:srgbClr val="71AD47"/>
                    </a:gs>
                    <a:gs pos="100000">
                      <a:schemeClr val="accent6">
                        <a:lumMod val="50000"/>
                      </a:schemeClr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FZVARIABLE-LANTINGHEIK MEDIUM" panose="02000600000000000000" pitchFamily="2" charset="-122"/>
                <a:ea typeface="FZVARIABLE-LANTINGHEIK MEDIUM" panose="020006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06B851"/>
                </a:solidFill>
                <a:sym typeface="+mn-ea"/>
              </a:rPr>
              <a:t>精细化匹配</a:t>
            </a:r>
            <a:r>
              <a:rPr lang="en-US" altLang="zh-CN" dirty="0">
                <a:solidFill>
                  <a:srgbClr val="06B851"/>
                </a:solidFill>
                <a:sym typeface="+mn-ea"/>
              </a:rPr>
              <a:t>KOL</a:t>
            </a:r>
            <a:r>
              <a:rPr lang="zh-CN" altLang="en-US" dirty="0">
                <a:solidFill>
                  <a:srgbClr val="06B851"/>
                </a:solidFill>
                <a:sym typeface="+mn-ea"/>
              </a:rPr>
              <a:t>，产出场景鲜明、风格统一的高转化内容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4B5DEFD-0AF2-AC44-45E8-811D82CEEDC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065496" y="5673532"/>
            <a:ext cx="2136313" cy="851822"/>
          </a:xfrm>
          <a:prstGeom prst="rect">
            <a:avLst/>
          </a:prstGeom>
          <a:effectLst>
            <a:outerShdw blurRad="50800" dist="38100" dir="8100000" sx="103831" sy="103831" algn="tr" rotWithShape="0">
              <a:prstClr val="black">
                <a:alpha val="40000"/>
              </a:prstClr>
            </a:outerShdw>
          </a:effectLst>
        </p:spPr>
      </p:pic>
      <p:sp>
        <p:nvSpPr>
          <p:cNvPr id="79" name="任意形状 33">
            <a:extLst>
              <a:ext uri="{FF2B5EF4-FFF2-40B4-BE49-F238E27FC236}">
                <a16:creationId xmlns:a16="http://schemas.microsoft.com/office/drawing/2014/main" id="{3315901E-872D-02A9-54D1-B1571A2FA43B}"/>
              </a:ext>
            </a:extLst>
          </p:cNvPr>
          <p:cNvSpPr/>
          <p:nvPr/>
        </p:nvSpPr>
        <p:spPr>
          <a:xfrm rot="5400000" flipH="1">
            <a:off x="7169772" y="2286064"/>
            <a:ext cx="261611" cy="23015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5"/>
                </a:moveTo>
                <a:lnTo>
                  <a:pt x="4925" y="14597"/>
                </a:lnTo>
                <a:lnTo>
                  <a:pt x="4925" y="13027"/>
                </a:lnTo>
                <a:cubicBezTo>
                  <a:pt x="4925" y="13027"/>
                  <a:pt x="15343" y="12792"/>
                  <a:pt x="21600" y="21600"/>
                </a:cubicBezTo>
                <a:lnTo>
                  <a:pt x="21600" y="0"/>
                </a:lnTo>
                <a:cubicBezTo>
                  <a:pt x="15343" y="8808"/>
                  <a:pt x="4925" y="8573"/>
                  <a:pt x="4925" y="8573"/>
                </a:cubicBezTo>
                <a:lnTo>
                  <a:pt x="4925" y="7003"/>
                </a:lnTo>
                <a:lnTo>
                  <a:pt x="0" y="10795"/>
                </a:lnTo>
                <a:lnTo>
                  <a:pt x="0" y="10805"/>
                </a:lnTo>
                <a:close/>
              </a:path>
            </a:pathLst>
          </a:custGeom>
          <a:gradFill>
            <a:gsLst>
              <a:gs pos="93000">
                <a:schemeClr val="accent1">
                  <a:lumMod val="5000"/>
                  <a:lumOff val="95000"/>
                  <a:alpha val="0"/>
                </a:schemeClr>
              </a:gs>
              <a:gs pos="0">
                <a:srgbClr val="06B85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sz="1400" dirty="0">
              <a:solidFill>
                <a:schemeClr val="lt1"/>
              </a:solidFill>
              <a:latin typeface="FZVARIABLE-LANTINGHEIK MEDIUM" panose="02000600000000000000" pitchFamily="2" charset="-122"/>
              <a:ea typeface="FZVARIABLE-LANTINGHEIK MEDIUM" panose="02000600000000000000" pitchFamily="2" charset="-122"/>
            </a:endParaRPr>
          </a:p>
        </p:txBody>
      </p:sp>
      <p:sp>
        <p:nvSpPr>
          <p:cNvPr id="7" name="右箭头 6">
            <a:extLst>
              <a:ext uri="{FF2B5EF4-FFF2-40B4-BE49-F238E27FC236}">
                <a16:creationId xmlns:a16="http://schemas.microsoft.com/office/drawing/2014/main" id="{BE1416D9-CDF5-D0E5-9071-06B7AF1FF596}"/>
              </a:ext>
            </a:extLst>
          </p:cNvPr>
          <p:cNvSpPr/>
          <p:nvPr/>
        </p:nvSpPr>
        <p:spPr>
          <a:xfrm flipV="1">
            <a:off x="1617021" y="2507559"/>
            <a:ext cx="526410" cy="635320"/>
          </a:xfrm>
          <a:prstGeom prst="rightArrow">
            <a:avLst/>
          </a:prstGeom>
          <a:gradFill>
            <a:gsLst>
              <a:gs pos="11000">
                <a:schemeClr val="accent1">
                  <a:lumMod val="5000"/>
                  <a:lumOff val="95000"/>
                  <a:alpha val="0"/>
                </a:schemeClr>
              </a:gs>
              <a:gs pos="100000">
                <a:srgbClr val="06B85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latin typeface="FZVARIABLE-LANTINGHEIK MEDIUM" panose="02000600000000000000" pitchFamily="2" charset="-122"/>
              <a:ea typeface="FZVARIABLE-LANTINGHEIK MEDIUM" panose="02000600000000000000" pitchFamily="2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451B2FB9-F29D-7AFE-E3CC-87C844F4A931}"/>
              </a:ext>
            </a:extLst>
          </p:cNvPr>
          <p:cNvSpPr txBox="1"/>
          <p:nvPr/>
        </p:nvSpPr>
        <p:spPr>
          <a:xfrm>
            <a:off x="3090401" y="2646562"/>
            <a:ext cx="417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6B851"/>
                </a:solidFill>
              </a:rPr>
              <a:t> </a:t>
            </a:r>
            <a:r>
              <a:rPr lang="en-US" altLang="zh-CN" b="1" dirty="0">
                <a:solidFill>
                  <a:srgbClr val="06B851"/>
                </a:solidFill>
              </a:rPr>
              <a:t>X</a:t>
            </a:r>
            <a:r>
              <a:rPr lang="zh-CN" altLang="en-US" b="1" dirty="0">
                <a:solidFill>
                  <a:srgbClr val="06B851"/>
                </a:solidFill>
              </a:rPr>
              <a:t> </a:t>
            </a:r>
            <a:endParaRPr lang="zh-CN" altLang="en-US" b="1" dirty="0"/>
          </a:p>
        </p:txBody>
      </p:sp>
      <p:sp>
        <p:nvSpPr>
          <p:cNvPr id="83" name="矩形: 圆角 22">
            <a:extLst>
              <a:ext uri="{FF2B5EF4-FFF2-40B4-BE49-F238E27FC236}">
                <a16:creationId xmlns:a16="http://schemas.microsoft.com/office/drawing/2014/main" id="{068BABD2-E295-6BC7-4718-061CB4640A2C}"/>
              </a:ext>
            </a:extLst>
          </p:cNvPr>
          <p:cNvSpPr/>
          <p:nvPr/>
        </p:nvSpPr>
        <p:spPr>
          <a:xfrm>
            <a:off x="5659121" y="2055317"/>
            <a:ext cx="865505" cy="213465"/>
          </a:xfrm>
          <a:prstGeom prst="roundRect">
            <a:avLst>
              <a:gd name="adj" fmla="val 8000"/>
            </a:avLst>
          </a:prstGeom>
          <a:solidFill>
            <a:srgbClr val="06B851"/>
          </a:solidFill>
          <a:ln w="952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>
              <a:lnSpc>
                <a:spcPct val="120000"/>
              </a:lnSpc>
            </a:pPr>
            <a:endParaRPr lang="zh-CN" altLang="en-US" sz="1600" kern="0">
              <a:solidFill>
                <a:prstClr val="white"/>
              </a:solidFill>
              <a:latin typeface="FZVARIABLE-LANTINGHEIK MEDIUM" panose="02000600000000000000" pitchFamily="2" charset="-122"/>
              <a:ea typeface="FZVARIABLE-LANTINGHEIK MEDIUM" panose="02000600000000000000" pitchFamily="2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215D4B2E-380E-FE1C-0C82-C184A2D66FC8}"/>
              </a:ext>
            </a:extLst>
          </p:cNvPr>
          <p:cNvSpPr txBox="1"/>
          <p:nvPr/>
        </p:nvSpPr>
        <p:spPr>
          <a:xfrm>
            <a:off x="5307105" y="2041244"/>
            <a:ext cx="1579245" cy="31984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夏</a:t>
            </a: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7" name="矩形: 圆角 22">
            <a:extLst>
              <a:ext uri="{FF2B5EF4-FFF2-40B4-BE49-F238E27FC236}">
                <a16:creationId xmlns:a16="http://schemas.microsoft.com/office/drawing/2014/main" id="{36711187-5A40-FAB7-FE01-2889E6980FB6}"/>
              </a:ext>
            </a:extLst>
          </p:cNvPr>
          <p:cNvSpPr/>
          <p:nvPr/>
        </p:nvSpPr>
        <p:spPr>
          <a:xfrm>
            <a:off x="6874828" y="2047143"/>
            <a:ext cx="865505" cy="221615"/>
          </a:xfrm>
          <a:prstGeom prst="roundRect">
            <a:avLst>
              <a:gd name="adj" fmla="val 8000"/>
            </a:avLst>
          </a:prstGeom>
          <a:solidFill>
            <a:srgbClr val="06B851"/>
          </a:solidFill>
          <a:ln w="952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>
              <a:lnSpc>
                <a:spcPct val="120000"/>
              </a:lnSpc>
            </a:pPr>
            <a:endParaRPr lang="zh-CN" altLang="en-US" sz="1600" kern="0">
              <a:solidFill>
                <a:prstClr val="white"/>
              </a:solidFill>
              <a:latin typeface="FZVARIABLE-LANTINGHEIK MEDIUM" panose="02000600000000000000" pitchFamily="2" charset="-122"/>
              <a:ea typeface="FZVARIABLE-LANTINGHEIK MEDIUM" panose="02000600000000000000" pitchFamily="2" charset="-122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492FEDF8-4929-46AC-9340-CD415D0AE9CB}"/>
              </a:ext>
            </a:extLst>
          </p:cNvPr>
          <p:cNvSpPr txBox="1"/>
          <p:nvPr/>
        </p:nvSpPr>
        <p:spPr>
          <a:xfrm>
            <a:off x="6745623" y="2045658"/>
            <a:ext cx="1155065" cy="28448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秋</a:t>
            </a: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0" name="矩形: 圆角 22">
            <a:extLst>
              <a:ext uri="{FF2B5EF4-FFF2-40B4-BE49-F238E27FC236}">
                <a16:creationId xmlns:a16="http://schemas.microsoft.com/office/drawing/2014/main" id="{2AC63DB0-2E7A-3932-E620-8C864EA1062A}"/>
              </a:ext>
            </a:extLst>
          </p:cNvPr>
          <p:cNvSpPr/>
          <p:nvPr/>
        </p:nvSpPr>
        <p:spPr>
          <a:xfrm>
            <a:off x="8155623" y="2047143"/>
            <a:ext cx="865505" cy="236855"/>
          </a:xfrm>
          <a:prstGeom prst="roundRect">
            <a:avLst>
              <a:gd name="adj" fmla="val 8000"/>
            </a:avLst>
          </a:prstGeom>
          <a:solidFill>
            <a:srgbClr val="06B851"/>
          </a:solidFill>
          <a:ln w="952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>
              <a:lnSpc>
                <a:spcPct val="120000"/>
              </a:lnSpc>
            </a:pPr>
            <a:endParaRPr lang="zh-CN" altLang="en-US" sz="1600" kern="0">
              <a:solidFill>
                <a:prstClr val="white"/>
              </a:solidFill>
              <a:latin typeface="FZVARIABLE-LANTINGHEIK MEDIUM" panose="02000600000000000000" pitchFamily="2" charset="-122"/>
              <a:ea typeface="FZVARIABLE-LANTINGHEIK MEDIUM" panose="02000600000000000000" pitchFamily="2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6B72DAD1-D608-A22F-E6C8-B45D4DD8A908}"/>
              </a:ext>
            </a:extLst>
          </p:cNvPr>
          <p:cNvSpPr txBox="1"/>
          <p:nvPr/>
        </p:nvSpPr>
        <p:spPr>
          <a:xfrm>
            <a:off x="7851200" y="2037004"/>
            <a:ext cx="1512570" cy="26860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冬</a:t>
            </a:r>
            <a:endParaRPr kumimoji="0" lang="zh-CN" sz="1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937812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B48A783-402B-C139-5585-CD82E81F4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hink-cell data - do not delete" hidden="1">
            <a:extLst>
              <a:ext uri="{FF2B5EF4-FFF2-40B4-BE49-F238E27FC236}">
                <a16:creationId xmlns:a16="http://schemas.microsoft.com/office/drawing/2014/main" id="{F71F47E1-87D4-4912-8C3A-75FF9F0751A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333207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6" imgW="426" imgH="426" progId="TCLayout.ActiveDocument.1">
                  <p:embed/>
                </p:oleObj>
              </mc:Choice>
              <mc:Fallback>
                <p:oleObj name="think-cell 幻灯片" r:id="rId6" imgW="426" imgH="426" progId="TCLayout.ActiveDocument.1">
                  <p:embed/>
                  <p:pic>
                    <p:nvPicPr>
                      <p:cNvPr id="2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0C1AEBA-6131-8847-7434-D83556CBD3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67CCBA8A-8C25-7506-6A83-256A66279D68}"/>
              </a:ext>
            </a:extLst>
          </p:cNvPr>
          <p:cNvSpPr txBox="1"/>
          <p:nvPr/>
        </p:nvSpPr>
        <p:spPr>
          <a:xfrm>
            <a:off x="986790" y="351155"/>
            <a:ext cx="10822940" cy="107632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lvl="0"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2800" b="1" dirty="0">
                <a:solidFill>
                  <a:srgbClr val="0599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极氪001/007GT系列</a:t>
            </a:r>
            <a:r>
              <a:rPr lang="zh-CN" altLang="en-US" sz="2800" b="1" dirty="0">
                <a:solidFill>
                  <a:srgbClr val="0599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——</a:t>
            </a:r>
          </a:p>
          <a:p>
            <a:pPr lvl="0"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24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节气为轴结合猎装户外核心场景，打造质感种草内容，唤醒用户情绪共鸣</a:t>
            </a:r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</a:p>
        </p:txBody>
      </p:sp>
      <p:sp>
        <p:nvSpPr>
          <p:cNvPr id="104" name="矩形: 圆角 190">
            <a:extLst>
              <a:ext uri="{FF2B5EF4-FFF2-40B4-BE49-F238E27FC236}">
                <a16:creationId xmlns:a16="http://schemas.microsoft.com/office/drawing/2014/main" id="{CFF21269-D297-BA27-3871-7A4A6EA92B8A}"/>
              </a:ext>
            </a:extLst>
          </p:cNvPr>
          <p:cNvSpPr/>
          <p:nvPr/>
        </p:nvSpPr>
        <p:spPr>
          <a:xfrm>
            <a:off x="9594850" y="1913890"/>
            <a:ext cx="2205355" cy="4385310"/>
          </a:xfrm>
          <a:prstGeom prst="roundRect">
            <a:avLst>
              <a:gd name="adj" fmla="val 0"/>
            </a:avLst>
          </a:prstGeom>
          <a:gradFill>
            <a:gsLst>
              <a:gs pos="0">
                <a:sysClr val="window" lastClr="FFFFFF"/>
              </a:gs>
              <a:gs pos="100000">
                <a:sysClr val="window" lastClr="FFFFFF"/>
              </a:gs>
              <a:gs pos="46000">
                <a:srgbClr val="549E39">
                  <a:lumMod val="5000"/>
                  <a:lumOff val="95000"/>
                </a:srgbClr>
              </a:gs>
            </a:gsLst>
            <a:path path="circle">
              <a:fillToRect r="100000" b="100000"/>
            </a:path>
          </a:gradFill>
          <a:ln w="6350" cap="flat" cmpd="sng" algn="ctr">
            <a:solidFill>
              <a:sysClr val="window" lastClr="FFFFFF">
                <a:lumMod val="75000"/>
              </a:sys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8" name="同侧圆角矩形 14">
            <a:extLst>
              <a:ext uri="{FF2B5EF4-FFF2-40B4-BE49-F238E27FC236}">
                <a16:creationId xmlns:a16="http://schemas.microsoft.com/office/drawing/2014/main" id="{585E1DF7-9EE4-24B2-93E9-F4265B4A4E7F}"/>
              </a:ext>
            </a:extLst>
          </p:cNvPr>
          <p:cNvSpPr/>
          <p:nvPr/>
        </p:nvSpPr>
        <p:spPr>
          <a:xfrm>
            <a:off x="4874895" y="1661795"/>
            <a:ext cx="4364355" cy="295275"/>
          </a:xfrm>
          <a:prstGeom prst="round2SameRect">
            <a:avLst>
              <a:gd name="adj1" fmla="val 32633"/>
              <a:gd name="adj2" fmla="val 0"/>
            </a:avLst>
          </a:prstGeom>
          <a:solidFill>
            <a:srgbClr val="06B85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2251" tIns="2251" rIns="2251" bIns="2251" rtlCol="0" anchor="ctr"/>
          <a:lstStyle/>
          <a:p>
            <a:pPr marL="0" marR="0" lvl="0" indent="0" algn="ctr" defTabSz="60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季节仪式感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+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产品功能场景化，打造质感种草内容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CD90789-A71F-691F-82AF-E026351009AC}"/>
              </a:ext>
            </a:extLst>
          </p:cNvPr>
          <p:cNvSpPr txBox="1"/>
          <p:nvPr/>
        </p:nvSpPr>
        <p:spPr>
          <a:xfrm>
            <a:off x="9542463" y="2150745"/>
            <a:ext cx="24650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060575" algn="l"/>
                <a:tab pos="2600325" algn="l"/>
              </a:tabLst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好内容占比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060575" algn="l"/>
                <a:tab pos="2600325" algn="l"/>
              </a:tabLst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6B8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80%+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FA96039-A882-EDCF-5B78-6AF64536AE97}"/>
              </a:ext>
            </a:extLst>
          </p:cNvPr>
          <p:cNvSpPr txBox="1"/>
          <p:nvPr/>
        </p:nvSpPr>
        <p:spPr>
          <a:xfrm>
            <a:off x="9510713" y="5378450"/>
            <a:ext cx="25285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060575" algn="l"/>
                <a:tab pos="2600325" algn="l"/>
              </a:tabLst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周期内NPS口碑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060575" algn="l"/>
                <a:tab pos="2600325" algn="l"/>
              </a:tabLst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6B8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+16%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CAFBCF5-7E8D-1CAC-257A-734F964C2060}"/>
              </a:ext>
            </a:extLst>
          </p:cNvPr>
          <p:cNvSpPr txBox="1"/>
          <p:nvPr/>
        </p:nvSpPr>
        <p:spPr>
          <a:xfrm>
            <a:off x="9740265" y="3213100"/>
            <a:ext cx="2069465" cy="716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>
                <a:tab pos="2060575" algn="l"/>
                <a:tab pos="2600325" algn="l"/>
              </a:tabLst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周期内人群资产提升</a:t>
            </a:r>
            <a:r>
              <a:rPr lang="en-US" altLang="zh-CN" sz="3200" b="1" noProof="0" dirty="0">
                <a:ln>
                  <a:noFill/>
                </a:ln>
                <a:solidFill>
                  <a:srgbClr val="06B8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1300</a:t>
            </a:r>
            <a:r>
              <a:rPr lang="zh-CN" altLang="en-US" sz="3200" b="1" noProof="0" dirty="0">
                <a:ln>
                  <a:noFill/>
                </a:ln>
                <a:solidFill>
                  <a:srgbClr val="06B8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</a:t>
            </a:r>
            <a:r>
              <a:rPr lang="en-US" altLang="zh-CN" sz="3200" b="1" noProof="0" dirty="0">
                <a:ln>
                  <a:noFill/>
                </a:ln>
                <a:solidFill>
                  <a:srgbClr val="06B8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CC52F9A-977D-C531-CC23-5A2454FC7DDF}"/>
              </a:ext>
            </a:extLst>
          </p:cNvPr>
          <p:cNvSpPr txBox="1"/>
          <p:nvPr/>
        </p:nvSpPr>
        <p:spPr>
          <a:xfrm>
            <a:off x="9859963" y="4340225"/>
            <a:ext cx="1830070" cy="716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>
                <a:tab pos="2060575" algn="l"/>
                <a:tab pos="2600325" algn="l"/>
              </a:tabLst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目标人群渗透</a:t>
            </a:r>
            <a:endParaRPr lang="zh-CN" altLang="en-US" sz="32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>
                <a:tab pos="2060575" algn="l"/>
                <a:tab pos="2600325" algn="l"/>
              </a:tabLst>
              <a:defRPr/>
            </a:pPr>
            <a:r>
              <a:rPr lang="zh-CN" altLang="en-US" sz="3200" b="1" noProof="0" dirty="0">
                <a:ln>
                  <a:noFill/>
                </a:ln>
                <a:solidFill>
                  <a:srgbClr val="06B8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en-US" altLang="zh-CN" sz="3200" b="1" noProof="0" dirty="0">
                <a:ln>
                  <a:noFill/>
                </a:ln>
                <a:solidFill>
                  <a:srgbClr val="06B8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42</a:t>
            </a:r>
            <a:r>
              <a:rPr lang="zh-CN" altLang="en-US" sz="3200" b="1" noProof="0" dirty="0">
                <a:ln>
                  <a:noFill/>
                </a:ln>
                <a:solidFill>
                  <a:srgbClr val="06B8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%</a:t>
            </a:r>
          </a:p>
        </p:txBody>
      </p:sp>
      <p:sp>
        <p:nvSpPr>
          <p:cNvPr id="299" name="同侧圆角矩形 14">
            <a:extLst>
              <a:ext uri="{FF2B5EF4-FFF2-40B4-BE49-F238E27FC236}">
                <a16:creationId xmlns:a16="http://schemas.microsoft.com/office/drawing/2014/main" id="{D4416FF1-FE92-092B-A107-F2DFA145913B}"/>
              </a:ext>
            </a:extLst>
          </p:cNvPr>
          <p:cNvSpPr/>
          <p:nvPr/>
        </p:nvSpPr>
        <p:spPr>
          <a:xfrm>
            <a:off x="422910" y="1661795"/>
            <a:ext cx="3917315" cy="295275"/>
          </a:xfrm>
          <a:prstGeom prst="round2SameRect">
            <a:avLst>
              <a:gd name="adj1" fmla="val 32633"/>
              <a:gd name="adj2" fmla="val 0"/>
            </a:avLst>
          </a:prstGeom>
          <a:solidFill>
            <a:srgbClr val="06B85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2251" tIns="2251" rIns="2251" bIns="2251" rtlCol="0" anchor="ctr"/>
          <a:lstStyle/>
          <a:p>
            <a:pPr marL="0" marR="0" lvl="0" indent="0" algn="ctr" defTabSz="60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以目标人群洞察核心渗透人群</a:t>
            </a:r>
          </a:p>
        </p:txBody>
      </p:sp>
      <p:sp>
        <p:nvSpPr>
          <p:cNvPr id="105" name="同侧圆角矩形 14">
            <a:extLst>
              <a:ext uri="{FF2B5EF4-FFF2-40B4-BE49-F238E27FC236}">
                <a16:creationId xmlns:a16="http://schemas.microsoft.com/office/drawing/2014/main" id="{CF6C4972-5404-CF85-C358-B1230A45B64C}"/>
              </a:ext>
            </a:extLst>
          </p:cNvPr>
          <p:cNvSpPr/>
          <p:nvPr/>
        </p:nvSpPr>
        <p:spPr>
          <a:xfrm>
            <a:off x="9595485" y="1661795"/>
            <a:ext cx="2205355" cy="295275"/>
          </a:xfrm>
          <a:prstGeom prst="round2SameRect">
            <a:avLst>
              <a:gd name="adj1" fmla="val 32633"/>
              <a:gd name="adj2" fmla="val 0"/>
            </a:avLst>
          </a:prstGeom>
          <a:solidFill>
            <a:srgbClr val="06B85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2251" tIns="2251" rIns="2251" bIns="2251" rtlCol="0" anchor="ctr"/>
          <a:lstStyle/>
          <a:p>
            <a:pPr marL="0" marR="0" lvl="0" indent="0" algn="ctr" defTabSz="60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好内容带动高转化</a:t>
            </a:r>
          </a:p>
        </p:txBody>
      </p:sp>
      <p:sp>
        <p:nvSpPr>
          <p:cNvPr id="1223" name="文本框 1222">
            <a:extLst>
              <a:ext uri="{FF2B5EF4-FFF2-40B4-BE49-F238E27FC236}">
                <a16:creationId xmlns:a16="http://schemas.microsoft.com/office/drawing/2014/main" id="{B106948A-463A-FC75-93AA-535FE59679D2}"/>
              </a:ext>
            </a:extLst>
          </p:cNvPr>
          <p:cNvSpPr txBox="1"/>
          <p:nvPr/>
        </p:nvSpPr>
        <p:spPr>
          <a:xfrm>
            <a:off x="9615805" y="6548120"/>
            <a:ext cx="238569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</a:t>
            </a:r>
            <a:r>
              <a:rPr lang="zh-CN" altLang="en-US" sz="800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数据来源：小红书数据中台</a:t>
            </a:r>
            <a:r>
              <a:rPr lang="en-US" altLang="zh-CN" sz="800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r>
              <a:rPr lang="zh-CN" altLang="en-US" sz="800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800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r>
              <a:rPr lang="zh-CN" altLang="en-US" sz="800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月数据</a:t>
            </a:r>
          </a:p>
        </p:txBody>
      </p:sp>
      <p:sp>
        <p:nvSpPr>
          <p:cNvPr id="80" name="Freeform 29">
            <a:extLst>
              <a:ext uri="{FF2B5EF4-FFF2-40B4-BE49-F238E27FC236}">
                <a16:creationId xmlns:a16="http://schemas.microsoft.com/office/drawing/2014/main" id="{32FF8069-465C-6869-7923-D5990C5CB4A8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2999603" y="2572346"/>
            <a:ext cx="1451499" cy="492760"/>
          </a:xfrm>
          <a:custGeom>
            <a:avLst/>
            <a:gdLst>
              <a:gd name="T0" fmla="*/ 63852 w 3884"/>
              <a:gd name="T1" fmla="*/ 253742 h 1600"/>
              <a:gd name="T2" fmla="*/ 496629 w 3884"/>
              <a:gd name="T3" fmla="*/ 272971 h 1600"/>
              <a:gd name="T4" fmla="*/ 819116 w 3884"/>
              <a:gd name="T5" fmla="*/ 166648 h 1600"/>
              <a:gd name="T6" fmla="*/ 418157 w 3884"/>
              <a:gd name="T7" fmla="*/ 25827 h 1600"/>
              <a:gd name="T8" fmla="*/ 15909 w 3884"/>
              <a:gd name="T9" fmla="*/ 136485 h 1600"/>
              <a:gd name="T10" fmla="*/ 167908 w 3884"/>
              <a:gd name="T11" fmla="*/ 202089 h 1600"/>
              <a:gd name="T12" fmla="*/ 0 w 3884"/>
              <a:gd name="T13" fmla="*/ 136485 h 1600"/>
              <a:gd name="T14" fmla="*/ 419447 w 3884"/>
              <a:gd name="T15" fmla="*/ 12819 h 1600"/>
              <a:gd name="T16" fmla="*/ 833735 w 3884"/>
              <a:gd name="T17" fmla="*/ 166648 h 1600"/>
              <a:gd name="T18" fmla="*/ 489320 w 3884"/>
              <a:gd name="T19" fmla="*/ 287109 h 1600"/>
              <a:gd name="T20" fmla="*/ 63852 w 3884"/>
              <a:gd name="T21" fmla="*/ 253742 h 16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884"/>
              <a:gd name="T34" fmla="*/ 0 h 1600"/>
              <a:gd name="T35" fmla="*/ 3884 w 3884"/>
              <a:gd name="T36" fmla="*/ 1600 h 160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884" h="1600">
                <a:moveTo>
                  <a:pt x="297" y="1346"/>
                </a:moveTo>
                <a:cubicBezTo>
                  <a:pt x="918" y="1523"/>
                  <a:pt x="1726" y="1533"/>
                  <a:pt x="2310" y="1448"/>
                </a:cubicBezTo>
                <a:cubicBezTo>
                  <a:pt x="3125" y="1334"/>
                  <a:pt x="3798" y="1192"/>
                  <a:pt x="3810" y="884"/>
                </a:cubicBezTo>
                <a:cubicBezTo>
                  <a:pt x="3822" y="576"/>
                  <a:pt x="3114" y="204"/>
                  <a:pt x="1945" y="137"/>
                </a:cubicBezTo>
                <a:cubicBezTo>
                  <a:pt x="645" y="63"/>
                  <a:pt x="74" y="564"/>
                  <a:pt x="74" y="724"/>
                </a:cubicBezTo>
                <a:cubicBezTo>
                  <a:pt x="74" y="884"/>
                  <a:pt x="394" y="1032"/>
                  <a:pt x="781" y="1072"/>
                </a:cubicBezTo>
                <a:cubicBezTo>
                  <a:pt x="280" y="1135"/>
                  <a:pt x="0" y="912"/>
                  <a:pt x="0" y="724"/>
                </a:cubicBezTo>
                <a:cubicBezTo>
                  <a:pt x="0" y="536"/>
                  <a:pt x="473" y="0"/>
                  <a:pt x="1951" y="68"/>
                </a:cubicBezTo>
                <a:cubicBezTo>
                  <a:pt x="2863" y="110"/>
                  <a:pt x="3884" y="433"/>
                  <a:pt x="3878" y="884"/>
                </a:cubicBezTo>
                <a:cubicBezTo>
                  <a:pt x="3872" y="1335"/>
                  <a:pt x="2873" y="1446"/>
                  <a:pt x="2276" y="1523"/>
                </a:cubicBezTo>
                <a:cubicBezTo>
                  <a:pt x="1679" y="1600"/>
                  <a:pt x="553" y="1580"/>
                  <a:pt x="297" y="1346"/>
                </a:cubicBezTo>
                <a:close/>
              </a:path>
            </a:pathLst>
          </a:custGeom>
          <a:solidFill>
            <a:srgbClr val="009744"/>
          </a:solidFill>
          <a:ln w="12700">
            <a:noFill/>
            <a:round/>
          </a:ln>
        </p:spPr>
        <p:txBody>
          <a:bodyPr tIns="91440" bIns="9144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ko-KR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3" name="图片 2" descr="徽标&#10;&#10;描述已自动生成">
            <a:extLst>
              <a:ext uri="{FF2B5EF4-FFF2-40B4-BE49-F238E27FC236}">
                <a16:creationId xmlns:a16="http://schemas.microsoft.com/office/drawing/2014/main" id="{3B4EB74F-12D5-C588-F008-37C629426C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907" y="181686"/>
            <a:ext cx="653607" cy="311082"/>
          </a:xfrm>
          <a:prstGeom prst="rect">
            <a:avLst/>
          </a:prstGeom>
        </p:spPr>
      </p:pic>
      <p:sp>
        <p:nvSpPr>
          <p:cNvPr id="2" name="同侧圆角矩形 14">
            <a:extLst>
              <a:ext uri="{FF2B5EF4-FFF2-40B4-BE49-F238E27FC236}">
                <a16:creationId xmlns:a16="http://schemas.microsoft.com/office/drawing/2014/main" id="{C9698233-AC23-FB95-46E4-8D12FA2C3E55}"/>
              </a:ext>
            </a:extLst>
          </p:cNvPr>
          <p:cNvSpPr/>
          <p:nvPr/>
        </p:nvSpPr>
        <p:spPr>
          <a:xfrm>
            <a:off x="5223510" y="-1270"/>
            <a:ext cx="1696085" cy="494030"/>
          </a:xfrm>
          <a:prstGeom prst="round2SameRect">
            <a:avLst>
              <a:gd name="adj1" fmla="val 32633"/>
              <a:gd name="adj2" fmla="val 0"/>
            </a:avLst>
          </a:prstGeom>
          <a:solidFill>
            <a:srgbClr val="06B85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2251" tIns="2251" rIns="2251" bIns="2251" rtlCol="0" anchor="ctr"/>
          <a:lstStyle/>
          <a:p>
            <a:pPr marL="0" marR="0" lvl="0" indent="0" algn="ctr" defTabSz="60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案例分享</a:t>
            </a:r>
            <a:endParaRPr kumimoji="0" lang="zh-CN" altLang="zh-CN" b="1" i="0" u="non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5DE96607-5A4C-9A4F-C152-DAA291AE48F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 rot="5400000">
            <a:off x="2061210" y="887730"/>
            <a:ext cx="982345" cy="3574415"/>
          </a:xfrm>
          <a:prstGeom prst="rect">
            <a:avLst/>
          </a:prstGeom>
          <a:noFill/>
          <a:ln w="12700" cap="flat" cmpd="sng" algn="ctr">
            <a:gradFill flip="none" rotWithShape="1">
              <a:gsLst>
                <a:gs pos="0">
                  <a:srgbClr val="4472C4">
                    <a:lumMod val="5000"/>
                    <a:lumOff val="95000"/>
                    <a:alpha val="0"/>
                  </a:srgbClr>
                </a:gs>
                <a:gs pos="44000">
                  <a:srgbClr val="70AD47">
                    <a:lumMod val="40000"/>
                    <a:lumOff val="60000"/>
                  </a:srgbClr>
                </a:gs>
                <a:gs pos="83000">
                  <a:srgbClr val="70AD47">
                    <a:lumMod val="60000"/>
                    <a:lumOff val="40000"/>
                  </a:srgbClr>
                </a:gs>
                <a:gs pos="100000">
                  <a:srgbClr val="17AE40"/>
                </a:gs>
              </a:gsLst>
              <a:lin ang="10800000" scaled="0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3" name="矩形: 圆角 143">
            <a:extLst>
              <a:ext uri="{FF2B5EF4-FFF2-40B4-BE49-F238E27FC236}">
                <a16:creationId xmlns:a16="http://schemas.microsoft.com/office/drawing/2014/main" id="{A7ED7002-76B5-7BEE-F44C-78CC7C0DC812}"/>
              </a:ext>
            </a:extLst>
          </p:cNvPr>
          <p:cNvSpPr/>
          <p:nvPr/>
        </p:nvSpPr>
        <p:spPr>
          <a:xfrm>
            <a:off x="1111250" y="2035810"/>
            <a:ext cx="2924175" cy="294640"/>
          </a:xfrm>
          <a:prstGeom prst="roundRect">
            <a:avLst>
              <a:gd name="adj" fmla="val 50000"/>
            </a:avLst>
          </a:prstGeom>
          <a:solidFill>
            <a:srgbClr val="17AE4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目标人群向量相似</a:t>
            </a:r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C3733205-EDDC-7B2C-F430-FE6D36F02702}"/>
              </a:ext>
            </a:extLst>
          </p:cNvPr>
          <p:cNvSpPr txBox="1"/>
          <p:nvPr/>
        </p:nvSpPr>
        <p:spPr>
          <a:xfrm>
            <a:off x="1497940" y="2475294"/>
            <a:ext cx="1451498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猎装美学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超跑性能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+SUV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通过性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旅行车大空间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顶级安全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锁定高浓度人群定位</a:t>
            </a:r>
          </a:p>
        </p:txBody>
      </p:sp>
      <p:sp>
        <p:nvSpPr>
          <p:cNvPr id="196" name="矩形: 圆角 167">
            <a:extLst>
              <a:ext uri="{FF2B5EF4-FFF2-40B4-BE49-F238E27FC236}">
                <a16:creationId xmlns:a16="http://schemas.microsoft.com/office/drawing/2014/main" id="{AB695F8B-F879-CDDF-5427-371785A46B0C}"/>
              </a:ext>
            </a:extLst>
          </p:cNvPr>
          <p:cNvSpPr/>
          <p:nvPr/>
        </p:nvSpPr>
        <p:spPr>
          <a:xfrm>
            <a:off x="2849414" y="2617839"/>
            <a:ext cx="1679251" cy="324131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自在户外</a:t>
            </a:r>
          </a:p>
        </p:txBody>
      </p:sp>
      <p:sp>
        <p:nvSpPr>
          <p:cNvPr id="198" name="圆角矩形 197">
            <a:extLst>
              <a:ext uri="{FF2B5EF4-FFF2-40B4-BE49-F238E27FC236}">
                <a16:creationId xmlns:a16="http://schemas.microsoft.com/office/drawing/2014/main" id="{5BC6ECC0-5B6A-D8F5-F8F1-1D951FB261F6}"/>
              </a:ext>
            </a:extLst>
          </p:cNvPr>
          <p:cNvSpPr/>
          <p:nvPr/>
        </p:nvSpPr>
        <p:spPr>
          <a:xfrm>
            <a:off x="764540" y="3828415"/>
            <a:ext cx="3617595" cy="521970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串联猎装户外核心场景</a:t>
            </a:r>
          </a:p>
        </p:txBody>
      </p:sp>
      <p:sp>
        <p:nvSpPr>
          <p:cNvPr id="199" name="矩形: 圆角 143">
            <a:extLst>
              <a:ext uri="{FF2B5EF4-FFF2-40B4-BE49-F238E27FC236}">
                <a16:creationId xmlns:a16="http://schemas.microsoft.com/office/drawing/2014/main" id="{04040B0D-11CD-5184-A44C-0CCD5FDFA154}"/>
              </a:ext>
            </a:extLst>
          </p:cNvPr>
          <p:cNvSpPr/>
          <p:nvPr/>
        </p:nvSpPr>
        <p:spPr>
          <a:xfrm>
            <a:off x="1123315" y="3514963"/>
            <a:ext cx="2924175" cy="294640"/>
          </a:xfrm>
          <a:prstGeom prst="roundRect">
            <a:avLst>
              <a:gd name="adj" fmla="val 50000"/>
            </a:avLst>
          </a:prstGeom>
          <a:solidFill>
            <a:srgbClr val="17AE4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 24 节气时序为轴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E930AA27-A6EE-4963-9F71-ADA9B9204BAF}"/>
              </a:ext>
            </a:extLst>
          </p:cNvPr>
          <p:cNvSpPr txBox="1"/>
          <p:nvPr/>
        </p:nvSpPr>
        <p:spPr>
          <a:xfrm>
            <a:off x="6642100" y="3254375"/>
            <a:ext cx="1287780" cy="79121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00974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周末短途游、年轻高知</a:t>
            </a: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953CDD9A-633D-56AF-6DF5-6A522ECEE89F}"/>
              </a:ext>
            </a:extLst>
          </p:cNvPr>
          <p:cNvSpPr txBox="1"/>
          <p:nvPr/>
        </p:nvSpPr>
        <p:spPr>
          <a:xfrm>
            <a:off x="5297805" y="3254375"/>
            <a:ext cx="1370330" cy="63563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00974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摄影、时尚、性能爱好者</a:t>
            </a:r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2C1EEA68-E6EF-4323-7B9A-26F6B7832891}"/>
              </a:ext>
            </a:extLst>
          </p:cNvPr>
          <p:cNvSpPr txBox="1"/>
          <p:nvPr/>
        </p:nvSpPr>
        <p:spPr>
          <a:xfrm>
            <a:off x="7929880" y="3254375"/>
            <a:ext cx="1320165" cy="92329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u="sng" noProof="0" dirty="0">
                <a:ln>
                  <a:noFill/>
                </a:ln>
                <a:solidFill>
                  <a:srgbClr val="00974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徒步露营、长途自驾、旅行</a:t>
            </a:r>
            <a:endParaRPr kumimoji="0" lang="zh-CN" altLang="en-US" sz="1200" b="1" i="0" u="sng" strike="noStrike" kern="1200" cap="none" spc="0" normalizeH="0" baseline="0" noProof="0" dirty="0">
              <a:ln>
                <a:noFill/>
              </a:ln>
              <a:solidFill>
                <a:srgbClr val="00974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19821981-1C67-90E9-F955-6E717DFDFE4C}"/>
              </a:ext>
            </a:extLst>
          </p:cNvPr>
          <p:cNvGrpSpPr/>
          <p:nvPr/>
        </p:nvGrpSpPr>
        <p:grpSpPr>
          <a:xfrm>
            <a:off x="5177237" y="2219790"/>
            <a:ext cx="1579245" cy="319840"/>
            <a:chOff x="151" y="7530"/>
            <a:chExt cx="2487" cy="448"/>
          </a:xfrm>
        </p:grpSpPr>
        <p:sp>
          <p:nvSpPr>
            <p:cNvPr id="204" name="矩形: 圆角 22">
              <a:extLst>
                <a:ext uri="{FF2B5EF4-FFF2-40B4-BE49-F238E27FC236}">
                  <a16:creationId xmlns:a16="http://schemas.microsoft.com/office/drawing/2014/main" id="{E4E76822-79CD-0E43-4ABB-3B526635B3E2}"/>
                </a:ext>
              </a:extLst>
            </p:cNvPr>
            <p:cNvSpPr/>
            <p:nvPr/>
          </p:nvSpPr>
          <p:spPr>
            <a:xfrm>
              <a:off x="726" y="7579"/>
              <a:ext cx="1363" cy="299"/>
            </a:xfrm>
            <a:prstGeom prst="roundRect">
              <a:avLst>
                <a:gd name="adj" fmla="val 8000"/>
              </a:avLst>
            </a:prstGeom>
            <a:solidFill>
              <a:sysClr val="window" lastClr="FFFFFF"/>
            </a:solidFill>
            <a:ln w="6350" cap="flat">
              <a:solidFill>
                <a:srgbClr val="549E39">
                  <a:lumMod val="100000"/>
                </a:srgbClr>
              </a:solidFill>
              <a:prstDash val="solid"/>
              <a:miter/>
            </a:ln>
            <a:effectLst>
              <a:outerShdw blurRad="635000" dist="254000" dir="5400000" algn="t" rotWithShape="0">
                <a:srgbClr val="E3DED1">
                  <a:alpha val="1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5B8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5" name="文本框 204">
              <a:extLst>
                <a:ext uri="{FF2B5EF4-FFF2-40B4-BE49-F238E27FC236}">
                  <a16:creationId xmlns:a16="http://schemas.microsoft.com/office/drawing/2014/main" id="{E29E3D38-DD32-C22E-D1BE-A20D08B5DB4E}"/>
                </a:ext>
              </a:extLst>
            </p:cNvPr>
            <p:cNvSpPr txBox="1"/>
            <p:nvPr/>
          </p:nvSpPr>
          <p:spPr>
            <a:xfrm>
              <a:off x="151" y="7530"/>
              <a:ext cx="2487" cy="44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b="1" dirty="0">
                  <a:latin typeface="微软雅黑" panose="020B0503020204020204" charset="-122"/>
                  <a:ea typeface="微软雅黑" panose="020B0503020204020204" charset="-122"/>
                </a:rPr>
                <a:t>夏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206" name="组合 205">
            <a:extLst>
              <a:ext uri="{FF2B5EF4-FFF2-40B4-BE49-F238E27FC236}">
                <a16:creationId xmlns:a16="http://schemas.microsoft.com/office/drawing/2014/main" id="{EC35A618-CD52-3F88-F918-8DF287157053}"/>
              </a:ext>
            </a:extLst>
          </p:cNvPr>
          <p:cNvGrpSpPr/>
          <p:nvPr/>
        </p:nvGrpSpPr>
        <p:grpSpPr>
          <a:xfrm>
            <a:off x="6610749" y="2226912"/>
            <a:ext cx="1155065" cy="284480"/>
            <a:chOff x="494" y="8151"/>
            <a:chExt cx="1819" cy="448"/>
          </a:xfrm>
        </p:grpSpPr>
        <p:sp>
          <p:nvSpPr>
            <p:cNvPr id="207" name="矩形: 圆角 22">
              <a:extLst>
                <a:ext uri="{FF2B5EF4-FFF2-40B4-BE49-F238E27FC236}">
                  <a16:creationId xmlns:a16="http://schemas.microsoft.com/office/drawing/2014/main" id="{51B90F71-DF01-F032-2117-07C123123886}"/>
                </a:ext>
              </a:extLst>
            </p:cNvPr>
            <p:cNvSpPr/>
            <p:nvPr/>
          </p:nvSpPr>
          <p:spPr>
            <a:xfrm>
              <a:off x="726" y="8182"/>
              <a:ext cx="1363" cy="349"/>
            </a:xfrm>
            <a:prstGeom prst="roundRect">
              <a:avLst>
                <a:gd name="adj" fmla="val 8000"/>
              </a:avLst>
            </a:prstGeom>
            <a:solidFill>
              <a:sysClr val="window" lastClr="FFFFFF"/>
            </a:solidFill>
            <a:ln w="6350" cap="flat">
              <a:solidFill>
                <a:srgbClr val="549E39">
                  <a:lumMod val="100000"/>
                </a:srgbClr>
              </a:solidFill>
              <a:prstDash val="solid"/>
              <a:miter/>
            </a:ln>
            <a:effectLst>
              <a:outerShdw blurRad="635000" dist="254000" dir="5400000" algn="t" rotWithShape="0">
                <a:srgbClr val="E3DED1">
                  <a:alpha val="1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5B8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8" name="文本框 207">
              <a:extLst>
                <a:ext uri="{FF2B5EF4-FFF2-40B4-BE49-F238E27FC236}">
                  <a16:creationId xmlns:a16="http://schemas.microsoft.com/office/drawing/2014/main" id="{CA322CEE-55BD-8886-7A0B-452AA6FB59DE}"/>
                </a:ext>
              </a:extLst>
            </p:cNvPr>
            <p:cNvSpPr txBox="1"/>
            <p:nvPr/>
          </p:nvSpPr>
          <p:spPr>
            <a:xfrm>
              <a:off x="494" y="8151"/>
              <a:ext cx="1819" cy="44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b="1" dirty="0">
                  <a:latin typeface="微软雅黑" panose="020B0503020204020204" charset="-122"/>
                  <a:ea typeface="微软雅黑" panose="020B0503020204020204" charset="-122"/>
                </a:rPr>
                <a:t>秋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209" name="组合 208">
            <a:extLst>
              <a:ext uri="{FF2B5EF4-FFF2-40B4-BE49-F238E27FC236}">
                <a16:creationId xmlns:a16="http://schemas.microsoft.com/office/drawing/2014/main" id="{FA13560F-C2E4-097F-2887-978515D67308}"/>
              </a:ext>
            </a:extLst>
          </p:cNvPr>
          <p:cNvGrpSpPr/>
          <p:nvPr/>
        </p:nvGrpSpPr>
        <p:grpSpPr>
          <a:xfrm>
            <a:off x="7726444" y="2230087"/>
            <a:ext cx="1512570" cy="268605"/>
            <a:chOff x="234" y="9018"/>
            <a:chExt cx="2382" cy="423"/>
          </a:xfrm>
        </p:grpSpPr>
        <p:sp>
          <p:nvSpPr>
            <p:cNvPr id="210" name="矩形: 圆角 22">
              <a:extLst>
                <a:ext uri="{FF2B5EF4-FFF2-40B4-BE49-F238E27FC236}">
                  <a16:creationId xmlns:a16="http://schemas.microsoft.com/office/drawing/2014/main" id="{BD8A3DA3-4645-E223-85E5-71271FE1E134}"/>
                </a:ext>
              </a:extLst>
            </p:cNvPr>
            <p:cNvSpPr/>
            <p:nvPr/>
          </p:nvSpPr>
          <p:spPr>
            <a:xfrm>
              <a:off x="726" y="9044"/>
              <a:ext cx="1363" cy="373"/>
            </a:xfrm>
            <a:prstGeom prst="roundRect">
              <a:avLst>
                <a:gd name="adj" fmla="val 8000"/>
              </a:avLst>
            </a:prstGeom>
            <a:solidFill>
              <a:sysClr val="window" lastClr="FFFFFF"/>
            </a:solidFill>
            <a:ln w="6350" cap="flat">
              <a:solidFill>
                <a:srgbClr val="549E39">
                  <a:lumMod val="100000"/>
                </a:srgbClr>
              </a:solidFill>
              <a:prstDash val="solid"/>
              <a:miter/>
            </a:ln>
            <a:effectLst>
              <a:outerShdw blurRad="635000" dist="254000" dir="5400000" algn="t" rotWithShape="0">
                <a:srgbClr val="E3DED1">
                  <a:alpha val="1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5B8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9DC693BE-7BAA-4DC4-7070-CD3C52E8FB16}"/>
                </a:ext>
              </a:extLst>
            </p:cNvPr>
            <p:cNvSpPr txBox="1"/>
            <p:nvPr/>
          </p:nvSpPr>
          <p:spPr>
            <a:xfrm>
              <a:off x="234" y="9018"/>
              <a:ext cx="2382" cy="423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冬</a:t>
              </a:r>
              <a:endParaRPr kumimoji="0" lang="zh-CN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12" name="文本框 211">
            <a:extLst>
              <a:ext uri="{FF2B5EF4-FFF2-40B4-BE49-F238E27FC236}">
                <a16:creationId xmlns:a16="http://schemas.microsoft.com/office/drawing/2014/main" id="{AE699E6B-7177-8BFB-058A-80AF07EDBC6F}"/>
              </a:ext>
            </a:extLst>
          </p:cNvPr>
          <p:cNvSpPr txBox="1"/>
          <p:nvPr/>
        </p:nvSpPr>
        <p:spPr>
          <a:xfrm>
            <a:off x="5242242" y="1976812"/>
            <a:ext cx="3754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1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结合内容方向标签选适配博主   场景化叙事风格质感统一</a:t>
            </a:r>
          </a:p>
        </p:txBody>
      </p:sp>
      <p:sp>
        <p:nvSpPr>
          <p:cNvPr id="213" name="文本框 212">
            <a:extLst>
              <a:ext uri="{FF2B5EF4-FFF2-40B4-BE49-F238E27FC236}">
                <a16:creationId xmlns:a16="http://schemas.microsoft.com/office/drawing/2014/main" id="{4EEAFAC0-456C-80F2-8E5A-0AF1C0F5717C}"/>
              </a:ext>
            </a:extLst>
          </p:cNvPr>
          <p:cNvSpPr txBox="1"/>
          <p:nvPr/>
        </p:nvSpPr>
        <p:spPr>
          <a:xfrm>
            <a:off x="4514056" y="2483168"/>
            <a:ext cx="930910" cy="28448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内容方向</a:t>
            </a:r>
          </a:p>
        </p:txBody>
      </p:sp>
      <p:sp>
        <p:nvSpPr>
          <p:cNvPr id="214" name="文本框 213">
            <a:extLst>
              <a:ext uri="{FF2B5EF4-FFF2-40B4-BE49-F238E27FC236}">
                <a16:creationId xmlns:a16="http://schemas.microsoft.com/office/drawing/2014/main" id="{3F9EF18D-2256-CF5B-1156-4E236CAC901D}"/>
              </a:ext>
            </a:extLst>
          </p:cNvPr>
          <p:cNvSpPr txBox="1"/>
          <p:nvPr/>
        </p:nvSpPr>
        <p:spPr>
          <a:xfrm>
            <a:off x="4505325" y="3322955"/>
            <a:ext cx="930910" cy="28448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博主标签</a:t>
            </a: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E67EB4C6-AB7D-7D6B-B12C-3F40640D851E}"/>
              </a:ext>
            </a:extLst>
          </p:cNvPr>
          <p:cNvGrpSpPr/>
          <p:nvPr/>
        </p:nvGrpSpPr>
        <p:grpSpPr>
          <a:xfrm>
            <a:off x="5055870" y="6117590"/>
            <a:ext cx="1367155" cy="200025"/>
            <a:chOff x="1203444" y="3550491"/>
            <a:chExt cx="1407470" cy="358734"/>
          </a:xfrm>
        </p:grpSpPr>
        <p:sp>
          <p:nvSpPr>
            <p:cNvPr id="61" name="圆角矩形 69">
              <a:extLst>
                <a:ext uri="{FF2B5EF4-FFF2-40B4-BE49-F238E27FC236}">
                  <a16:creationId xmlns:a16="http://schemas.microsoft.com/office/drawing/2014/main" id="{FF18F99D-ABB1-5E8E-5033-611CD49F3286}"/>
                </a:ext>
              </a:extLst>
            </p:cNvPr>
            <p:cNvSpPr/>
            <p:nvPr/>
          </p:nvSpPr>
          <p:spPr>
            <a:xfrm>
              <a:off x="1215156" y="3637507"/>
              <a:ext cx="1326505" cy="271718"/>
            </a:xfrm>
            <a:prstGeom prst="roundRect">
              <a:avLst>
                <a:gd name="adj" fmla="val 50000"/>
              </a:avLst>
            </a:prstGeom>
            <a:solidFill>
              <a:srgbClr val="70AD47"/>
            </a:solidFill>
            <a:ln w="9525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A518DA76-2314-C788-7EB7-E7692FC10830}"/>
                </a:ext>
              </a:extLst>
            </p:cNvPr>
            <p:cNvSpPr txBox="1"/>
            <p:nvPr/>
          </p:nvSpPr>
          <p:spPr>
            <a:xfrm>
              <a:off x="1203444" y="3550491"/>
              <a:ext cx="1407470" cy="28863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algn="ctr">
                <a:defRPr kumimoji="0" sz="1000" b="0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Medium" panose="02020500000000000000" pitchFamily="18" charset="-122"/>
                  <a:ea typeface="思源宋体 CN Medium" panose="02020500000000000000" pitchFamily="18" charset="-122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年轻人的第一台猎装车</a:t>
              </a:r>
            </a:p>
          </p:txBody>
        </p:sp>
      </p:grpSp>
      <p:grpSp>
        <p:nvGrpSpPr>
          <p:cNvPr id="227" name="组合 226">
            <a:extLst>
              <a:ext uri="{FF2B5EF4-FFF2-40B4-BE49-F238E27FC236}">
                <a16:creationId xmlns:a16="http://schemas.microsoft.com/office/drawing/2014/main" id="{8333B556-F6F0-399F-BCA6-DA284CE2A989}"/>
              </a:ext>
            </a:extLst>
          </p:cNvPr>
          <p:cNvGrpSpPr/>
          <p:nvPr/>
        </p:nvGrpSpPr>
        <p:grpSpPr>
          <a:xfrm>
            <a:off x="6680200" y="6117590"/>
            <a:ext cx="1230630" cy="200025"/>
            <a:chOff x="1203444" y="3550491"/>
            <a:chExt cx="1407470" cy="358734"/>
          </a:xfrm>
        </p:grpSpPr>
        <p:sp>
          <p:nvSpPr>
            <p:cNvPr id="228" name="圆角矩形 69">
              <a:extLst>
                <a:ext uri="{FF2B5EF4-FFF2-40B4-BE49-F238E27FC236}">
                  <a16:creationId xmlns:a16="http://schemas.microsoft.com/office/drawing/2014/main" id="{1FDDDCE4-0C75-F828-33DB-F8A45D773E31}"/>
                </a:ext>
              </a:extLst>
            </p:cNvPr>
            <p:cNvSpPr/>
            <p:nvPr/>
          </p:nvSpPr>
          <p:spPr>
            <a:xfrm>
              <a:off x="1215156" y="3637507"/>
              <a:ext cx="1326505" cy="271718"/>
            </a:xfrm>
            <a:prstGeom prst="roundRect">
              <a:avLst>
                <a:gd name="adj" fmla="val 50000"/>
              </a:avLst>
            </a:prstGeom>
            <a:solidFill>
              <a:srgbClr val="70AD47"/>
            </a:solidFill>
            <a:ln w="9525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9" name="文本框 228">
              <a:extLst>
                <a:ext uri="{FF2B5EF4-FFF2-40B4-BE49-F238E27FC236}">
                  <a16:creationId xmlns:a16="http://schemas.microsoft.com/office/drawing/2014/main" id="{1DA81F93-5770-DF93-8D70-2C50E7993A6F}"/>
                </a:ext>
              </a:extLst>
            </p:cNvPr>
            <p:cNvSpPr txBox="1"/>
            <p:nvPr/>
          </p:nvSpPr>
          <p:spPr>
            <a:xfrm>
              <a:off x="1203444" y="3550491"/>
              <a:ext cx="1407470" cy="28863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algn="ctr">
                <a:defRPr kumimoji="0" sz="1000" b="0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Medium" panose="02020500000000000000" pitchFamily="18" charset="-122"/>
                  <a:ea typeface="思源宋体 CN Medium" panose="02020500000000000000" pitchFamily="18" charset="-122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季节仪式感</a:t>
              </a: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30" name="组合 229">
            <a:extLst>
              <a:ext uri="{FF2B5EF4-FFF2-40B4-BE49-F238E27FC236}">
                <a16:creationId xmlns:a16="http://schemas.microsoft.com/office/drawing/2014/main" id="{B35C3840-A5FA-5F2E-84F3-BE9E6F4F9872}"/>
              </a:ext>
            </a:extLst>
          </p:cNvPr>
          <p:cNvGrpSpPr/>
          <p:nvPr/>
        </p:nvGrpSpPr>
        <p:grpSpPr>
          <a:xfrm>
            <a:off x="7994015" y="6117590"/>
            <a:ext cx="1619885" cy="200025"/>
            <a:chOff x="1203444" y="3550491"/>
            <a:chExt cx="1407470" cy="358734"/>
          </a:xfrm>
        </p:grpSpPr>
        <p:sp>
          <p:nvSpPr>
            <p:cNvPr id="231" name="圆角矩形 69">
              <a:extLst>
                <a:ext uri="{FF2B5EF4-FFF2-40B4-BE49-F238E27FC236}">
                  <a16:creationId xmlns:a16="http://schemas.microsoft.com/office/drawing/2014/main" id="{16C411C8-2589-4FB0-4D4F-4916A3F75285}"/>
                </a:ext>
              </a:extLst>
            </p:cNvPr>
            <p:cNvSpPr/>
            <p:nvPr/>
          </p:nvSpPr>
          <p:spPr>
            <a:xfrm>
              <a:off x="1215156" y="3637507"/>
              <a:ext cx="1326505" cy="271718"/>
            </a:xfrm>
            <a:prstGeom prst="roundRect">
              <a:avLst>
                <a:gd name="adj" fmla="val 50000"/>
              </a:avLst>
            </a:prstGeom>
            <a:solidFill>
              <a:srgbClr val="70AD47"/>
            </a:solidFill>
            <a:ln w="9525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2" name="文本框 231">
              <a:extLst>
                <a:ext uri="{FF2B5EF4-FFF2-40B4-BE49-F238E27FC236}">
                  <a16:creationId xmlns:a16="http://schemas.microsoft.com/office/drawing/2014/main" id="{45C44A81-5387-EFCE-5B01-53A35CED7064}"/>
                </a:ext>
              </a:extLst>
            </p:cNvPr>
            <p:cNvSpPr txBox="1"/>
            <p:nvPr/>
          </p:nvSpPr>
          <p:spPr>
            <a:xfrm>
              <a:off x="1203444" y="3550491"/>
              <a:ext cx="1407470" cy="28863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algn="ctr">
                <a:defRPr kumimoji="0" sz="1000" b="0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Medium" panose="02020500000000000000" pitchFamily="18" charset="-122"/>
                  <a:ea typeface="思源宋体 CN Medium" panose="02020500000000000000" pitchFamily="18" charset="-122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超长续航完全没有里程焦虑</a:t>
              </a: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BA504479-E323-E5B3-D052-5BBABA4F29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6884" y="3838158"/>
            <a:ext cx="894080" cy="1239957"/>
          </a:xfrm>
          <a:prstGeom prst="roundRect">
            <a:avLst>
              <a:gd name="adj" fmla="val 10009"/>
            </a:avLst>
          </a:prstGeom>
          <a:ln w="22225">
            <a:solidFill>
              <a:schemeClr val="accent6"/>
            </a:solidFill>
          </a:ln>
          <a:effectLst>
            <a:reflection blurRad="6350" stA="28000" endPos="18000" dir="5400000" sy="-100000" algn="bl" rotWithShape="0"/>
          </a:effectLst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EE26AB0-01AE-8A4C-C6B3-4627D7B969D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7724" y="3826222"/>
            <a:ext cx="880464" cy="1280198"/>
          </a:xfrm>
          <a:prstGeom prst="roundRect">
            <a:avLst>
              <a:gd name="adj" fmla="val 10009"/>
            </a:avLst>
          </a:prstGeom>
          <a:ln w="22225">
            <a:solidFill>
              <a:schemeClr val="accent6"/>
            </a:solidFill>
          </a:ln>
          <a:effectLst>
            <a:reflection blurRad="6350" stA="28000" endPos="18000" dir="5400000" sy="-100000" algn="bl" rotWithShape="0"/>
          </a:effectLst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0B2E41F5-A709-7B92-3EB3-5ECCC56B7D8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5063" y="3795997"/>
            <a:ext cx="912958" cy="1374190"/>
          </a:xfrm>
          <a:prstGeom prst="roundRect">
            <a:avLst>
              <a:gd name="adj" fmla="val 10009"/>
            </a:avLst>
          </a:prstGeom>
          <a:ln w="22225">
            <a:solidFill>
              <a:schemeClr val="accent6"/>
            </a:solidFill>
          </a:ln>
          <a:effectLst>
            <a:reflection blurRad="6350" stA="28000" endPos="18000" dir="5400000" sy="-100000" algn="bl" rotWithShape="0"/>
          </a:effectLst>
        </p:spPr>
      </p:pic>
      <p:pic>
        <p:nvPicPr>
          <p:cNvPr id="215" name="图片 214">
            <a:extLst>
              <a:ext uri="{FF2B5EF4-FFF2-40B4-BE49-F238E27FC236}">
                <a16:creationId xmlns:a16="http://schemas.microsoft.com/office/drawing/2014/main" id="{059F238A-124C-035F-D38D-759BBE10F82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72343" y="4424071"/>
            <a:ext cx="867607" cy="1440000"/>
          </a:xfrm>
          <a:prstGeom prst="roundRect">
            <a:avLst>
              <a:gd name="adj" fmla="val 10009"/>
            </a:avLst>
          </a:prstGeom>
          <a:ln w="22225">
            <a:solidFill>
              <a:schemeClr val="accent6"/>
            </a:solidFill>
          </a:ln>
          <a:effectLst>
            <a:reflection blurRad="6350" stA="28000" endPos="18000" dir="5400000" sy="-100000" algn="bl" rotWithShape="0"/>
          </a:effec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3447D158-A143-1FFB-3082-4F5CB9BA4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652667" y="1566425"/>
            <a:ext cx="8034832" cy="4519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DA2E570-7977-10A9-F0AD-94A2D7AABB2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45" y="2480178"/>
            <a:ext cx="1509235" cy="601784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9B52EB3E-DA29-8916-BC58-BCBFAA47700A}"/>
              </a:ext>
            </a:extLst>
          </p:cNvPr>
          <p:cNvGrpSpPr/>
          <p:nvPr/>
        </p:nvGrpSpPr>
        <p:grpSpPr>
          <a:xfrm>
            <a:off x="-459117" y="4176638"/>
            <a:ext cx="5201920" cy="4502150"/>
            <a:chOff x="-295" y="6336"/>
            <a:chExt cx="6904" cy="6446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E750790D-F2CC-A9A1-1FEE-B543D04E4B7C}"/>
                </a:ext>
              </a:extLst>
            </p:cNvPr>
            <p:cNvGrpSpPr/>
            <p:nvPr/>
          </p:nvGrpSpPr>
          <p:grpSpPr>
            <a:xfrm>
              <a:off x="-295" y="6336"/>
              <a:ext cx="6904" cy="6446"/>
              <a:chOff x="6272" y="3726"/>
              <a:chExt cx="6904" cy="6446"/>
            </a:xfrm>
          </p:grpSpPr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908524A2-65E1-95D1-F3FC-B631B87982ED}"/>
                  </a:ext>
                </a:extLst>
              </p:cNvPr>
              <p:cNvSpPr txBox="1"/>
              <p:nvPr/>
            </p:nvSpPr>
            <p:spPr>
              <a:xfrm>
                <a:off x="8529" y="7124"/>
                <a:ext cx="1493" cy="4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400" b="1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质感生活</a:t>
                </a:r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C9E1D1C4-BFD1-614A-2E32-E3AA7286E6DF}"/>
                  </a:ext>
                </a:extLst>
              </p:cNvPr>
              <p:cNvSpPr txBox="1"/>
              <p:nvPr/>
            </p:nvSpPr>
            <p:spPr>
              <a:xfrm>
                <a:off x="10084" y="7124"/>
                <a:ext cx="1493" cy="4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400" b="1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城市出逃</a:t>
                </a:r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3B5A3935-5052-A45E-3B1F-6A0AB5D5FC8B}"/>
                  </a:ext>
                </a:extLst>
              </p:cNvPr>
              <p:cNvSpPr txBox="1"/>
              <p:nvPr/>
            </p:nvSpPr>
            <p:spPr>
              <a:xfrm>
                <a:off x="11683" y="7124"/>
                <a:ext cx="1493" cy="4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400" b="1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户外沉浸</a:t>
                </a:r>
              </a:p>
            </p:txBody>
          </p:sp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1B2AAC38-9DB0-1857-02B7-84B8519E2246}"/>
                  </a:ext>
                </a:extLst>
              </p:cNvPr>
              <p:cNvGrpSpPr/>
              <p:nvPr/>
            </p:nvGrpSpPr>
            <p:grpSpPr>
              <a:xfrm>
                <a:off x="6272" y="3831"/>
                <a:ext cx="6347" cy="6341"/>
                <a:chOff x="6272" y="3831"/>
                <a:chExt cx="6347" cy="6341"/>
              </a:xfrm>
            </p:grpSpPr>
            <p:cxnSp>
              <p:nvCxnSpPr>
                <p:cNvPr id="55" name="直接连接符 46">
                  <a:extLst>
                    <a:ext uri="{FF2B5EF4-FFF2-40B4-BE49-F238E27FC236}">
                      <a16:creationId xmlns:a16="http://schemas.microsoft.com/office/drawing/2014/main" id="{015663F0-58D5-2A6D-F54B-D12E1C5FD425}"/>
                    </a:ext>
                  </a:extLst>
                </p:cNvPr>
                <p:cNvCxnSpPr/>
                <p:nvPr/>
              </p:nvCxnSpPr>
              <p:spPr>
                <a:xfrm flipV="1">
                  <a:off x="8503" y="7035"/>
                  <a:ext cx="4116" cy="1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19000">
                        <a:schemeClr val="accent6">
                          <a:lumMod val="40000"/>
                          <a:lumOff val="60000"/>
                        </a:schemeClr>
                      </a:gs>
                      <a:gs pos="60000">
                        <a:schemeClr val="accent6">
                          <a:lumMod val="60000"/>
                          <a:lumOff val="40000"/>
                          <a:alpha val="76000"/>
                        </a:schemeClr>
                      </a:gs>
                      <a:gs pos="100000">
                        <a:schemeClr val="accent6">
                          <a:lumMod val="60000"/>
                          <a:lumOff val="40000"/>
                        </a:schemeClr>
                      </a:gs>
                    </a:gsLst>
                    <a:lin ang="5340000" scaled="1"/>
                  </a:gra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 47">
                  <a:extLst>
                    <a:ext uri="{FF2B5EF4-FFF2-40B4-BE49-F238E27FC236}">
                      <a16:creationId xmlns:a16="http://schemas.microsoft.com/office/drawing/2014/main" id="{2B043086-EB60-26FF-525D-6027B3C95643}"/>
                    </a:ext>
                  </a:extLst>
                </p:cNvPr>
                <p:cNvCxnSpPr/>
                <p:nvPr/>
              </p:nvCxnSpPr>
              <p:spPr>
                <a:xfrm flipH="1" flipV="1">
                  <a:off x="8497" y="3831"/>
                  <a:ext cx="24" cy="3215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19000">
                        <a:schemeClr val="accent6">
                          <a:lumMod val="40000"/>
                          <a:lumOff val="60000"/>
                        </a:schemeClr>
                      </a:gs>
                      <a:gs pos="60000">
                        <a:schemeClr val="accent6">
                          <a:lumMod val="60000"/>
                          <a:lumOff val="40000"/>
                          <a:alpha val="76000"/>
                        </a:schemeClr>
                      </a:gs>
                      <a:gs pos="100000">
                        <a:schemeClr val="accent6">
                          <a:lumMod val="60000"/>
                          <a:lumOff val="40000"/>
                        </a:schemeClr>
                      </a:gs>
                    </a:gsLst>
                    <a:lin ang="5340000" scaled="1"/>
                  </a:gra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63" name="弧形 51">
                  <a:extLst>
                    <a:ext uri="{FF2B5EF4-FFF2-40B4-BE49-F238E27FC236}">
                      <a16:creationId xmlns:a16="http://schemas.microsoft.com/office/drawing/2014/main" id="{37FA52BE-0607-87FB-8503-9A1A7E3EFD2A}"/>
                    </a:ext>
                  </a:extLst>
                </p:cNvPr>
                <p:cNvSpPr/>
                <p:nvPr/>
              </p:nvSpPr>
              <p:spPr>
                <a:xfrm>
                  <a:off x="6990" y="5555"/>
                  <a:ext cx="3118" cy="3118"/>
                </a:xfrm>
                <a:prstGeom prst="arc">
                  <a:avLst>
                    <a:gd name="adj1" fmla="val 16200000"/>
                    <a:gd name="adj2" fmla="val 21426135"/>
                  </a:avLst>
                </a:prstGeom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19000">
                        <a:schemeClr val="accent6">
                          <a:lumMod val="40000"/>
                          <a:lumOff val="60000"/>
                        </a:schemeClr>
                      </a:gs>
                      <a:gs pos="60000">
                        <a:schemeClr val="accent6">
                          <a:lumMod val="60000"/>
                          <a:lumOff val="40000"/>
                          <a:alpha val="76000"/>
                        </a:schemeClr>
                      </a:gs>
                      <a:gs pos="100000">
                        <a:schemeClr val="accent6">
                          <a:lumMod val="60000"/>
                          <a:lumOff val="40000"/>
                        </a:schemeClr>
                      </a:gs>
                    </a:gsLst>
                    <a:lin ang="5340000" scaled="1"/>
                  </a:gra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65" name="弧形 56">
                  <a:extLst>
                    <a:ext uri="{FF2B5EF4-FFF2-40B4-BE49-F238E27FC236}">
                      <a16:creationId xmlns:a16="http://schemas.microsoft.com/office/drawing/2014/main" id="{4A3F7681-F70F-9CA4-D6FE-02699E846B3D}"/>
                    </a:ext>
                  </a:extLst>
                </p:cNvPr>
                <p:cNvSpPr/>
                <p:nvPr/>
              </p:nvSpPr>
              <p:spPr>
                <a:xfrm>
                  <a:off x="6435" y="4736"/>
                  <a:ext cx="4687" cy="4687"/>
                </a:xfrm>
                <a:prstGeom prst="arc">
                  <a:avLst>
                    <a:gd name="adj1" fmla="val 16200000"/>
                    <a:gd name="adj2" fmla="val 21426135"/>
                  </a:avLst>
                </a:prstGeom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19000">
                        <a:schemeClr val="accent6">
                          <a:lumMod val="40000"/>
                          <a:lumOff val="60000"/>
                        </a:schemeClr>
                      </a:gs>
                      <a:gs pos="60000">
                        <a:schemeClr val="accent6">
                          <a:lumMod val="60000"/>
                          <a:lumOff val="40000"/>
                          <a:alpha val="76000"/>
                        </a:schemeClr>
                      </a:gs>
                      <a:gs pos="100000">
                        <a:schemeClr val="accent6">
                          <a:lumMod val="60000"/>
                          <a:lumOff val="40000"/>
                        </a:schemeClr>
                      </a:gs>
                    </a:gsLst>
                    <a:lin ang="5340000" scaled="1"/>
                  </a:gra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66" name="弧形 57">
                  <a:extLst>
                    <a:ext uri="{FF2B5EF4-FFF2-40B4-BE49-F238E27FC236}">
                      <a16:creationId xmlns:a16="http://schemas.microsoft.com/office/drawing/2014/main" id="{6DA5FC67-05E2-CAF5-94BF-F48C8D7607E4}"/>
                    </a:ext>
                  </a:extLst>
                </p:cNvPr>
                <p:cNvSpPr/>
                <p:nvPr/>
              </p:nvSpPr>
              <p:spPr>
                <a:xfrm>
                  <a:off x="6272" y="4051"/>
                  <a:ext cx="5798" cy="6121"/>
                </a:xfrm>
                <a:prstGeom prst="arc">
                  <a:avLst>
                    <a:gd name="adj1" fmla="val 16200000"/>
                    <a:gd name="adj2" fmla="val 21426135"/>
                  </a:avLst>
                </a:prstGeom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19000">
                        <a:schemeClr val="accent6">
                          <a:lumMod val="40000"/>
                          <a:lumOff val="60000"/>
                        </a:schemeClr>
                      </a:gs>
                      <a:gs pos="60000">
                        <a:schemeClr val="accent6">
                          <a:lumMod val="60000"/>
                          <a:lumOff val="40000"/>
                          <a:alpha val="76000"/>
                        </a:schemeClr>
                      </a:gs>
                      <a:gs pos="100000">
                        <a:schemeClr val="accent6">
                          <a:lumMod val="60000"/>
                          <a:lumOff val="40000"/>
                        </a:schemeClr>
                      </a:gs>
                    </a:gsLst>
                    <a:lin ang="5340000" scaled="1"/>
                  </a:gra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BC9A6A75-823A-92A3-6D5B-4116A7D5BCD7}"/>
                  </a:ext>
                </a:extLst>
              </p:cNvPr>
              <p:cNvSpPr/>
              <p:nvPr/>
            </p:nvSpPr>
            <p:spPr>
              <a:xfrm>
                <a:off x="10039" y="6971"/>
                <a:ext cx="153" cy="15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57A00C91-838D-C40E-9E6C-AAA54DFB5EB6}"/>
                  </a:ext>
                </a:extLst>
              </p:cNvPr>
              <p:cNvSpPr/>
              <p:nvPr/>
            </p:nvSpPr>
            <p:spPr>
              <a:xfrm>
                <a:off x="11054" y="6971"/>
                <a:ext cx="153" cy="15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27AA471E-1171-AF4B-E384-1AFA270E543C}"/>
                  </a:ext>
                </a:extLst>
              </p:cNvPr>
              <p:cNvSpPr/>
              <p:nvPr/>
            </p:nvSpPr>
            <p:spPr>
              <a:xfrm>
                <a:off x="11990" y="6971"/>
                <a:ext cx="153" cy="15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DC44C605-2DC7-BB47-97A7-D5FF7797C24D}"/>
                  </a:ext>
                </a:extLst>
              </p:cNvPr>
              <p:cNvSpPr/>
              <p:nvPr/>
            </p:nvSpPr>
            <p:spPr>
              <a:xfrm>
                <a:off x="8465" y="3833"/>
                <a:ext cx="153" cy="15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AB24AB20-31AE-F7B4-50DD-7D046323635D}"/>
                  </a:ext>
                </a:extLst>
              </p:cNvPr>
              <p:cNvSpPr/>
              <p:nvPr/>
            </p:nvSpPr>
            <p:spPr>
              <a:xfrm>
                <a:off x="8465" y="4687"/>
                <a:ext cx="153" cy="15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id="{739D46BF-5C17-C4AE-161C-DD9C4233470B}"/>
                  </a:ext>
                </a:extLst>
              </p:cNvPr>
              <p:cNvSpPr/>
              <p:nvPr/>
            </p:nvSpPr>
            <p:spPr>
              <a:xfrm>
                <a:off x="8465" y="5555"/>
                <a:ext cx="153" cy="15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CDF35E5E-C427-14DC-BD8F-F3A22CC02401}"/>
                  </a:ext>
                </a:extLst>
              </p:cNvPr>
              <p:cNvSpPr txBox="1"/>
              <p:nvPr/>
            </p:nvSpPr>
            <p:spPr>
              <a:xfrm>
                <a:off x="7795" y="5498"/>
                <a:ext cx="778" cy="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20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夏</a:t>
                </a: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68B0F56B-056C-8C8A-D1D8-1906A3431629}"/>
                  </a:ext>
                </a:extLst>
              </p:cNvPr>
              <p:cNvSpPr txBox="1"/>
              <p:nvPr/>
            </p:nvSpPr>
            <p:spPr>
              <a:xfrm>
                <a:off x="7794" y="4612"/>
                <a:ext cx="778" cy="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20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秋</a:t>
                </a:r>
              </a:p>
            </p:txBody>
          </p:sp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954BFEE8-4A92-15F4-67A3-5CBB032E4BC1}"/>
                  </a:ext>
                </a:extLst>
              </p:cNvPr>
              <p:cNvSpPr txBox="1"/>
              <p:nvPr/>
            </p:nvSpPr>
            <p:spPr>
              <a:xfrm>
                <a:off x="7796" y="6384"/>
                <a:ext cx="778" cy="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20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春</a:t>
                </a:r>
              </a:p>
            </p:txBody>
          </p:sp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F11A4AD3-28FA-3A29-49E4-88EE50A9FC03}"/>
                  </a:ext>
                </a:extLst>
              </p:cNvPr>
              <p:cNvSpPr txBox="1"/>
              <p:nvPr/>
            </p:nvSpPr>
            <p:spPr>
              <a:xfrm>
                <a:off x="7793" y="3726"/>
                <a:ext cx="778" cy="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20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冬</a:t>
                </a:r>
              </a:p>
            </p:txBody>
          </p:sp>
        </p:grp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5144B80C-58C6-8CF1-A23E-6952FE1C0B4C}"/>
                </a:ext>
              </a:extLst>
            </p:cNvPr>
            <p:cNvSpPr/>
            <p:nvPr/>
          </p:nvSpPr>
          <p:spPr>
            <a:xfrm>
              <a:off x="2792" y="8470"/>
              <a:ext cx="244" cy="24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28C6DC76-2C99-B492-367A-21FB9948C287}"/>
                </a:ext>
              </a:extLst>
            </p:cNvPr>
            <p:cNvSpPr/>
            <p:nvPr/>
          </p:nvSpPr>
          <p:spPr>
            <a:xfrm>
              <a:off x="3987" y="8257"/>
              <a:ext cx="244" cy="24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7EBB5EC6-26C1-81B6-D518-ACB2380C2304}"/>
                </a:ext>
              </a:extLst>
            </p:cNvPr>
            <p:cNvSpPr txBox="1"/>
            <p:nvPr/>
          </p:nvSpPr>
          <p:spPr>
            <a:xfrm>
              <a:off x="2249" y="8752"/>
              <a:ext cx="1738" cy="3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F1115"/>
                  </a:solidFill>
                  <a:effectLst/>
                  <a:highlight>
                    <a:srgbClr val="C4E59F"/>
                  </a:highligh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郊野花茶会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77D0CEC7-FC22-4451-D87B-1C03AC95E53B}"/>
                </a:ext>
              </a:extLst>
            </p:cNvPr>
            <p:cNvSpPr txBox="1"/>
            <p:nvPr/>
          </p:nvSpPr>
          <p:spPr>
            <a:xfrm>
              <a:off x="2749" y="7754"/>
              <a:ext cx="1893" cy="3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F1115"/>
                  </a:solidFill>
                  <a:effectLst/>
                  <a:highlight>
                    <a:srgbClr val="C4E59F"/>
                  </a:highligh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古镇寻幽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4BCA3706-885B-2AAD-A11F-6E5A2B83A07E}"/>
                </a:ext>
              </a:extLst>
            </p:cNvPr>
            <p:cNvSpPr txBox="1"/>
            <p:nvPr/>
          </p:nvSpPr>
          <p:spPr>
            <a:xfrm>
              <a:off x="4640" y="8752"/>
              <a:ext cx="1738" cy="3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F1115"/>
                  </a:solidFill>
                  <a:effectLst/>
                  <a:highlight>
                    <a:srgbClr val="C4E59F"/>
                  </a:highligh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草原牧歌</a:t>
              </a: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BC18D539-FDDC-3A07-FBF9-DF04DBCC1615}"/>
                </a:ext>
              </a:extLst>
            </p:cNvPr>
            <p:cNvSpPr/>
            <p:nvPr/>
          </p:nvSpPr>
          <p:spPr>
            <a:xfrm>
              <a:off x="3743" y="6905"/>
              <a:ext cx="244" cy="24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86C47A59-5363-6873-F4C3-435DCF235AFF}"/>
                </a:ext>
              </a:extLst>
            </p:cNvPr>
            <p:cNvSpPr/>
            <p:nvPr/>
          </p:nvSpPr>
          <p:spPr>
            <a:xfrm>
              <a:off x="5179" y="8470"/>
              <a:ext cx="244" cy="24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6CF9EE72-0A8B-6CAA-A575-9539CEC6E268}"/>
                </a:ext>
              </a:extLst>
            </p:cNvPr>
            <p:cNvSpPr txBox="1"/>
            <p:nvPr/>
          </p:nvSpPr>
          <p:spPr>
            <a:xfrm>
              <a:off x="2249" y="6661"/>
              <a:ext cx="1893" cy="3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F1115"/>
                  </a:solidFill>
                  <a:effectLst/>
                  <a:highlight>
                    <a:srgbClr val="C4E59F"/>
                  </a:highligh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雪林围炉煮茶</a:t>
              </a:r>
            </a:p>
          </p:txBody>
        </p:sp>
      </p:grpSp>
      <p:sp>
        <p:nvSpPr>
          <p:cNvPr id="67" name="文本框 66">
            <a:extLst>
              <a:ext uri="{FF2B5EF4-FFF2-40B4-BE49-F238E27FC236}">
                <a16:creationId xmlns:a16="http://schemas.microsoft.com/office/drawing/2014/main" id="{4631F5E9-C203-1AB0-0247-8BD0BAE1116A}"/>
              </a:ext>
            </a:extLst>
          </p:cNvPr>
          <p:cNvSpPr txBox="1"/>
          <p:nvPr/>
        </p:nvSpPr>
        <p:spPr>
          <a:xfrm>
            <a:off x="6628847" y="2485351"/>
            <a:ext cx="11550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0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</a:t>
            </a:r>
            <a:r>
              <a:rPr lang="zh-CN" altLang="en-US" sz="10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江南古巷秋日慢逛指南</a:t>
            </a:r>
          </a:p>
        </p:txBody>
      </p:sp>
      <p:pic>
        <p:nvPicPr>
          <p:cNvPr id="217" name="图片 216">
            <a:extLst>
              <a:ext uri="{FF2B5EF4-FFF2-40B4-BE49-F238E27FC236}">
                <a16:creationId xmlns:a16="http://schemas.microsoft.com/office/drawing/2014/main" id="{82CCEC29-3AB3-C25A-D7C2-C3FB80F6D74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76696" y="4424071"/>
            <a:ext cx="880464" cy="1440000"/>
          </a:xfrm>
          <a:prstGeom prst="roundRect">
            <a:avLst>
              <a:gd name="adj" fmla="val 10009"/>
            </a:avLst>
          </a:prstGeom>
          <a:ln w="22225">
            <a:solidFill>
              <a:schemeClr val="accent6"/>
            </a:solidFill>
          </a:ln>
          <a:effectLst>
            <a:reflection blurRad="6350" stA="28000" endPos="18000" dir="5400000" sy="-100000" algn="bl" rotWithShape="0"/>
          </a:effectLst>
        </p:spPr>
      </p:pic>
      <p:pic>
        <p:nvPicPr>
          <p:cNvPr id="216" name="图片 215">
            <a:extLst>
              <a:ext uri="{FF2B5EF4-FFF2-40B4-BE49-F238E27FC236}">
                <a16:creationId xmlns:a16="http://schemas.microsoft.com/office/drawing/2014/main" id="{B61F6D52-07AD-8456-E120-CC421A0DC09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56717" y="4436193"/>
            <a:ext cx="869949" cy="1440000"/>
          </a:xfrm>
          <a:prstGeom prst="roundRect">
            <a:avLst>
              <a:gd name="adj" fmla="val 10009"/>
            </a:avLst>
          </a:prstGeom>
          <a:ln w="22225">
            <a:solidFill>
              <a:schemeClr val="accent6"/>
            </a:solidFill>
          </a:ln>
          <a:effectLst>
            <a:reflection blurRad="6350" stA="28000" endPos="18000" dir="5400000" sy="-100000" algn="bl" rotWithShape="0"/>
          </a:effectLst>
        </p:spPr>
      </p:pic>
      <p:sp>
        <p:nvSpPr>
          <p:cNvPr id="68" name="文本框 67">
            <a:extLst>
              <a:ext uri="{FF2B5EF4-FFF2-40B4-BE49-F238E27FC236}">
                <a16:creationId xmlns:a16="http://schemas.microsoft.com/office/drawing/2014/main" id="{0DF76B85-5CE5-6F33-F480-E224BFAAA4C5}"/>
              </a:ext>
            </a:extLst>
          </p:cNvPr>
          <p:cNvSpPr txBox="1"/>
          <p:nvPr/>
        </p:nvSpPr>
        <p:spPr>
          <a:xfrm>
            <a:off x="6636119" y="2834375"/>
            <a:ext cx="11550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0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</a:t>
            </a:r>
            <a:r>
              <a:rPr lang="zh-CN" altLang="en-US" sz="10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秋日山林轻徒步企划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51169A68-B81A-3123-BD54-8BC42C2835AF}"/>
              </a:ext>
            </a:extLst>
          </p:cNvPr>
          <p:cNvSpPr txBox="1"/>
          <p:nvPr/>
        </p:nvSpPr>
        <p:spPr>
          <a:xfrm>
            <a:off x="5395087" y="2485170"/>
            <a:ext cx="11550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0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</a:t>
            </a:r>
            <a:r>
              <a:rPr lang="zh-CN" altLang="en-US" sz="10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海边落日公路穿搭大片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2F1EB4E3-50CF-ED17-03BB-6599B76BE985}"/>
              </a:ext>
            </a:extLst>
          </p:cNvPr>
          <p:cNvSpPr txBox="1"/>
          <p:nvPr/>
        </p:nvSpPr>
        <p:spPr>
          <a:xfrm>
            <a:off x="5395087" y="2807484"/>
            <a:ext cx="11550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0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</a:t>
            </a:r>
            <a:r>
              <a:rPr lang="zh-CN" altLang="en-US" sz="10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溪水森林露营纳凉日记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9A1FB9E6-D8C8-EC74-A364-F612A4FABBB9}"/>
              </a:ext>
            </a:extLst>
          </p:cNvPr>
          <p:cNvSpPr txBox="1"/>
          <p:nvPr/>
        </p:nvSpPr>
        <p:spPr>
          <a:xfrm>
            <a:off x="7910830" y="2494147"/>
            <a:ext cx="11550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0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</a:t>
            </a:r>
            <a:r>
              <a:rPr lang="zh-CN" altLang="en-US" sz="10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川西日照金山追光全记录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91F568BD-A35F-E6D0-1CBA-B2E6B582CC85}"/>
              </a:ext>
            </a:extLst>
          </p:cNvPr>
          <p:cNvSpPr txBox="1"/>
          <p:nvPr/>
        </p:nvSpPr>
        <p:spPr>
          <a:xfrm>
            <a:off x="7930956" y="2834375"/>
            <a:ext cx="11550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0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</a:t>
            </a:r>
            <a:r>
              <a:rPr lang="zh-CN" altLang="en-US" sz="10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冬日山林围炉露营记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8C67CA65-CA7B-4D0C-28DD-9D4C7D30341F}"/>
              </a:ext>
            </a:extLst>
          </p:cNvPr>
          <p:cNvSpPr txBox="1"/>
          <p:nvPr/>
        </p:nvSpPr>
        <p:spPr>
          <a:xfrm>
            <a:off x="4754856" y="6327049"/>
            <a:ext cx="19715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CTR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solidFill>
                  <a:srgbClr val="71AD47"/>
                </a:solidFill>
                <a:latin typeface="微软雅黑" panose="020B0503020204020204" charset="-122"/>
                <a:ea typeface="微软雅黑" panose="020B0503020204020204" charset="-122"/>
              </a:rPr>
              <a:t>12%+</a:t>
            </a:r>
            <a:endParaRPr lang="en-US" altLang="zh-CN" sz="1200" b="1" dirty="0">
              <a:solidFill>
                <a:srgbClr val="71AD4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种草人群转化率 </a:t>
            </a:r>
            <a:r>
              <a:rPr lang="en-US" altLang="zh-CN" sz="1400" b="1" dirty="0">
                <a:solidFill>
                  <a:srgbClr val="71AD47"/>
                </a:solidFill>
                <a:latin typeface="微软雅黑" panose="020B0503020204020204" charset="-122"/>
                <a:ea typeface="微软雅黑" panose="020B0503020204020204" charset="-122"/>
              </a:rPr>
              <a:t>4%+</a:t>
            </a:r>
            <a:endParaRPr lang="zh-CN" altLang="en-US" sz="1400" b="1" dirty="0">
              <a:solidFill>
                <a:srgbClr val="71AD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3BEC62AA-5B14-D602-0F57-7E227DF1B3C2}"/>
              </a:ext>
            </a:extLst>
          </p:cNvPr>
          <p:cNvSpPr txBox="1"/>
          <p:nvPr/>
        </p:nvSpPr>
        <p:spPr>
          <a:xfrm>
            <a:off x="6355756" y="6327049"/>
            <a:ext cx="19715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CTR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solidFill>
                  <a:srgbClr val="71AD47"/>
                </a:solidFill>
                <a:latin typeface="微软雅黑" panose="020B0503020204020204" charset="-122"/>
                <a:ea typeface="微软雅黑" panose="020B0503020204020204" charset="-122"/>
              </a:rPr>
              <a:t>11%+</a:t>
            </a:r>
            <a:endParaRPr lang="en-US" altLang="zh-CN" sz="1200" b="1" dirty="0">
              <a:solidFill>
                <a:srgbClr val="71AD4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种草人群转化率 </a:t>
            </a:r>
            <a:r>
              <a:rPr lang="en-US" altLang="zh-CN" sz="1400" b="1" dirty="0">
                <a:solidFill>
                  <a:srgbClr val="71AD47"/>
                </a:solidFill>
                <a:latin typeface="微软雅黑" panose="020B0503020204020204" charset="-122"/>
                <a:ea typeface="微软雅黑" panose="020B0503020204020204" charset="-122"/>
              </a:rPr>
              <a:t>3%+</a:t>
            </a:r>
            <a:endParaRPr lang="zh-CN" altLang="en-US" sz="1400" b="1" dirty="0">
              <a:solidFill>
                <a:srgbClr val="71AD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D829D8FC-266F-1397-5AEC-9F12BFF9D25D}"/>
              </a:ext>
            </a:extLst>
          </p:cNvPr>
          <p:cNvSpPr txBox="1"/>
          <p:nvPr/>
        </p:nvSpPr>
        <p:spPr>
          <a:xfrm>
            <a:off x="7918576" y="6317615"/>
            <a:ext cx="19715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CTR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solidFill>
                  <a:srgbClr val="71AD47"/>
                </a:solidFill>
                <a:latin typeface="微软雅黑" panose="020B0503020204020204" charset="-122"/>
                <a:ea typeface="微软雅黑" panose="020B0503020204020204" charset="-122"/>
              </a:rPr>
              <a:t>10%+</a:t>
            </a:r>
            <a:endParaRPr lang="en-US" altLang="zh-CN" sz="1200" b="1" dirty="0">
              <a:solidFill>
                <a:srgbClr val="71AD4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种草人群转化率 </a:t>
            </a:r>
            <a:r>
              <a:rPr lang="en-US" altLang="zh-CN" sz="1400" b="1" dirty="0">
                <a:solidFill>
                  <a:srgbClr val="71AD47"/>
                </a:solidFill>
                <a:latin typeface="微软雅黑" panose="020B0503020204020204" charset="-122"/>
                <a:ea typeface="微软雅黑" panose="020B0503020204020204" charset="-122"/>
              </a:rPr>
              <a:t>5%+</a:t>
            </a:r>
            <a:endParaRPr lang="zh-CN" altLang="en-US" sz="1400" b="1" dirty="0">
              <a:solidFill>
                <a:srgbClr val="71AD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809352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hink-cell data - do not delete" hidden="1">
            <a:extLst>
              <a:ext uri="{FF2B5EF4-FFF2-40B4-BE49-F238E27FC236}">
                <a16:creationId xmlns:a16="http://schemas.microsoft.com/office/drawing/2014/main" id="{D0C1AEBA-6131-8847-7434-D83556CBD3E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75560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6" imgW="426" imgH="426" progId="TCLayout.ActiveDocument.1">
                  <p:embed/>
                </p:oleObj>
              </mc:Choice>
              <mc:Fallback>
                <p:oleObj name="think-cell 幻灯片" r:id="rId6" imgW="426" imgH="42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986790" y="351155"/>
            <a:ext cx="10822940" cy="107632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lvl="0"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2800" b="1" dirty="0">
                <a:solidFill>
                  <a:srgbClr val="0599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极氪001/007GT系列</a:t>
            </a:r>
            <a:r>
              <a:rPr lang="zh-CN" altLang="en-US" sz="2800" b="1" dirty="0">
                <a:solidFill>
                  <a:srgbClr val="0599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——</a:t>
            </a:r>
          </a:p>
          <a:p>
            <a:pPr lvl="0"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24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节气为轴结合猎装户外核心场景，打造质感种草内容，唤醒用户情绪共鸣</a:t>
            </a:r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</a:p>
        </p:txBody>
      </p:sp>
      <p:sp>
        <p:nvSpPr>
          <p:cNvPr id="104" name="矩形: 圆角 190"/>
          <p:cNvSpPr/>
          <p:nvPr/>
        </p:nvSpPr>
        <p:spPr>
          <a:xfrm>
            <a:off x="9594850" y="1913890"/>
            <a:ext cx="2205355" cy="4385310"/>
          </a:xfrm>
          <a:prstGeom prst="roundRect">
            <a:avLst>
              <a:gd name="adj" fmla="val 0"/>
            </a:avLst>
          </a:prstGeom>
          <a:gradFill>
            <a:gsLst>
              <a:gs pos="0">
                <a:sysClr val="window" lastClr="FFFFFF"/>
              </a:gs>
              <a:gs pos="100000">
                <a:sysClr val="window" lastClr="FFFFFF"/>
              </a:gs>
              <a:gs pos="46000">
                <a:srgbClr val="549E39">
                  <a:lumMod val="5000"/>
                  <a:lumOff val="95000"/>
                </a:srgbClr>
              </a:gs>
            </a:gsLst>
            <a:path path="circle">
              <a:fillToRect r="100000" b="100000"/>
            </a:path>
          </a:gradFill>
          <a:ln w="6350" cap="flat" cmpd="sng" algn="ctr">
            <a:solidFill>
              <a:sysClr val="window" lastClr="FFFFFF">
                <a:lumMod val="75000"/>
              </a:sys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8" name="同侧圆角矩形 14"/>
          <p:cNvSpPr/>
          <p:nvPr/>
        </p:nvSpPr>
        <p:spPr>
          <a:xfrm>
            <a:off x="4874895" y="1661795"/>
            <a:ext cx="4364355" cy="295275"/>
          </a:xfrm>
          <a:prstGeom prst="round2SameRect">
            <a:avLst>
              <a:gd name="adj1" fmla="val 32633"/>
              <a:gd name="adj2" fmla="val 0"/>
            </a:avLst>
          </a:prstGeom>
          <a:solidFill>
            <a:srgbClr val="06B85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2251" tIns="2251" rIns="2251" bIns="2251" rtlCol="0" anchor="ctr"/>
          <a:lstStyle/>
          <a:p>
            <a:pPr marL="0" marR="0" lvl="0" indent="0" algn="ctr" defTabSz="60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季节仪式感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+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产品功能场景化，打造质感种草内容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542463" y="2150745"/>
            <a:ext cx="24650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060575" algn="l"/>
                <a:tab pos="2600325" algn="l"/>
              </a:tabLst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好内容占比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060575" algn="l"/>
                <a:tab pos="2600325" algn="l"/>
              </a:tabLst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6B8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80%+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510713" y="5378450"/>
            <a:ext cx="25285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060575" algn="l"/>
                <a:tab pos="2600325" algn="l"/>
              </a:tabLst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周期内NPS口碑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060575" algn="l"/>
                <a:tab pos="2600325" algn="l"/>
              </a:tabLst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6B8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+16%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9740265" y="3213100"/>
            <a:ext cx="2069465" cy="716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>
                <a:tab pos="2060575" algn="l"/>
                <a:tab pos="2600325" algn="l"/>
              </a:tabLst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周期内人群资产提升</a:t>
            </a:r>
            <a:r>
              <a:rPr lang="en-US" altLang="zh-CN" sz="3200" b="1" noProof="0" dirty="0">
                <a:ln>
                  <a:noFill/>
                </a:ln>
                <a:solidFill>
                  <a:srgbClr val="06B8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1300</a:t>
            </a:r>
            <a:r>
              <a:rPr lang="zh-CN" altLang="en-US" sz="3200" b="1" noProof="0" dirty="0">
                <a:ln>
                  <a:noFill/>
                </a:ln>
                <a:solidFill>
                  <a:srgbClr val="06B8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</a:t>
            </a:r>
            <a:r>
              <a:rPr lang="en-US" altLang="zh-CN" sz="3200" b="1" noProof="0" dirty="0">
                <a:ln>
                  <a:noFill/>
                </a:ln>
                <a:solidFill>
                  <a:srgbClr val="06B8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9859963" y="4340225"/>
            <a:ext cx="1830070" cy="716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>
                <a:tab pos="2060575" algn="l"/>
                <a:tab pos="2600325" algn="l"/>
              </a:tabLst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目标人群渗透</a:t>
            </a:r>
            <a:endParaRPr lang="zh-CN" altLang="en-US" sz="32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>
                <a:tab pos="2060575" algn="l"/>
                <a:tab pos="2600325" algn="l"/>
              </a:tabLst>
              <a:defRPr/>
            </a:pPr>
            <a:r>
              <a:rPr lang="zh-CN" altLang="en-US" sz="3200" b="1" noProof="0" dirty="0">
                <a:ln>
                  <a:noFill/>
                </a:ln>
                <a:solidFill>
                  <a:srgbClr val="06B8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en-US" altLang="zh-CN" sz="3200" b="1" noProof="0" dirty="0">
                <a:ln>
                  <a:noFill/>
                </a:ln>
                <a:solidFill>
                  <a:srgbClr val="06B8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42</a:t>
            </a:r>
            <a:r>
              <a:rPr lang="zh-CN" altLang="en-US" sz="3200" b="1" noProof="0" dirty="0">
                <a:ln>
                  <a:noFill/>
                </a:ln>
                <a:solidFill>
                  <a:srgbClr val="06B8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%</a:t>
            </a:r>
          </a:p>
        </p:txBody>
      </p:sp>
      <p:sp>
        <p:nvSpPr>
          <p:cNvPr id="299" name="同侧圆角矩形 14"/>
          <p:cNvSpPr/>
          <p:nvPr/>
        </p:nvSpPr>
        <p:spPr>
          <a:xfrm>
            <a:off x="422910" y="1661795"/>
            <a:ext cx="3917315" cy="295275"/>
          </a:xfrm>
          <a:prstGeom prst="round2SameRect">
            <a:avLst>
              <a:gd name="adj1" fmla="val 32633"/>
              <a:gd name="adj2" fmla="val 0"/>
            </a:avLst>
          </a:prstGeom>
          <a:solidFill>
            <a:srgbClr val="06B85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2251" tIns="2251" rIns="2251" bIns="2251" rtlCol="0" anchor="ctr"/>
          <a:lstStyle/>
          <a:p>
            <a:pPr marL="0" marR="0" lvl="0" indent="0" algn="ctr" defTabSz="60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以目标人群洞察核心渗透人群</a:t>
            </a:r>
          </a:p>
        </p:txBody>
      </p:sp>
      <p:sp>
        <p:nvSpPr>
          <p:cNvPr id="105" name="同侧圆角矩形 14"/>
          <p:cNvSpPr/>
          <p:nvPr/>
        </p:nvSpPr>
        <p:spPr>
          <a:xfrm>
            <a:off x="9595485" y="1661795"/>
            <a:ext cx="2205355" cy="295275"/>
          </a:xfrm>
          <a:prstGeom prst="round2SameRect">
            <a:avLst>
              <a:gd name="adj1" fmla="val 32633"/>
              <a:gd name="adj2" fmla="val 0"/>
            </a:avLst>
          </a:prstGeom>
          <a:solidFill>
            <a:srgbClr val="06B85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2251" tIns="2251" rIns="2251" bIns="2251" rtlCol="0" anchor="ctr"/>
          <a:lstStyle/>
          <a:p>
            <a:pPr marL="0" marR="0" lvl="0" indent="0" algn="ctr" defTabSz="60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好内容带动高转化</a:t>
            </a:r>
          </a:p>
        </p:txBody>
      </p:sp>
      <p:sp>
        <p:nvSpPr>
          <p:cNvPr id="1223" name="文本框 1222"/>
          <p:cNvSpPr txBox="1"/>
          <p:nvPr/>
        </p:nvSpPr>
        <p:spPr>
          <a:xfrm>
            <a:off x="9615805" y="6548120"/>
            <a:ext cx="238569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</a:t>
            </a:r>
            <a:r>
              <a:rPr lang="zh-CN" altLang="en-US" sz="800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数据来源：小红书数据中台</a:t>
            </a:r>
            <a:r>
              <a:rPr lang="en-US" altLang="zh-CN" sz="800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r>
              <a:rPr lang="zh-CN" altLang="en-US" sz="800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800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r>
              <a:rPr lang="zh-CN" altLang="en-US" sz="800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月数据</a:t>
            </a:r>
          </a:p>
        </p:txBody>
      </p:sp>
      <p:sp>
        <p:nvSpPr>
          <p:cNvPr id="80" name="Freeform 29"/>
          <p:cNvSpPr/>
          <p:nvPr>
            <p:custDataLst>
              <p:tags r:id="rId2"/>
            </p:custDataLst>
          </p:nvPr>
        </p:nvSpPr>
        <p:spPr bwMode="auto">
          <a:xfrm>
            <a:off x="2546350" y="2995295"/>
            <a:ext cx="1669415" cy="492760"/>
          </a:xfrm>
          <a:custGeom>
            <a:avLst/>
            <a:gdLst>
              <a:gd name="T0" fmla="*/ 63852 w 3884"/>
              <a:gd name="T1" fmla="*/ 253742 h 1600"/>
              <a:gd name="T2" fmla="*/ 496629 w 3884"/>
              <a:gd name="T3" fmla="*/ 272971 h 1600"/>
              <a:gd name="T4" fmla="*/ 819116 w 3884"/>
              <a:gd name="T5" fmla="*/ 166648 h 1600"/>
              <a:gd name="T6" fmla="*/ 418157 w 3884"/>
              <a:gd name="T7" fmla="*/ 25827 h 1600"/>
              <a:gd name="T8" fmla="*/ 15909 w 3884"/>
              <a:gd name="T9" fmla="*/ 136485 h 1600"/>
              <a:gd name="T10" fmla="*/ 167908 w 3884"/>
              <a:gd name="T11" fmla="*/ 202089 h 1600"/>
              <a:gd name="T12" fmla="*/ 0 w 3884"/>
              <a:gd name="T13" fmla="*/ 136485 h 1600"/>
              <a:gd name="T14" fmla="*/ 419447 w 3884"/>
              <a:gd name="T15" fmla="*/ 12819 h 1600"/>
              <a:gd name="T16" fmla="*/ 833735 w 3884"/>
              <a:gd name="T17" fmla="*/ 166648 h 1600"/>
              <a:gd name="T18" fmla="*/ 489320 w 3884"/>
              <a:gd name="T19" fmla="*/ 287109 h 1600"/>
              <a:gd name="T20" fmla="*/ 63852 w 3884"/>
              <a:gd name="T21" fmla="*/ 253742 h 16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884"/>
              <a:gd name="T34" fmla="*/ 0 h 1600"/>
              <a:gd name="T35" fmla="*/ 3884 w 3884"/>
              <a:gd name="T36" fmla="*/ 1600 h 160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884" h="1600">
                <a:moveTo>
                  <a:pt x="297" y="1346"/>
                </a:moveTo>
                <a:cubicBezTo>
                  <a:pt x="918" y="1523"/>
                  <a:pt x="1726" y="1533"/>
                  <a:pt x="2310" y="1448"/>
                </a:cubicBezTo>
                <a:cubicBezTo>
                  <a:pt x="3125" y="1334"/>
                  <a:pt x="3798" y="1192"/>
                  <a:pt x="3810" y="884"/>
                </a:cubicBezTo>
                <a:cubicBezTo>
                  <a:pt x="3822" y="576"/>
                  <a:pt x="3114" y="204"/>
                  <a:pt x="1945" y="137"/>
                </a:cubicBezTo>
                <a:cubicBezTo>
                  <a:pt x="645" y="63"/>
                  <a:pt x="74" y="564"/>
                  <a:pt x="74" y="724"/>
                </a:cubicBezTo>
                <a:cubicBezTo>
                  <a:pt x="74" y="884"/>
                  <a:pt x="394" y="1032"/>
                  <a:pt x="781" y="1072"/>
                </a:cubicBezTo>
                <a:cubicBezTo>
                  <a:pt x="280" y="1135"/>
                  <a:pt x="0" y="912"/>
                  <a:pt x="0" y="724"/>
                </a:cubicBezTo>
                <a:cubicBezTo>
                  <a:pt x="0" y="536"/>
                  <a:pt x="473" y="0"/>
                  <a:pt x="1951" y="68"/>
                </a:cubicBezTo>
                <a:cubicBezTo>
                  <a:pt x="2863" y="110"/>
                  <a:pt x="3884" y="433"/>
                  <a:pt x="3878" y="884"/>
                </a:cubicBezTo>
                <a:cubicBezTo>
                  <a:pt x="3872" y="1335"/>
                  <a:pt x="2873" y="1446"/>
                  <a:pt x="2276" y="1523"/>
                </a:cubicBezTo>
                <a:cubicBezTo>
                  <a:pt x="1679" y="1600"/>
                  <a:pt x="553" y="1580"/>
                  <a:pt x="297" y="1346"/>
                </a:cubicBezTo>
                <a:close/>
              </a:path>
            </a:pathLst>
          </a:custGeom>
          <a:solidFill>
            <a:srgbClr val="009744"/>
          </a:solidFill>
          <a:ln w="12700">
            <a:noFill/>
            <a:round/>
          </a:ln>
        </p:spPr>
        <p:txBody>
          <a:bodyPr tIns="91440" bIns="9144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ko-KR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3" name="图片 2" descr="徽标&#10;&#10;描述已自动生成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907" y="181686"/>
            <a:ext cx="653607" cy="311082"/>
          </a:xfrm>
          <a:prstGeom prst="rect">
            <a:avLst/>
          </a:prstGeom>
        </p:spPr>
      </p:pic>
      <p:sp>
        <p:nvSpPr>
          <p:cNvPr id="2" name="同侧圆角矩形 14"/>
          <p:cNvSpPr/>
          <p:nvPr/>
        </p:nvSpPr>
        <p:spPr>
          <a:xfrm>
            <a:off x="5223510" y="-1270"/>
            <a:ext cx="1696085" cy="494030"/>
          </a:xfrm>
          <a:prstGeom prst="round2SameRect">
            <a:avLst>
              <a:gd name="adj1" fmla="val 32633"/>
              <a:gd name="adj2" fmla="val 0"/>
            </a:avLst>
          </a:prstGeom>
          <a:solidFill>
            <a:srgbClr val="06B85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2251" tIns="2251" rIns="2251" bIns="2251" rtlCol="0" anchor="ctr"/>
          <a:lstStyle/>
          <a:p>
            <a:pPr marL="0" marR="0" lvl="0" indent="0" algn="ctr" defTabSz="60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案例分享</a:t>
            </a:r>
            <a:endParaRPr kumimoji="0" lang="zh-CN" altLang="zh-CN" b="1" i="0" u="non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2" name="矩形 191"/>
          <p:cNvSpPr/>
          <p:nvPr>
            <p:custDataLst>
              <p:tags r:id="rId3"/>
            </p:custDataLst>
          </p:nvPr>
        </p:nvSpPr>
        <p:spPr>
          <a:xfrm rot="5400000">
            <a:off x="2061210" y="887730"/>
            <a:ext cx="982345" cy="3574415"/>
          </a:xfrm>
          <a:prstGeom prst="rect">
            <a:avLst/>
          </a:prstGeom>
          <a:noFill/>
          <a:ln w="12700" cap="flat" cmpd="sng" algn="ctr">
            <a:gradFill flip="none" rotWithShape="1">
              <a:gsLst>
                <a:gs pos="0">
                  <a:srgbClr val="4472C4">
                    <a:lumMod val="5000"/>
                    <a:lumOff val="95000"/>
                    <a:alpha val="0"/>
                  </a:srgbClr>
                </a:gs>
                <a:gs pos="44000">
                  <a:srgbClr val="70AD47">
                    <a:lumMod val="40000"/>
                    <a:lumOff val="60000"/>
                  </a:srgbClr>
                </a:gs>
                <a:gs pos="83000">
                  <a:srgbClr val="70AD47">
                    <a:lumMod val="60000"/>
                    <a:lumOff val="40000"/>
                  </a:srgbClr>
                </a:gs>
                <a:gs pos="100000">
                  <a:srgbClr val="17AE40"/>
                </a:gs>
              </a:gsLst>
              <a:lin ang="10800000" scaled="0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3" name="矩形: 圆角 143"/>
          <p:cNvSpPr/>
          <p:nvPr/>
        </p:nvSpPr>
        <p:spPr>
          <a:xfrm>
            <a:off x="1111250" y="2035810"/>
            <a:ext cx="2924175" cy="294640"/>
          </a:xfrm>
          <a:prstGeom prst="roundRect">
            <a:avLst>
              <a:gd name="adj" fmla="val 50000"/>
            </a:avLst>
          </a:prstGeom>
          <a:solidFill>
            <a:srgbClr val="17AE4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目标人群向量相似</a:t>
            </a:r>
          </a:p>
        </p:txBody>
      </p:sp>
      <p:sp>
        <p:nvSpPr>
          <p:cNvPr id="195" name="文本框 194"/>
          <p:cNvSpPr txBox="1"/>
          <p:nvPr/>
        </p:nvSpPr>
        <p:spPr>
          <a:xfrm>
            <a:off x="2163445" y="2432685"/>
            <a:ext cx="2298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猎装美学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超跑性能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+SUV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通过性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旅行车大空间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顶级安全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锁定高浓度人群定位</a:t>
            </a:r>
          </a:p>
        </p:txBody>
      </p:sp>
      <p:sp>
        <p:nvSpPr>
          <p:cNvPr id="196" name="矩形: 圆角 167"/>
          <p:cNvSpPr/>
          <p:nvPr/>
        </p:nvSpPr>
        <p:spPr>
          <a:xfrm>
            <a:off x="2546144" y="3101477"/>
            <a:ext cx="1679251" cy="324131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自在户外</a:t>
            </a:r>
          </a:p>
        </p:txBody>
      </p:sp>
      <p:pic>
        <p:nvPicPr>
          <p:cNvPr id="197" name="图片 19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3685" y="2432685"/>
            <a:ext cx="1998345" cy="786130"/>
          </a:xfrm>
          <a:prstGeom prst="rect">
            <a:avLst/>
          </a:prstGeom>
        </p:spPr>
      </p:pic>
      <p:sp>
        <p:nvSpPr>
          <p:cNvPr id="198" name="圆角矩形 197"/>
          <p:cNvSpPr/>
          <p:nvPr/>
        </p:nvSpPr>
        <p:spPr>
          <a:xfrm>
            <a:off x="764540" y="3828415"/>
            <a:ext cx="3617595" cy="521970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串联猎装户外核心场景</a:t>
            </a:r>
          </a:p>
        </p:txBody>
      </p:sp>
      <p:sp>
        <p:nvSpPr>
          <p:cNvPr id="199" name="矩形: 圆角 143"/>
          <p:cNvSpPr/>
          <p:nvPr/>
        </p:nvSpPr>
        <p:spPr>
          <a:xfrm>
            <a:off x="1111250" y="3635375"/>
            <a:ext cx="2924175" cy="294640"/>
          </a:xfrm>
          <a:prstGeom prst="roundRect">
            <a:avLst>
              <a:gd name="adj" fmla="val 50000"/>
            </a:avLst>
          </a:prstGeom>
          <a:solidFill>
            <a:srgbClr val="17AE4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 24 节气时序为轴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0" name="文本框 199"/>
          <p:cNvSpPr txBox="1"/>
          <p:nvPr/>
        </p:nvSpPr>
        <p:spPr>
          <a:xfrm>
            <a:off x="6642100" y="3254375"/>
            <a:ext cx="1287780" cy="79121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00974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周末短途游、年轻高知</a:t>
            </a:r>
          </a:p>
        </p:txBody>
      </p:sp>
      <p:sp>
        <p:nvSpPr>
          <p:cNvPr id="201" name="文本框 200"/>
          <p:cNvSpPr txBox="1"/>
          <p:nvPr/>
        </p:nvSpPr>
        <p:spPr>
          <a:xfrm>
            <a:off x="5297805" y="3254375"/>
            <a:ext cx="1370330" cy="63563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00974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摄影、时尚、性能爱好者</a:t>
            </a:r>
          </a:p>
        </p:txBody>
      </p:sp>
      <p:sp>
        <p:nvSpPr>
          <p:cNvPr id="202" name="文本框 201"/>
          <p:cNvSpPr txBox="1"/>
          <p:nvPr/>
        </p:nvSpPr>
        <p:spPr>
          <a:xfrm>
            <a:off x="7929880" y="3254375"/>
            <a:ext cx="1320165" cy="92329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u="sng" noProof="0" dirty="0">
                <a:ln>
                  <a:noFill/>
                </a:ln>
                <a:solidFill>
                  <a:srgbClr val="00974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徒步露营、长途自驾、旅行</a:t>
            </a:r>
            <a:endParaRPr kumimoji="0" lang="zh-CN" altLang="en-US" sz="1200" b="1" i="0" u="sng" strike="noStrike" kern="1200" cap="none" spc="0" normalizeH="0" baseline="0" noProof="0" dirty="0">
              <a:ln>
                <a:noFill/>
              </a:ln>
              <a:solidFill>
                <a:srgbClr val="00974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203" name="组合 202"/>
          <p:cNvGrpSpPr/>
          <p:nvPr/>
        </p:nvGrpSpPr>
        <p:grpSpPr>
          <a:xfrm>
            <a:off x="5210810" y="2637685"/>
            <a:ext cx="1578610" cy="358140"/>
            <a:chOff x="151" y="7482"/>
            <a:chExt cx="2486" cy="564"/>
          </a:xfrm>
        </p:grpSpPr>
        <p:sp>
          <p:nvSpPr>
            <p:cNvPr id="204" name="矩形: 圆角 22"/>
            <p:cNvSpPr/>
            <p:nvPr/>
          </p:nvSpPr>
          <p:spPr>
            <a:xfrm>
              <a:off x="726" y="7482"/>
              <a:ext cx="1363" cy="564"/>
            </a:xfrm>
            <a:prstGeom prst="roundRect">
              <a:avLst>
                <a:gd name="adj" fmla="val 8000"/>
              </a:avLst>
            </a:prstGeom>
            <a:solidFill>
              <a:sysClr val="window" lastClr="FFFFFF"/>
            </a:solidFill>
            <a:ln w="6350" cap="flat">
              <a:solidFill>
                <a:srgbClr val="549E39">
                  <a:lumMod val="100000"/>
                </a:srgbClr>
              </a:solidFill>
              <a:prstDash val="solid"/>
              <a:miter/>
            </a:ln>
            <a:effectLst>
              <a:outerShdw blurRad="635000" dist="254000" dir="5400000" algn="t" rotWithShape="0">
                <a:srgbClr val="E3DED1">
                  <a:alpha val="1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5B8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5" name="文本框 204"/>
            <p:cNvSpPr txBox="1"/>
            <p:nvPr/>
          </p:nvSpPr>
          <p:spPr>
            <a:xfrm>
              <a:off x="151" y="7530"/>
              <a:ext cx="2487" cy="44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质感生活</a:t>
              </a:r>
            </a:p>
          </p:txBody>
        </p:sp>
      </p:grpSp>
      <p:grpSp>
        <p:nvGrpSpPr>
          <p:cNvPr id="206" name="组合 205"/>
          <p:cNvGrpSpPr/>
          <p:nvPr/>
        </p:nvGrpSpPr>
        <p:grpSpPr>
          <a:xfrm>
            <a:off x="6657340" y="2637685"/>
            <a:ext cx="1154430" cy="358140"/>
            <a:chOff x="498" y="8182"/>
            <a:chExt cx="1818" cy="564"/>
          </a:xfrm>
        </p:grpSpPr>
        <p:sp>
          <p:nvSpPr>
            <p:cNvPr id="207" name="矩形: 圆角 22"/>
            <p:cNvSpPr/>
            <p:nvPr/>
          </p:nvSpPr>
          <p:spPr>
            <a:xfrm>
              <a:off x="726" y="8182"/>
              <a:ext cx="1363" cy="564"/>
            </a:xfrm>
            <a:prstGeom prst="roundRect">
              <a:avLst>
                <a:gd name="adj" fmla="val 8000"/>
              </a:avLst>
            </a:prstGeom>
            <a:solidFill>
              <a:sysClr val="window" lastClr="FFFFFF"/>
            </a:solidFill>
            <a:ln w="6350" cap="flat">
              <a:solidFill>
                <a:srgbClr val="549E39">
                  <a:lumMod val="100000"/>
                </a:srgbClr>
              </a:solidFill>
              <a:prstDash val="solid"/>
              <a:miter/>
            </a:ln>
            <a:effectLst>
              <a:outerShdw blurRad="635000" dist="254000" dir="5400000" algn="t" rotWithShape="0">
                <a:srgbClr val="E3DED1">
                  <a:alpha val="1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5B8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8" name="文本框 207"/>
            <p:cNvSpPr txBox="1"/>
            <p:nvPr/>
          </p:nvSpPr>
          <p:spPr>
            <a:xfrm>
              <a:off x="498" y="8231"/>
              <a:ext cx="1819" cy="44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城市出逃</a:t>
              </a:r>
            </a:p>
          </p:txBody>
        </p:sp>
      </p:grpSp>
      <p:grpSp>
        <p:nvGrpSpPr>
          <p:cNvPr id="209" name="组合 208"/>
          <p:cNvGrpSpPr/>
          <p:nvPr/>
        </p:nvGrpSpPr>
        <p:grpSpPr>
          <a:xfrm>
            <a:off x="7767955" y="2637685"/>
            <a:ext cx="1512570" cy="358140"/>
            <a:chOff x="230" y="9044"/>
            <a:chExt cx="2382" cy="564"/>
          </a:xfrm>
        </p:grpSpPr>
        <p:sp>
          <p:nvSpPr>
            <p:cNvPr id="210" name="矩形: 圆角 22"/>
            <p:cNvSpPr/>
            <p:nvPr/>
          </p:nvSpPr>
          <p:spPr>
            <a:xfrm>
              <a:off x="726" y="9044"/>
              <a:ext cx="1363" cy="564"/>
            </a:xfrm>
            <a:prstGeom prst="roundRect">
              <a:avLst>
                <a:gd name="adj" fmla="val 8000"/>
              </a:avLst>
            </a:prstGeom>
            <a:solidFill>
              <a:sysClr val="window" lastClr="FFFFFF"/>
            </a:solidFill>
            <a:ln w="6350" cap="flat">
              <a:solidFill>
                <a:srgbClr val="549E39">
                  <a:lumMod val="100000"/>
                </a:srgbClr>
              </a:solidFill>
              <a:prstDash val="solid"/>
              <a:miter/>
            </a:ln>
            <a:effectLst>
              <a:outerShdw blurRad="635000" dist="254000" dir="5400000" algn="t" rotWithShape="0">
                <a:srgbClr val="E3DED1">
                  <a:alpha val="1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5B8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1" name="文本框 210"/>
            <p:cNvSpPr txBox="1"/>
            <p:nvPr/>
          </p:nvSpPr>
          <p:spPr>
            <a:xfrm>
              <a:off x="230" y="9114"/>
              <a:ext cx="2382" cy="44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户外沉浸</a:t>
              </a:r>
            </a:p>
          </p:txBody>
        </p:sp>
      </p:grpSp>
      <p:sp>
        <p:nvSpPr>
          <p:cNvPr id="212" name="文本框 211"/>
          <p:cNvSpPr txBox="1"/>
          <p:nvPr/>
        </p:nvSpPr>
        <p:spPr>
          <a:xfrm>
            <a:off x="5194300" y="2000250"/>
            <a:ext cx="361759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结合内容方向标签选适配博主</a:t>
            </a:r>
          </a:p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场景化叙事风格质感统一</a:t>
            </a:r>
          </a:p>
        </p:txBody>
      </p:sp>
      <p:sp>
        <p:nvSpPr>
          <p:cNvPr id="213" name="文本框 212"/>
          <p:cNvSpPr txBox="1"/>
          <p:nvPr/>
        </p:nvSpPr>
        <p:spPr>
          <a:xfrm>
            <a:off x="4505325" y="2674515"/>
            <a:ext cx="930910" cy="28448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内容方向</a:t>
            </a:r>
          </a:p>
        </p:txBody>
      </p:sp>
      <p:sp>
        <p:nvSpPr>
          <p:cNvPr id="214" name="文本框 213"/>
          <p:cNvSpPr txBox="1"/>
          <p:nvPr/>
        </p:nvSpPr>
        <p:spPr>
          <a:xfrm>
            <a:off x="4505325" y="3322955"/>
            <a:ext cx="930910" cy="28448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博主标签</a:t>
            </a:r>
          </a:p>
        </p:txBody>
      </p:sp>
      <p:pic>
        <p:nvPicPr>
          <p:cNvPr id="217" name="图片 2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59760" y="3898185"/>
            <a:ext cx="880464" cy="1440000"/>
          </a:xfrm>
          <a:prstGeom prst="roundRect">
            <a:avLst>
              <a:gd name="adj" fmla="val 10009"/>
            </a:avLst>
          </a:prstGeom>
          <a:ln w="22225">
            <a:solidFill>
              <a:schemeClr val="accent6"/>
            </a:solidFill>
          </a:ln>
          <a:effectLst>
            <a:reflection blurRad="6350" stA="28000" endPos="18000" dir="5400000" sy="-100000" algn="bl" rotWithShape="0"/>
          </a:effectLst>
        </p:spPr>
      </p:pic>
      <p:pic>
        <p:nvPicPr>
          <p:cNvPr id="216" name="图片 2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33405" y="3890010"/>
            <a:ext cx="869949" cy="1440000"/>
          </a:xfrm>
          <a:prstGeom prst="roundRect">
            <a:avLst>
              <a:gd name="adj" fmla="val 10009"/>
            </a:avLst>
          </a:prstGeom>
          <a:ln w="22225">
            <a:solidFill>
              <a:schemeClr val="accent6"/>
            </a:solidFill>
          </a:ln>
          <a:effectLst>
            <a:reflection blurRad="6350" stA="28000" endPos="18000" dir="5400000" sy="-100000" algn="bl" rotWithShape="0"/>
          </a:effectLst>
        </p:spPr>
      </p:pic>
      <p:grpSp>
        <p:nvGrpSpPr>
          <p:cNvPr id="60" name="组合 59"/>
          <p:cNvGrpSpPr/>
          <p:nvPr/>
        </p:nvGrpSpPr>
        <p:grpSpPr>
          <a:xfrm>
            <a:off x="5055870" y="6117590"/>
            <a:ext cx="1367155" cy="200025"/>
            <a:chOff x="1203444" y="3550491"/>
            <a:chExt cx="1407470" cy="358734"/>
          </a:xfrm>
        </p:grpSpPr>
        <p:sp>
          <p:nvSpPr>
            <p:cNvPr id="61" name="圆角矩形 69"/>
            <p:cNvSpPr/>
            <p:nvPr/>
          </p:nvSpPr>
          <p:spPr>
            <a:xfrm>
              <a:off x="1215156" y="3637507"/>
              <a:ext cx="1326505" cy="271718"/>
            </a:xfrm>
            <a:prstGeom prst="roundRect">
              <a:avLst>
                <a:gd name="adj" fmla="val 50000"/>
              </a:avLst>
            </a:prstGeom>
            <a:solidFill>
              <a:srgbClr val="70AD47"/>
            </a:solidFill>
            <a:ln w="9525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1203444" y="3550491"/>
              <a:ext cx="1407470" cy="28863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algn="ctr">
                <a:defRPr kumimoji="0" sz="1000" b="0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Medium" panose="02020500000000000000" pitchFamily="18" charset="-122"/>
                  <a:ea typeface="思源宋体 CN Medium" panose="02020500000000000000" pitchFamily="18" charset="-122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年轻人的第一台猎装车</a:t>
              </a:r>
            </a:p>
          </p:txBody>
        </p:sp>
      </p:grpSp>
      <p:grpSp>
        <p:nvGrpSpPr>
          <p:cNvPr id="227" name="组合 226"/>
          <p:cNvGrpSpPr/>
          <p:nvPr/>
        </p:nvGrpSpPr>
        <p:grpSpPr>
          <a:xfrm>
            <a:off x="6680200" y="6117590"/>
            <a:ext cx="1230630" cy="200025"/>
            <a:chOff x="1203444" y="3550491"/>
            <a:chExt cx="1407470" cy="358734"/>
          </a:xfrm>
        </p:grpSpPr>
        <p:sp>
          <p:nvSpPr>
            <p:cNvPr id="228" name="圆角矩形 69"/>
            <p:cNvSpPr/>
            <p:nvPr/>
          </p:nvSpPr>
          <p:spPr>
            <a:xfrm>
              <a:off x="1215156" y="3637507"/>
              <a:ext cx="1326505" cy="271718"/>
            </a:xfrm>
            <a:prstGeom prst="roundRect">
              <a:avLst>
                <a:gd name="adj" fmla="val 50000"/>
              </a:avLst>
            </a:prstGeom>
            <a:solidFill>
              <a:srgbClr val="70AD47"/>
            </a:solidFill>
            <a:ln w="9525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9" name="文本框 228"/>
            <p:cNvSpPr txBox="1"/>
            <p:nvPr/>
          </p:nvSpPr>
          <p:spPr>
            <a:xfrm>
              <a:off x="1203444" y="3550491"/>
              <a:ext cx="1407470" cy="28863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algn="ctr">
                <a:defRPr kumimoji="0" sz="1000" b="0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Medium" panose="02020500000000000000" pitchFamily="18" charset="-122"/>
                  <a:ea typeface="思源宋体 CN Medium" panose="02020500000000000000" pitchFamily="18" charset="-122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季节仪式感</a:t>
              </a: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30" name="组合 229"/>
          <p:cNvGrpSpPr/>
          <p:nvPr/>
        </p:nvGrpSpPr>
        <p:grpSpPr>
          <a:xfrm>
            <a:off x="7994015" y="6117590"/>
            <a:ext cx="1619885" cy="200025"/>
            <a:chOff x="1203444" y="3550491"/>
            <a:chExt cx="1407470" cy="358734"/>
          </a:xfrm>
        </p:grpSpPr>
        <p:sp>
          <p:nvSpPr>
            <p:cNvPr id="231" name="圆角矩形 69"/>
            <p:cNvSpPr/>
            <p:nvPr/>
          </p:nvSpPr>
          <p:spPr>
            <a:xfrm>
              <a:off x="1215156" y="3637507"/>
              <a:ext cx="1326505" cy="271718"/>
            </a:xfrm>
            <a:prstGeom prst="roundRect">
              <a:avLst>
                <a:gd name="adj" fmla="val 50000"/>
              </a:avLst>
            </a:prstGeom>
            <a:solidFill>
              <a:srgbClr val="70AD47"/>
            </a:solidFill>
            <a:ln w="9525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2" name="文本框 231"/>
            <p:cNvSpPr txBox="1"/>
            <p:nvPr/>
          </p:nvSpPr>
          <p:spPr>
            <a:xfrm>
              <a:off x="1203444" y="3550491"/>
              <a:ext cx="1407470" cy="28863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algn="ctr">
                <a:defRPr kumimoji="0" sz="1000" b="0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Medium" panose="02020500000000000000" pitchFamily="18" charset="-122"/>
                  <a:ea typeface="思源宋体 CN Medium" panose="02020500000000000000" pitchFamily="18" charset="-122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超长续航完全没有里程焦虑</a:t>
              </a: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9B93B7CA-B16E-848C-0A6D-24D3F758237A}"/>
              </a:ext>
            </a:extLst>
          </p:cNvPr>
          <p:cNvSpPr/>
          <p:nvPr/>
        </p:nvSpPr>
        <p:spPr>
          <a:xfrm>
            <a:off x="381137" y="1963505"/>
            <a:ext cx="3903094" cy="117032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这里洞察的表达形式需要斟酌下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还有这个图有点丑，比如放那种无背景的会好一些？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481DC75-4155-4CCA-3B06-F9A8F91895C5}"/>
              </a:ext>
            </a:extLst>
          </p:cNvPr>
          <p:cNvSpPr/>
          <p:nvPr/>
        </p:nvSpPr>
        <p:spPr>
          <a:xfrm>
            <a:off x="4817976" y="6327049"/>
            <a:ext cx="1787049" cy="45441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CTR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12%+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种草人群转化率 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4%+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79636BC-2F98-2C5D-1750-06D360BD91CB}"/>
              </a:ext>
            </a:extLst>
          </p:cNvPr>
          <p:cNvSpPr/>
          <p:nvPr/>
        </p:nvSpPr>
        <p:spPr>
          <a:xfrm>
            <a:off x="6424628" y="6335642"/>
            <a:ext cx="1787049" cy="45441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CTR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11%+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种草人群转化率 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3%+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BF25233-0571-8117-1390-B10C138D9CC1}"/>
              </a:ext>
            </a:extLst>
          </p:cNvPr>
          <p:cNvSpPr/>
          <p:nvPr/>
        </p:nvSpPr>
        <p:spPr>
          <a:xfrm>
            <a:off x="8211677" y="6353669"/>
            <a:ext cx="1787049" cy="45441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CTR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10%+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种草人群转化率 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5%+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77540C4-943A-12DD-9E4D-418C980B202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90027" y="4786537"/>
            <a:ext cx="894080" cy="116930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BEF9CB0A-D847-B83B-60EE-B72CFD71701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05857" y="3886829"/>
            <a:ext cx="880464" cy="116918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FF191BD-B48D-37C1-8168-C8684A0FA5F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82881" y="4729010"/>
            <a:ext cx="1027270" cy="1374190"/>
          </a:xfrm>
          <a:prstGeom prst="rect">
            <a:avLst/>
          </a:prstGeom>
        </p:spPr>
      </p:pic>
      <p:pic>
        <p:nvPicPr>
          <p:cNvPr id="215" name="图片 21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84800" y="4610010"/>
            <a:ext cx="867607" cy="1440000"/>
          </a:xfrm>
          <a:prstGeom prst="roundRect">
            <a:avLst>
              <a:gd name="adj" fmla="val 10009"/>
            </a:avLst>
          </a:prstGeom>
          <a:ln w="22225">
            <a:solidFill>
              <a:schemeClr val="accent6"/>
            </a:solidFill>
          </a:ln>
          <a:effectLst>
            <a:reflection blurRad="6350" stA="28000" endPos="18000" dir="5400000" sy="-100000" algn="bl" rotWithShape="0"/>
          </a:effectLst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5E43E9F9-E352-0312-3B04-C3716C8422D6}"/>
              </a:ext>
            </a:extLst>
          </p:cNvPr>
          <p:cNvSpPr/>
          <p:nvPr/>
        </p:nvSpPr>
        <p:spPr>
          <a:xfrm>
            <a:off x="5300279" y="4209208"/>
            <a:ext cx="3903094" cy="117032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补充的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张图需要重新截下图，搞下格式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E0CF89A-1031-3829-C253-89BD6A3C9F4D}"/>
              </a:ext>
            </a:extLst>
          </p:cNvPr>
          <p:cNvSpPr/>
          <p:nvPr/>
        </p:nvSpPr>
        <p:spPr>
          <a:xfrm>
            <a:off x="5536305" y="2706291"/>
            <a:ext cx="972176" cy="53710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夏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#XXX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70BA21F-39F7-FF80-19DC-04156038F712}"/>
              </a:ext>
            </a:extLst>
          </p:cNvPr>
          <p:cNvSpPr/>
          <p:nvPr/>
        </p:nvSpPr>
        <p:spPr>
          <a:xfrm>
            <a:off x="6787660" y="2913181"/>
            <a:ext cx="972176" cy="53710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秋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#XXX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6A61BF1-C549-3D7C-4A04-81AA272046CD}"/>
              </a:ext>
            </a:extLst>
          </p:cNvPr>
          <p:cNvSpPr/>
          <p:nvPr/>
        </p:nvSpPr>
        <p:spPr>
          <a:xfrm>
            <a:off x="8038152" y="2396795"/>
            <a:ext cx="972176" cy="53710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冬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#XXX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91CEAE3-52FD-CECC-3B45-6B3660C4F771}"/>
              </a:ext>
            </a:extLst>
          </p:cNvPr>
          <p:cNvSpPr/>
          <p:nvPr/>
        </p:nvSpPr>
        <p:spPr>
          <a:xfrm>
            <a:off x="5496889" y="3614999"/>
            <a:ext cx="3492756" cy="53710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#XXX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指的是根据下面的截图和右边的矩阵，写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个内容方向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25F2F6D-9B74-5491-E08C-D3DCCAD571E9}"/>
              </a:ext>
            </a:extLst>
          </p:cNvPr>
          <p:cNvSpPr/>
          <p:nvPr/>
        </p:nvSpPr>
        <p:spPr>
          <a:xfrm>
            <a:off x="473024" y="410201"/>
            <a:ext cx="10582858" cy="117032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整体从内容呈现、排版布局、观点表达等维度可以再看看有没有提升空间，不要和别克太相似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8828910-104C-755A-539B-167037106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86973" y="1338878"/>
            <a:ext cx="3527248" cy="1984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A7336390-98F3-B95F-A550-A1AD303A5C29}"/>
              </a:ext>
            </a:extLst>
          </p:cNvPr>
          <p:cNvGrpSpPr/>
          <p:nvPr/>
        </p:nvGrpSpPr>
        <p:grpSpPr>
          <a:xfrm>
            <a:off x="-566420" y="4142105"/>
            <a:ext cx="5201920" cy="4502150"/>
            <a:chOff x="-295" y="6336"/>
            <a:chExt cx="6904" cy="6446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EA664D9F-85DF-7EC4-FE6B-DAD1D5813EE7}"/>
                </a:ext>
              </a:extLst>
            </p:cNvPr>
            <p:cNvGrpSpPr/>
            <p:nvPr/>
          </p:nvGrpSpPr>
          <p:grpSpPr>
            <a:xfrm>
              <a:off x="-295" y="6336"/>
              <a:ext cx="6904" cy="6446"/>
              <a:chOff x="6272" y="3726"/>
              <a:chExt cx="6904" cy="6446"/>
            </a:xfrm>
          </p:grpSpPr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49D9C3A9-937E-2732-76D6-CC0298F704AF}"/>
                  </a:ext>
                </a:extLst>
              </p:cNvPr>
              <p:cNvSpPr txBox="1"/>
              <p:nvPr/>
            </p:nvSpPr>
            <p:spPr>
              <a:xfrm>
                <a:off x="8529" y="7124"/>
                <a:ext cx="1493" cy="4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400" b="1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质感生活</a:t>
                </a: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B19B9B07-A20A-CF52-F3B3-C5C038084883}"/>
                  </a:ext>
                </a:extLst>
              </p:cNvPr>
              <p:cNvSpPr txBox="1"/>
              <p:nvPr/>
            </p:nvSpPr>
            <p:spPr>
              <a:xfrm>
                <a:off x="10084" y="7124"/>
                <a:ext cx="1493" cy="4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400" b="1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城市出逃</a:t>
                </a: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F0C2BAA4-8D75-2412-FFAB-878355EDFD7F}"/>
                  </a:ext>
                </a:extLst>
              </p:cNvPr>
              <p:cNvSpPr txBox="1"/>
              <p:nvPr/>
            </p:nvSpPr>
            <p:spPr>
              <a:xfrm>
                <a:off x="11683" y="7124"/>
                <a:ext cx="1493" cy="4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400" b="1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户外沉浸</a:t>
                </a:r>
              </a:p>
            </p:txBody>
          </p: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5159EB73-6649-FD4D-1274-3AF302673255}"/>
                  </a:ext>
                </a:extLst>
              </p:cNvPr>
              <p:cNvGrpSpPr/>
              <p:nvPr/>
            </p:nvGrpSpPr>
            <p:grpSpPr>
              <a:xfrm>
                <a:off x="6272" y="3831"/>
                <a:ext cx="6347" cy="6341"/>
                <a:chOff x="6272" y="3831"/>
                <a:chExt cx="6347" cy="6341"/>
              </a:xfrm>
            </p:grpSpPr>
            <p:cxnSp>
              <p:nvCxnSpPr>
                <p:cNvPr id="53" name="直接连接符 46">
                  <a:extLst>
                    <a:ext uri="{FF2B5EF4-FFF2-40B4-BE49-F238E27FC236}">
                      <a16:creationId xmlns:a16="http://schemas.microsoft.com/office/drawing/2014/main" id="{DAEF8A08-C1CE-0CB5-EF79-F32D1A178B82}"/>
                    </a:ext>
                  </a:extLst>
                </p:cNvPr>
                <p:cNvCxnSpPr/>
                <p:nvPr/>
              </p:nvCxnSpPr>
              <p:spPr>
                <a:xfrm flipV="1">
                  <a:off x="8503" y="7035"/>
                  <a:ext cx="4116" cy="1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19000">
                        <a:schemeClr val="accent6">
                          <a:lumMod val="40000"/>
                          <a:lumOff val="60000"/>
                        </a:schemeClr>
                      </a:gs>
                      <a:gs pos="60000">
                        <a:schemeClr val="accent6">
                          <a:lumMod val="60000"/>
                          <a:lumOff val="40000"/>
                          <a:alpha val="76000"/>
                        </a:schemeClr>
                      </a:gs>
                      <a:gs pos="100000">
                        <a:schemeClr val="accent6">
                          <a:lumMod val="60000"/>
                          <a:lumOff val="40000"/>
                        </a:schemeClr>
                      </a:gs>
                    </a:gsLst>
                    <a:lin ang="5340000" scaled="1"/>
                  </a:gra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 47">
                  <a:extLst>
                    <a:ext uri="{FF2B5EF4-FFF2-40B4-BE49-F238E27FC236}">
                      <a16:creationId xmlns:a16="http://schemas.microsoft.com/office/drawing/2014/main" id="{CB6F1BDC-CF57-455E-F7D1-927C418CE7F6}"/>
                    </a:ext>
                  </a:extLst>
                </p:cNvPr>
                <p:cNvCxnSpPr/>
                <p:nvPr/>
              </p:nvCxnSpPr>
              <p:spPr>
                <a:xfrm flipH="1" flipV="1">
                  <a:off x="8497" y="3831"/>
                  <a:ext cx="24" cy="3215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19000">
                        <a:schemeClr val="accent6">
                          <a:lumMod val="40000"/>
                          <a:lumOff val="60000"/>
                        </a:schemeClr>
                      </a:gs>
                      <a:gs pos="60000">
                        <a:schemeClr val="accent6">
                          <a:lumMod val="60000"/>
                          <a:lumOff val="40000"/>
                          <a:alpha val="76000"/>
                        </a:schemeClr>
                      </a:gs>
                      <a:gs pos="100000">
                        <a:schemeClr val="accent6">
                          <a:lumMod val="60000"/>
                          <a:lumOff val="40000"/>
                        </a:schemeClr>
                      </a:gs>
                    </a:gsLst>
                    <a:lin ang="5340000" scaled="1"/>
                  </a:gra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55" name="弧形 51">
                  <a:extLst>
                    <a:ext uri="{FF2B5EF4-FFF2-40B4-BE49-F238E27FC236}">
                      <a16:creationId xmlns:a16="http://schemas.microsoft.com/office/drawing/2014/main" id="{51E10461-3A62-B18D-0B09-F32DA3868637}"/>
                    </a:ext>
                  </a:extLst>
                </p:cNvPr>
                <p:cNvSpPr/>
                <p:nvPr/>
              </p:nvSpPr>
              <p:spPr>
                <a:xfrm>
                  <a:off x="6990" y="5555"/>
                  <a:ext cx="3118" cy="3118"/>
                </a:xfrm>
                <a:prstGeom prst="arc">
                  <a:avLst>
                    <a:gd name="adj1" fmla="val 16200000"/>
                    <a:gd name="adj2" fmla="val 21426135"/>
                  </a:avLst>
                </a:prstGeom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19000">
                        <a:schemeClr val="accent6">
                          <a:lumMod val="40000"/>
                          <a:lumOff val="60000"/>
                        </a:schemeClr>
                      </a:gs>
                      <a:gs pos="60000">
                        <a:schemeClr val="accent6">
                          <a:lumMod val="60000"/>
                          <a:lumOff val="40000"/>
                          <a:alpha val="76000"/>
                        </a:schemeClr>
                      </a:gs>
                      <a:gs pos="100000">
                        <a:schemeClr val="accent6">
                          <a:lumMod val="60000"/>
                          <a:lumOff val="40000"/>
                        </a:schemeClr>
                      </a:gs>
                    </a:gsLst>
                    <a:lin ang="5340000" scaled="1"/>
                  </a:gra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56" name="弧形 56">
                  <a:extLst>
                    <a:ext uri="{FF2B5EF4-FFF2-40B4-BE49-F238E27FC236}">
                      <a16:creationId xmlns:a16="http://schemas.microsoft.com/office/drawing/2014/main" id="{E9EC09A8-5866-0963-863D-DB8951905833}"/>
                    </a:ext>
                  </a:extLst>
                </p:cNvPr>
                <p:cNvSpPr/>
                <p:nvPr/>
              </p:nvSpPr>
              <p:spPr>
                <a:xfrm>
                  <a:off x="6435" y="4736"/>
                  <a:ext cx="4687" cy="4687"/>
                </a:xfrm>
                <a:prstGeom prst="arc">
                  <a:avLst>
                    <a:gd name="adj1" fmla="val 16200000"/>
                    <a:gd name="adj2" fmla="val 21426135"/>
                  </a:avLst>
                </a:prstGeom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19000">
                        <a:schemeClr val="accent6">
                          <a:lumMod val="40000"/>
                          <a:lumOff val="60000"/>
                        </a:schemeClr>
                      </a:gs>
                      <a:gs pos="60000">
                        <a:schemeClr val="accent6">
                          <a:lumMod val="60000"/>
                          <a:lumOff val="40000"/>
                          <a:alpha val="76000"/>
                        </a:schemeClr>
                      </a:gs>
                      <a:gs pos="100000">
                        <a:schemeClr val="accent6">
                          <a:lumMod val="60000"/>
                          <a:lumOff val="40000"/>
                        </a:schemeClr>
                      </a:gs>
                    </a:gsLst>
                    <a:lin ang="5340000" scaled="1"/>
                  </a:gra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63" name="弧形 57">
                  <a:extLst>
                    <a:ext uri="{FF2B5EF4-FFF2-40B4-BE49-F238E27FC236}">
                      <a16:creationId xmlns:a16="http://schemas.microsoft.com/office/drawing/2014/main" id="{644721AC-B9DB-1805-414A-3AA8553557CB}"/>
                    </a:ext>
                  </a:extLst>
                </p:cNvPr>
                <p:cNvSpPr/>
                <p:nvPr/>
              </p:nvSpPr>
              <p:spPr>
                <a:xfrm>
                  <a:off x="6272" y="4051"/>
                  <a:ext cx="5798" cy="6121"/>
                </a:xfrm>
                <a:prstGeom prst="arc">
                  <a:avLst>
                    <a:gd name="adj1" fmla="val 16200000"/>
                    <a:gd name="adj2" fmla="val 21426135"/>
                  </a:avLst>
                </a:prstGeom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19000">
                        <a:schemeClr val="accent6">
                          <a:lumMod val="40000"/>
                          <a:lumOff val="60000"/>
                        </a:schemeClr>
                      </a:gs>
                      <a:gs pos="60000">
                        <a:schemeClr val="accent6">
                          <a:lumMod val="60000"/>
                          <a:lumOff val="40000"/>
                          <a:alpha val="76000"/>
                        </a:schemeClr>
                      </a:gs>
                      <a:gs pos="100000">
                        <a:schemeClr val="accent6">
                          <a:lumMod val="60000"/>
                          <a:lumOff val="40000"/>
                        </a:schemeClr>
                      </a:gs>
                    </a:gsLst>
                    <a:lin ang="5340000" scaled="1"/>
                  </a:gra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40" name="椭圆 39">
                <a:extLst>
                  <a:ext uri="{FF2B5EF4-FFF2-40B4-BE49-F238E27FC236}">
                    <a16:creationId xmlns:a16="http://schemas.microsoft.com/office/drawing/2014/main" id="{FB55A7D3-192B-D283-1C37-601CDE32BB8B}"/>
                  </a:ext>
                </a:extLst>
              </p:cNvPr>
              <p:cNvSpPr/>
              <p:nvPr/>
            </p:nvSpPr>
            <p:spPr>
              <a:xfrm>
                <a:off x="10039" y="6971"/>
                <a:ext cx="153" cy="15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06CFA474-736D-D879-E222-57121B742899}"/>
                  </a:ext>
                </a:extLst>
              </p:cNvPr>
              <p:cNvSpPr/>
              <p:nvPr/>
            </p:nvSpPr>
            <p:spPr>
              <a:xfrm>
                <a:off x="11054" y="6971"/>
                <a:ext cx="153" cy="15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0FF286C4-577E-DBAD-22B3-8490A094C3C5}"/>
                  </a:ext>
                </a:extLst>
              </p:cNvPr>
              <p:cNvSpPr/>
              <p:nvPr/>
            </p:nvSpPr>
            <p:spPr>
              <a:xfrm>
                <a:off x="11990" y="6971"/>
                <a:ext cx="153" cy="15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E0B64AD6-5891-77FA-5DFE-2C49252D4B9A}"/>
                  </a:ext>
                </a:extLst>
              </p:cNvPr>
              <p:cNvSpPr/>
              <p:nvPr/>
            </p:nvSpPr>
            <p:spPr>
              <a:xfrm>
                <a:off x="8465" y="3833"/>
                <a:ext cx="153" cy="15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E15C1252-A2B0-8FB1-3E73-389C6042F67A}"/>
                  </a:ext>
                </a:extLst>
              </p:cNvPr>
              <p:cNvSpPr/>
              <p:nvPr/>
            </p:nvSpPr>
            <p:spPr>
              <a:xfrm>
                <a:off x="8465" y="4687"/>
                <a:ext cx="153" cy="15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496ADAD9-3A02-1F0D-0F0D-7985E37303A6}"/>
                  </a:ext>
                </a:extLst>
              </p:cNvPr>
              <p:cNvSpPr/>
              <p:nvPr/>
            </p:nvSpPr>
            <p:spPr>
              <a:xfrm>
                <a:off x="8465" y="5555"/>
                <a:ext cx="153" cy="15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5C245288-177F-EB0A-7F5A-12F8C845A8E7}"/>
                  </a:ext>
                </a:extLst>
              </p:cNvPr>
              <p:cNvSpPr txBox="1"/>
              <p:nvPr/>
            </p:nvSpPr>
            <p:spPr>
              <a:xfrm>
                <a:off x="7795" y="5498"/>
                <a:ext cx="778" cy="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20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夏</a:t>
                </a:r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634F1068-191C-E061-14D1-EE01BDD5488E}"/>
                  </a:ext>
                </a:extLst>
              </p:cNvPr>
              <p:cNvSpPr txBox="1"/>
              <p:nvPr/>
            </p:nvSpPr>
            <p:spPr>
              <a:xfrm>
                <a:off x="7794" y="4612"/>
                <a:ext cx="778" cy="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20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秋</a:t>
                </a:r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5141FB06-1B46-E3E4-32AF-6CA9CD9E05FF}"/>
                  </a:ext>
                </a:extLst>
              </p:cNvPr>
              <p:cNvSpPr txBox="1"/>
              <p:nvPr/>
            </p:nvSpPr>
            <p:spPr>
              <a:xfrm>
                <a:off x="7796" y="6384"/>
                <a:ext cx="778" cy="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20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春</a:t>
                </a: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41099E02-D696-D914-D604-9BC85696D7C6}"/>
                  </a:ext>
                </a:extLst>
              </p:cNvPr>
              <p:cNvSpPr txBox="1"/>
              <p:nvPr/>
            </p:nvSpPr>
            <p:spPr>
              <a:xfrm>
                <a:off x="7793" y="3726"/>
                <a:ext cx="778" cy="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20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冬</a:t>
                </a:r>
              </a:p>
            </p:txBody>
          </p:sp>
        </p:grp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F4FDAC05-3026-6051-83D9-ABEC79C49D2B}"/>
                </a:ext>
              </a:extLst>
            </p:cNvPr>
            <p:cNvSpPr/>
            <p:nvPr/>
          </p:nvSpPr>
          <p:spPr>
            <a:xfrm>
              <a:off x="2792" y="8470"/>
              <a:ext cx="244" cy="24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8BF415AC-41DF-0C72-2F7D-E982F1B41AAE}"/>
                </a:ext>
              </a:extLst>
            </p:cNvPr>
            <p:cNvSpPr/>
            <p:nvPr/>
          </p:nvSpPr>
          <p:spPr>
            <a:xfrm>
              <a:off x="3987" y="8257"/>
              <a:ext cx="244" cy="24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0A23026A-CD73-4FEE-33E5-5C5047F25DCD}"/>
                </a:ext>
              </a:extLst>
            </p:cNvPr>
            <p:cNvSpPr txBox="1"/>
            <p:nvPr/>
          </p:nvSpPr>
          <p:spPr>
            <a:xfrm>
              <a:off x="2249" y="8752"/>
              <a:ext cx="1738" cy="6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F1115"/>
                  </a:solidFill>
                  <a:effectLst/>
                  <a:highlight>
                    <a:srgbClr val="C4E59F"/>
                  </a:highligh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和大自然的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F1115"/>
                  </a:solidFill>
                  <a:effectLst/>
                  <a:highlight>
                    <a:srgbClr val="C4E59F"/>
                  </a:highligh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周末约会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534C4CE2-4DBB-33E7-89F0-E088678A3049}"/>
                </a:ext>
              </a:extLst>
            </p:cNvPr>
            <p:cNvSpPr txBox="1"/>
            <p:nvPr/>
          </p:nvSpPr>
          <p:spPr>
            <a:xfrm>
              <a:off x="2749" y="7754"/>
              <a:ext cx="1893" cy="3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F1115"/>
                  </a:solidFill>
                  <a:effectLst/>
                  <a:highlight>
                    <a:srgbClr val="C4E59F"/>
                  </a:highligh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自我的掌控权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B84C5BF-AAAB-1E9E-DA12-6DDDBA2FCE50}"/>
                </a:ext>
              </a:extLst>
            </p:cNvPr>
            <p:cNvSpPr txBox="1"/>
            <p:nvPr/>
          </p:nvSpPr>
          <p:spPr>
            <a:xfrm>
              <a:off x="4640" y="8752"/>
              <a:ext cx="1738" cy="3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F1115"/>
                  </a:solidFill>
                  <a:effectLst/>
                  <a:highlight>
                    <a:srgbClr val="C4E59F"/>
                  </a:highligh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移动的家乡</a:t>
              </a: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37FF4C36-2BAE-106A-922A-84C47C81588D}"/>
                </a:ext>
              </a:extLst>
            </p:cNvPr>
            <p:cNvSpPr/>
            <p:nvPr/>
          </p:nvSpPr>
          <p:spPr>
            <a:xfrm>
              <a:off x="3743" y="6905"/>
              <a:ext cx="244" cy="24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336FCFA4-0929-9AB2-375B-8FDAF3EF81E0}"/>
                </a:ext>
              </a:extLst>
            </p:cNvPr>
            <p:cNvSpPr/>
            <p:nvPr/>
          </p:nvSpPr>
          <p:spPr>
            <a:xfrm>
              <a:off x="5179" y="8470"/>
              <a:ext cx="244" cy="24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32CEA8E4-588D-2E89-5610-B9125FF5889D}"/>
                </a:ext>
              </a:extLst>
            </p:cNvPr>
            <p:cNvSpPr txBox="1"/>
            <p:nvPr/>
          </p:nvSpPr>
          <p:spPr>
            <a:xfrm>
              <a:off x="2249" y="6661"/>
              <a:ext cx="1738" cy="3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F1115"/>
                  </a:solidFill>
                  <a:effectLst/>
                  <a:highlight>
                    <a:srgbClr val="C4E59F"/>
                  </a:highligh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慢享生活</a:t>
              </a: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85EDF304-E8BA-25D2-33BA-073A2A832176}"/>
              </a:ext>
            </a:extLst>
          </p:cNvPr>
          <p:cNvSpPr/>
          <p:nvPr/>
        </p:nvSpPr>
        <p:spPr>
          <a:xfrm>
            <a:off x="826292" y="4305109"/>
            <a:ext cx="3391405" cy="174700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个原点对应的主题要打磨下，感觉和客户做的内容不太搭，比如户外沉浸对应的可以是高原游牧，城市出逃对应古镇阅览等这种感觉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573&quot;/&gt;&lt;CPresentation id=&quot;1&quot;&gt;&lt;m_precDefaultOrdinal&gt;&lt;m_yearfmt&gt;&lt;begin val=&quot;0&quot;/&gt;&lt;end val=&quot;4&quot;/&gt;&lt;/m_yearfmt&gt;&lt;/m_precDefaultOrdinal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&quot;&gt;&lt;elem m_fUsage=&quot;1.00000000000000000000E+00&quot;&gt;&lt;m_msothmcolidx val=&quot;0&quot;/&gt;&lt;m_rgb r=&quot;71&quot; g=&quot;AD&quot; b=&quot;47&quot;/&gt;&lt;/elem&gt;&lt;/m_vecMRU&gt;&lt;/m_mruColor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91xpS4ZOECcBo5h6KJPe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91xpS4ZOECcBo5h6KJPe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1540</TotalTime>
  <Words>951</Words>
  <Application>Microsoft Macintosh PowerPoint</Application>
  <PresentationFormat>宽屏</PresentationFormat>
  <Paragraphs>188</Paragraphs>
  <Slides>3</Slides>
  <Notes>3</Notes>
  <HiddenSlides>2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FZVariable-LanTingHeiK DemiBold</vt:lpstr>
      <vt:lpstr>FZVariable-LanTingHeiK Light</vt:lpstr>
      <vt:lpstr>等线</vt:lpstr>
      <vt:lpstr>等线 Light</vt:lpstr>
      <vt:lpstr>微软雅黑</vt:lpstr>
      <vt:lpstr>Arial</vt:lpstr>
      <vt:lpstr>Calibri</vt:lpstr>
      <vt:lpstr>FZVARIABLE-LANTINGHEIK MEDIUM</vt:lpstr>
      <vt:lpstr>1_Office 主题​​</vt:lpstr>
      <vt:lpstr>think-cell 幻灯片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瑶玲(袁梦)</cp:lastModifiedBy>
  <cp:revision>218</cp:revision>
  <dcterms:created xsi:type="dcterms:W3CDTF">2019-06-19T02:08:00Z</dcterms:created>
  <dcterms:modified xsi:type="dcterms:W3CDTF">2026-01-23T06:15:18Z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B72D49860B254E439D6B58B18BA69DF3_11</vt:lpwstr>
  </property>
</Properties>
</file>