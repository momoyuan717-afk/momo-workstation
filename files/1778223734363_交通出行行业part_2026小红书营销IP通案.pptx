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414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交通出行" id="{747F295B-E860-ED44-AAE4-40DAB240C70C}">
          <p14:sldIdLst>
            <p14:sldId id="414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 showGuides="1">
      <p:cViewPr varScale="1">
        <p:scale>
          <a:sx n="109" d="100"/>
          <a:sy n="109" d="100"/>
        </p:scale>
        <p:origin x="70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62A63-E9E1-6F47-8590-1FCEC7E9D55C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000BC-9E63-0F42-B936-CCB191E406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70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956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15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71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4660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62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903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DB56A-E0C3-9A57-99BB-8AAA2109D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795BAD-A5AB-50DB-0C5B-C75D38C1A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A4C5E-1643-127C-46EE-830BCB20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176AE-A693-D0D7-7357-E9A09B42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4F9C2-C05D-6180-09D3-3DBC7099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20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C791A-5991-E084-DA50-65CA8AFE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1E0AE-5420-54DD-6E5A-3E25AE4C9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061433-89E8-34D3-0EC7-9464B731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947C1C-EA0A-C57F-E7B8-5FBA4A39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DCBA1-0939-4FB6-497B-1B130AD9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89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3E815-6EDD-D1A7-A669-17F226AF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95AF5-447C-2E59-794D-4B98CE69B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E1C3A-E5DC-1857-33E1-205BFC75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E8A0C3-1030-4C0F-CE3D-6E6AF237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D779E-56D5-51D9-0897-6DB524CC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8656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77D50-1B5F-8A46-7FA8-C648A882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5E3F7-8918-7560-4A06-93BF1A131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E95E3-112A-9F94-D6AF-29B89EA88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2CF2B0-4205-B239-F852-883E0BCA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A9D415-DEED-7AA6-508A-BB507495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3D6AE9-88E5-D994-A4A0-EBD251FA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541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2ED86-D1A0-1306-A960-2E7F1593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33008B-E8F9-A18F-4581-485190BD7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1482A3-3F5A-7F1A-9509-CAD1A2CE1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25CB3B-54C4-995D-966F-43E95E97C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1D2AEC-E892-7D58-A474-2812A864B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DF49F6-04F9-ED24-096D-AB1B4E48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89CE38-6472-C273-6472-5549FB41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E2FFCF-D862-1A0E-C6F0-8E40CA04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86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E85D5-938F-808C-EF3D-6715950A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C41213-72EF-0695-4D05-E1BF01D1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1FDF9C-F851-D380-922D-C4E51C30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1F12AC-025A-AF53-A0DE-3388A90B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198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F97300-16B3-4875-F762-8B1C37FB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F1D8A2-C568-DAFE-B7F3-3B5183590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84D8E-A64D-1065-839A-D29ECD55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27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109D5-6F73-D9DE-0DB4-FEFD3343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D8704D-E92E-0F81-B516-7BA799374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E6D1E1-C940-D5B3-3C2A-524862761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1A37F7-EA69-403B-72FB-8110A0FB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54F0C1-A04B-2ADD-E63C-BD3EFB99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0E787E-402D-DB5E-5F02-5FB4DFC2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03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F8B2E-00A6-9981-B366-06DB1573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2077DB-846D-C95F-FC17-F3F4C2415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4C2058-8794-9A64-ADA1-3590B847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6E0CD3-8B0D-9FEB-1E43-9139F8D9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435F91-E3F3-9FF3-460D-ADB2BA2A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D41E4-30D3-2E2C-C7B6-73AAD495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992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46C13-CEF6-BC4B-9703-1AA444FF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C39BF2-28E6-4597-DF00-3A9E2EDFE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D9E1C6-EC5D-7142-729A-6C2856EC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919848-C72A-DB19-2E6B-ED91A4EE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F4CB85-DBAD-E16D-D153-B20C30FF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436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C27E07-81C7-1D36-66E2-A209B1334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C4B283-A90F-F5B8-1661-3110AEFDB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9526D-91B3-222A-4166-893A5265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2F6A3-4787-2360-6A87-6822CB40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F70C66-8E52-A73C-FF70-35039D69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2214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标&#10;&#10;AI 生成的内容可能不正确。">
            <a:extLst>
              <a:ext uri="{FF2B5EF4-FFF2-40B4-BE49-F238E27FC236}">
                <a16:creationId xmlns:a16="http://schemas.microsoft.com/office/drawing/2014/main" id="{EECCEA32-6A31-111B-F029-A896F5A768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59" t="39355" r="7115"/>
          <a:stretch>
            <a:fillRect/>
          </a:stretch>
        </p:blipFill>
        <p:spPr>
          <a:xfrm rot="10126090" flipH="1">
            <a:off x="-424301" y="168236"/>
            <a:ext cx="13294284" cy="7798993"/>
          </a:xfrm>
          <a:custGeom>
            <a:avLst/>
            <a:gdLst>
              <a:gd name="connsiteX0" fmla="*/ 7894305 w 13294284"/>
              <a:gd name="connsiteY0" fmla="*/ 7798993 h 7798993"/>
              <a:gd name="connsiteX1" fmla="*/ 13294284 w 13294284"/>
              <a:gd name="connsiteY1" fmla="*/ 6726650 h 7798993"/>
              <a:gd name="connsiteX2" fmla="*/ 11958487 w 13294284"/>
              <a:gd name="connsiteY2" fmla="*/ 0 h 7798993"/>
              <a:gd name="connsiteX3" fmla="*/ 0 w 13294284"/>
              <a:gd name="connsiteY3" fmla="*/ 2374750 h 7798993"/>
              <a:gd name="connsiteX4" fmla="*/ 1077161 w 13294284"/>
              <a:gd name="connsiteY4" fmla="*/ 7798993 h 779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94284" h="7798993">
                <a:moveTo>
                  <a:pt x="7894305" y="7798993"/>
                </a:moveTo>
                <a:lnTo>
                  <a:pt x="13294284" y="6726650"/>
                </a:lnTo>
                <a:lnTo>
                  <a:pt x="11958487" y="0"/>
                </a:lnTo>
                <a:lnTo>
                  <a:pt x="0" y="2374750"/>
                </a:lnTo>
                <a:lnTo>
                  <a:pt x="1077161" y="779899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2209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9686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12E6-56EC-9FC3-613C-41507F214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0DEF6F-E233-7D47-415C-D22D25DB8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3E3B5-5F47-A810-0364-7ED16A8B3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38163-7EC0-9448-B9AA-6B78A1664303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92F4F-CFC6-82F0-61AA-A107DBBD8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F48995-5663-712A-0189-2549925E6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575E5-AEEF-F448-8B9E-59B39BF920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49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tags" Target="../tags/tag2.xml"/><Relationship Id="rId16" Type="http://schemas.openxmlformats.org/officeDocument/2006/relationships/image" Target="../media/image13.png"/><Relationship Id="rId1" Type="http://schemas.openxmlformats.org/officeDocument/2006/relationships/tags" Target="../tags/tag1.xml"/><Relationship Id="rId6" Type="http://schemas.openxmlformats.org/officeDocument/2006/relationships/slide" Target="slide12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7.png"/><Relationship Id="rId3" Type="http://schemas.openxmlformats.org/officeDocument/2006/relationships/image" Target="../media/image15.jpeg"/><Relationship Id="rId21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6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8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1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10.png"/><Relationship Id="rId3" Type="http://schemas.openxmlformats.org/officeDocument/2006/relationships/image" Target="../media/image15.jpeg"/><Relationship Id="rId21" Type="http://schemas.openxmlformats.org/officeDocument/2006/relationships/image" Target="../media/image23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8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7.png"/><Relationship Id="rId28" Type="http://schemas.openxmlformats.org/officeDocument/2006/relationships/image" Target="../media/image12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6.png"/><Relationship Id="rId27" Type="http://schemas.openxmlformats.org/officeDocument/2006/relationships/image" Target="../media/image11.png"/><Relationship Id="rId30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10.png"/><Relationship Id="rId3" Type="http://schemas.openxmlformats.org/officeDocument/2006/relationships/image" Target="../media/image15.jpe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8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7.png"/><Relationship Id="rId28" Type="http://schemas.openxmlformats.org/officeDocument/2006/relationships/image" Target="../media/image12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23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.png"/><Relationship Id="rId27" Type="http://schemas.openxmlformats.org/officeDocument/2006/relationships/image" Target="../media/image11.png"/><Relationship Id="rId30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.png"/><Relationship Id="rId3" Type="http://schemas.openxmlformats.org/officeDocument/2006/relationships/image" Target="../media/image15.jpe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6.png"/><Relationship Id="rId32" Type="http://schemas.openxmlformats.org/officeDocument/2006/relationships/image" Target="../media/image14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10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31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97.png"/><Relationship Id="rId26" Type="http://schemas.openxmlformats.org/officeDocument/2006/relationships/image" Target="../media/image105.jpeg"/><Relationship Id="rId3" Type="http://schemas.openxmlformats.org/officeDocument/2006/relationships/image" Target="../media/image83.png"/><Relationship Id="rId21" Type="http://schemas.openxmlformats.org/officeDocument/2006/relationships/image" Target="../media/image100.png"/><Relationship Id="rId34" Type="http://schemas.openxmlformats.org/officeDocument/2006/relationships/image" Target="../media/image1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2.png"/><Relationship Id="rId2" Type="http://schemas.openxmlformats.org/officeDocument/2006/relationships/image" Target="../media/image82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103.png"/><Relationship Id="rId32" Type="http://schemas.openxmlformats.org/officeDocument/2006/relationships/image" Target="../media/image11.png"/><Relationship Id="rId5" Type="http://schemas.openxmlformats.org/officeDocument/2006/relationships/image" Target="../media/image85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7.png"/><Relationship Id="rId10" Type="http://schemas.openxmlformats.org/officeDocument/2006/relationships/image" Target="../media/image90.png"/><Relationship Id="rId19" Type="http://schemas.openxmlformats.org/officeDocument/2006/relationships/image" Target="../media/image98.png"/><Relationship Id="rId31" Type="http://schemas.openxmlformats.org/officeDocument/2006/relationships/image" Target="../media/image1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6.png"/><Relationship Id="rId30" Type="http://schemas.openxmlformats.org/officeDocument/2006/relationships/image" Target="../media/image9.png"/><Relationship Id="rId35" Type="http://schemas.openxmlformats.org/officeDocument/2006/relationships/image" Target="../media/image14.png"/><Relationship Id="rId8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9" Type="http://schemas.openxmlformats.org/officeDocument/2006/relationships/image" Target="../media/image12.png"/><Relationship Id="rId21" Type="http://schemas.openxmlformats.org/officeDocument/2006/relationships/image" Target="../media/image121.png"/><Relationship Id="rId34" Type="http://schemas.openxmlformats.org/officeDocument/2006/relationships/image" Target="../media/image7.png"/><Relationship Id="rId7" Type="http://schemas.openxmlformats.org/officeDocument/2006/relationships/image" Target="../media/image107.png"/><Relationship Id="rId2" Type="http://schemas.openxmlformats.org/officeDocument/2006/relationships/image" Target="../media/image82.png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41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4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10.png"/><Relationship Id="rId40" Type="http://schemas.openxmlformats.org/officeDocument/2006/relationships/image" Target="../media/image13.png"/><Relationship Id="rId5" Type="http://schemas.openxmlformats.org/officeDocument/2006/relationships/image" Target="../media/image93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9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31" Type="http://schemas.openxmlformats.org/officeDocument/2006/relationships/image" Target="../media/image131.png"/><Relationship Id="rId4" Type="http://schemas.openxmlformats.org/officeDocument/2006/relationships/image" Target="../media/image106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8.png"/><Relationship Id="rId8" Type="http://schemas.openxmlformats.org/officeDocument/2006/relationships/image" Target="../media/image108.png"/><Relationship Id="rId3" Type="http://schemas.openxmlformats.org/officeDocument/2006/relationships/image" Target="../media/image83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6.png"/><Relationship Id="rId38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9" Type="http://schemas.openxmlformats.org/officeDocument/2006/relationships/image" Target="../media/image13.png"/><Relationship Id="rId21" Type="http://schemas.openxmlformats.org/officeDocument/2006/relationships/image" Target="../media/image149.png"/><Relationship Id="rId34" Type="http://schemas.openxmlformats.org/officeDocument/2006/relationships/image" Target="../media/image8.png"/><Relationship Id="rId7" Type="http://schemas.openxmlformats.org/officeDocument/2006/relationships/image" Target="../media/image136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5" Type="http://schemas.openxmlformats.org/officeDocument/2006/relationships/image" Target="../media/image153.png"/><Relationship Id="rId33" Type="http://schemas.openxmlformats.org/officeDocument/2006/relationships/image" Target="../media/image7.png"/><Relationship Id="rId38" Type="http://schemas.openxmlformats.org/officeDocument/2006/relationships/image" Target="../media/image12.png"/><Relationship Id="rId2" Type="http://schemas.openxmlformats.org/officeDocument/2006/relationships/image" Target="../media/image82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11" Type="http://schemas.openxmlformats.org/officeDocument/2006/relationships/image" Target="../media/image139.png"/><Relationship Id="rId24" Type="http://schemas.openxmlformats.org/officeDocument/2006/relationships/image" Target="../media/image152.png"/><Relationship Id="rId32" Type="http://schemas.openxmlformats.org/officeDocument/2006/relationships/image" Target="../media/image6.png"/><Relationship Id="rId37" Type="http://schemas.openxmlformats.org/officeDocument/2006/relationships/image" Target="../media/image11.png"/><Relationship Id="rId40" Type="http://schemas.openxmlformats.org/officeDocument/2006/relationships/image" Target="../media/image14.png"/><Relationship Id="rId5" Type="http://schemas.openxmlformats.org/officeDocument/2006/relationships/image" Target="../media/image135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36" Type="http://schemas.openxmlformats.org/officeDocument/2006/relationships/image" Target="../media/image10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31" Type="http://schemas.openxmlformats.org/officeDocument/2006/relationships/image" Target="../media/image159.png"/><Relationship Id="rId4" Type="http://schemas.openxmlformats.org/officeDocument/2006/relationships/image" Target="../media/image134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35" Type="http://schemas.openxmlformats.org/officeDocument/2006/relationships/image" Target="../media/image9.png"/><Relationship Id="rId8" Type="http://schemas.openxmlformats.org/officeDocument/2006/relationships/image" Target="../media/image107.png"/><Relationship Id="rId3" Type="http://schemas.openxmlformats.org/officeDocument/2006/relationships/image" Target="../media/image13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26" Type="http://schemas.openxmlformats.org/officeDocument/2006/relationships/image" Target="../media/image182.png"/><Relationship Id="rId3" Type="http://schemas.openxmlformats.org/officeDocument/2006/relationships/image" Target="../media/image93.png"/><Relationship Id="rId21" Type="http://schemas.openxmlformats.org/officeDocument/2006/relationships/image" Target="../media/image177.png"/><Relationship Id="rId34" Type="http://schemas.openxmlformats.org/officeDocument/2006/relationships/image" Target="../media/image12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33" Type="http://schemas.openxmlformats.org/officeDocument/2006/relationships/image" Target="../media/image11.png"/><Relationship Id="rId2" Type="http://schemas.openxmlformats.org/officeDocument/2006/relationships/image" Target="../media/image83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29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24" Type="http://schemas.openxmlformats.org/officeDocument/2006/relationships/image" Target="../media/image180.png"/><Relationship Id="rId32" Type="http://schemas.openxmlformats.org/officeDocument/2006/relationships/image" Target="../media/image10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28" Type="http://schemas.openxmlformats.org/officeDocument/2006/relationships/image" Target="../media/image6.png"/><Relationship Id="rId36" Type="http://schemas.openxmlformats.org/officeDocument/2006/relationships/image" Target="../media/image14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31" Type="http://schemas.openxmlformats.org/officeDocument/2006/relationships/image" Target="../media/image9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78.png"/><Relationship Id="rId27" Type="http://schemas.openxmlformats.org/officeDocument/2006/relationships/image" Target="../media/image183.png"/><Relationship Id="rId30" Type="http://schemas.openxmlformats.org/officeDocument/2006/relationships/image" Target="../media/image8.png"/><Relationship Id="rId35" Type="http://schemas.openxmlformats.org/officeDocument/2006/relationships/image" Target="../media/image13.png"/><Relationship Id="rId8" Type="http://schemas.openxmlformats.org/officeDocument/2006/relationships/image" Target="../media/image16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4.png"/><Relationship Id="rId18" Type="http://schemas.openxmlformats.org/officeDocument/2006/relationships/image" Target="../media/image197.png"/><Relationship Id="rId26" Type="http://schemas.openxmlformats.org/officeDocument/2006/relationships/image" Target="../media/image6.png"/><Relationship Id="rId3" Type="http://schemas.openxmlformats.org/officeDocument/2006/relationships/image" Target="../media/image184.png"/><Relationship Id="rId21" Type="http://schemas.openxmlformats.org/officeDocument/2006/relationships/image" Target="../media/image200.png"/><Relationship Id="rId34" Type="http://schemas.openxmlformats.org/officeDocument/2006/relationships/image" Target="../media/image1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6.png"/><Relationship Id="rId25" Type="http://schemas.openxmlformats.org/officeDocument/2006/relationships/image" Target="../media/image93.png"/><Relationship Id="rId33" Type="http://schemas.openxmlformats.org/officeDocument/2006/relationships/image" Target="../media/image13.png"/><Relationship Id="rId2" Type="http://schemas.openxmlformats.org/officeDocument/2006/relationships/image" Target="../media/image83.png"/><Relationship Id="rId16" Type="http://schemas.openxmlformats.org/officeDocument/2006/relationships/image" Target="../media/image107.png"/><Relationship Id="rId20" Type="http://schemas.openxmlformats.org/officeDocument/2006/relationships/image" Target="../media/image199.png"/><Relationship Id="rId29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24" Type="http://schemas.openxmlformats.org/officeDocument/2006/relationships/image" Target="../media/image203.png"/><Relationship Id="rId32" Type="http://schemas.openxmlformats.org/officeDocument/2006/relationships/image" Target="../media/image12.png"/><Relationship Id="rId5" Type="http://schemas.openxmlformats.org/officeDocument/2006/relationships/image" Target="../media/image186.png"/><Relationship Id="rId15" Type="http://schemas.openxmlformats.org/officeDocument/2006/relationships/image" Target="../media/image94.png"/><Relationship Id="rId23" Type="http://schemas.openxmlformats.org/officeDocument/2006/relationships/image" Target="../media/image202.png"/><Relationship Id="rId28" Type="http://schemas.openxmlformats.org/officeDocument/2006/relationships/image" Target="../media/image8.png"/><Relationship Id="rId10" Type="http://schemas.openxmlformats.org/officeDocument/2006/relationships/image" Target="../media/image191.png"/><Relationship Id="rId19" Type="http://schemas.openxmlformats.org/officeDocument/2006/relationships/image" Target="../media/image198.png"/><Relationship Id="rId31" Type="http://schemas.openxmlformats.org/officeDocument/2006/relationships/image" Target="../media/image1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Relationship Id="rId22" Type="http://schemas.openxmlformats.org/officeDocument/2006/relationships/image" Target="../media/image201.png"/><Relationship Id="rId27" Type="http://schemas.openxmlformats.org/officeDocument/2006/relationships/image" Target="../media/image7.png"/><Relationship Id="rId30" Type="http://schemas.openxmlformats.org/officeDocument/2006/relationships/image" Target="../media/image10.png"/><Relationship Id="rId8" Type="http://schemas.openxmlformats.org/officeDocument/2006/relationships/image" Target="../media/image18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26" Type="http://schemas.openxmlformats.org/officeDocument/2006/relationships/image" Target="../media/image225.png"/><Relationship Id="rId21" Type="http://schemas.openxmlformats.org/officeDocument/2006/relationships/image" Target="../media/image220.png"/><Relationship Id="rId34" Type="http://schemas.openxmlformats.org/officeDocument/2006/relationships/image" Target="../media/image10.png"/><Relationship Id="rId7" Type="http://schemas.openxmlformats.org/officeDocument/2006/relationships/image" Target="../media/image207.png"/><Relationship Id="rId12" Type="http://schemas.openxmlformats.org/officeDocument/2006/relationships/image" Target="../media/image211.png"/><Relationship Id="rId17" Type="http://schemas.openxmlformats.org/officeDocument/2006/relationships/image" Target="../media/image216.png"/><Relationship Id="rId25" Type="http://schemas.openxmlformats.org/officeDocument/2006/relationships/image" Target="../media/image224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5.png"/><Relationship Id="rId20" Type="http://schemas.openxmlformats.org/officeDocument/2006/relationships/image" Target="../media/image219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6.png"/><Relationship Id="rId11" Type="http://schemas.openxmlformats.org/officeDocument/2006/relationships/image" Target="../media/image210.png"/><Relationship Id="rId24" Type="http://schemas.openxmlformats.org/officeDocument/2006/relationships/image" Target="../media/image223.png"/><Relationship Id="rId32" Type="http://schemas.openxmlformats.org/officeDocument/2006/relationships/image" Target="../media/image8.png"/><Relationship Id="rId37" Type="http://schemas.openxmlformats.org/officeDocument/2006/relationships/image" Target="../media/image13.png"/><Relationship Id="rId5" Type="http://schemas.openxmlformats.org/officeDocument/2006/relationships/image" Target="../media/image205.png"/><Relationship Id="rId15" Type="http://schemas.openxmlformats.org/officeDocument/2006/relationships/image" Target="../media/image214.png"/><Relationship Id="rId23" Type="http://schemas.openxmlformats.org/officeDocument/2006/relationships/image" Target="../media/image222.png"/><Relationship Id="rId28" Type="http://schemas.openxmlformats.org/officeDocument/2006/relationships/image" Target="../media/image227.png"/><Relationship Id="rId36" Type="http://schemas.openxmlformats.org/officeDocument/2006/relationships/image" Target="../media/image12.png"/><Relationship Id="rId10" Type="http://schemas.openxmlformats.org/officeDocument/2006/relationships/image" Target="../media/image209.png"/><Relationship Id="rId19" Type="http://schemas.openxmlformats.org/officeDocument/2006/relationships/image" Target="../media/image218.png"/><Relationship Id="rId31" Type="http://schemas.openxmlformats.org/officeDocument/2006/relationships/image" Target="../media/image7.png"/><Relationship Id="rId4" Type="http://schemas.openxmlformats.org/officeDocument/2006/relationships/image" Target="../media/image204.png"/><Relationship Id="rId9" Type="http://schemas.openxmlformats.org/officeDocument/2006/relationships/image" Target="../media/image208.png"/><Relationship Id="rId14" Type="http://schemas.openxmlformats.org/officeDocument/2006/relationships/image" Target="../media/image213.png"/><Relationship Id="rId22" Type="http://schemas.openxmlformats.org/officeDocument/2006/relationships/image" Target="../media/image221.png"/><Relationship Id="rId27" Type="http://schemas.openxmlformats.org/officeDocument/2006/relationships/image" Target="../media/image226.png"/><Relationship Id="rId30" Type="http://schemas.openxmlformats.org/officeDocument/2006/relationships/image" Target="../media/image6.png"/><Relationship Id="rId35" Type="http://schemas.openxmlformats.org/officeDocument/2006/relationships/image" Target="../media/image11.png"/><Relationship Id="rId8" Type="http://schemas.openxmlformats.org/officeDocument/2006/relationships/image" Target="../media/image65.png"/><Relationship Id="rId3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8.png"/><Relationship Id="rId18" Type="http://schemas.openxmlformats.org/officeDocument/2006/relationships/image" Target="../media/image243.png"/><Relationship Id="rId26" Type="http://schemas.openxmlformats.org/officeDocument/2006/relationships/image" Target="../media/image251.png"/><Relationship Id="rId39" Type="http://schemas.openxmlformats.org/officeDocument/2006/relationships/image" Target="../media/image263.png"/><Relationship Id="rId21" Type="http://schemas.openxmlformats.org/officeDocument/2006/relationships/image" Target="../media/image246.png"/><Relationship Id="rId34" Type="http://schemas.openxmlformats.org/officeDocument/2006/relationships/image" Target="../media/image258.png"/><Relationship Id="rId42" Type="http://schemas.openxmlformats.org/officeDocument/2006/relationships/image" Target="../media/image266.png"/><Relationship Id="rId47" Type="http://schemas.openxmlformats.org/officeDocument/2006/relationships/image" Target="../media/image271.png"/><Relationship Id="rId50" Type="http://schemas.openxmlformats.org/officeDocument/2006/relationships/image" Target="../media/image274.png"/><Relationship Id="rId55" Type="http://schemas.openxmlformats.org/officeDocument/2006/relationships/image" Target="../media/image8.png"/><Relationship Id="rId7" Type="http://schemas.openxmlformats.org/officeDocument/2006/relationships/image" Target="../media/image23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1.png"/><Relationship Id="rId29" Type="http://schemas.openxmlformats.org/officeDocument/2006/relationships/image" Target="../media/image254.png"/><Relationship Id="rId11" Type="http://schemas.openxmlformats.org/officeDocument/2006/relationships/image" Target="../media/image236.png"/><Relationship Id="rId24" Type="http://schemas.openxmlformats.org/officeDocument/2006/relationships/image" Target="../media/image249.png"/><Relationship Id="rId32" Type="http://schemas.openxmlformats.org/officeDocument/2006/relationships/image" Target="../media/image257.png"/><Relationship Id="rId37" Type="http://schemas.openxmlformats.org/officeDocument/2006/relationships/image" Target="../media/image261.png"/><Relationship Id="rId40" Type="http://schemas.openxmlformats.org/officeDocument/2006/relationships/image" Target="../media/image264.png"/><Relationship Id="rId45" Type="http://schemas.openxmlformats.org/officeDocument/2006/relationships/image" Target="../media/image269.png"/><Relationship Id="rId53" Type="http://schemas.openxmlformats.org/officeDocument/2006/relationships/image" Target="../media/image6.png"/><Relationship Id="rId58" Type="http://schemas.openxmlformats.org/officeDocument/2006/relationships/image" Target="../media/image11.png"/><Relationship Id="rId5" Type="http://schemas.openxmlformats.org/officeDocument/2006/relationships/image" Target="../media/image230.png"/><Relationship Id="rId61" Type="http://schemas.openxmlformats.org/officeDocument/2006/relationships/image" Target="../media/image14.png"/><Relationship Id="rId19" Type="http://schemas.openxmlformats.org/officeDocument/2006/relationships/image" Target="../media/image244.png"/><Relationship Id="rId14" Type="http://schemas.openxmlformats.org/officeDocument/2006/relationships/image" Target="../media/image239.png"/><Relationship Id="rId22" Type="http://schemas.openxmlformats.org/officeDocument/2006/relationships/image" Target="../media/image247.png"/><Relationship Id="rId27" Type="http://schemas.openxmlformats.org/officeDocument/2006/relationships/image" Target="../media/image252.png"/><Relationship Id="rId30" Type="http://schemas.openxmlformats.org/officeDocument/2006/relationships/image" Target="../media/image255.png"/><Relationship Id="rId35" Type="http://schemas.openxmlformats.org/officeDocument/2006/relationships/image" Target="../media/image259.png"/><Relationship Id="rId43" Type="http://schemas.openxmlformats.org/officeDocument/2006/relationships/image" Target="../media/image267.png"/><Relationship Id="rId48" Type="http://schemas.openxmlformats.org/officeDocument/2006/relationships/image" Target="../media/image272.png"/><Relationship Id="rId56" Type="http://schemas.openxmlformats.org/officeDocument/2006/relationships/image" Target="../media/image9.png"/><Relationship Id="rId8" Type="http://schemas.openxmlformats.org/officeDocument/2006/relationships/image" Target="../media/image233.png"/><Relationship Id="rId51" Type="http://schemas.openxmlformats.org/officeDocument/2006/relationships/image" Target="../media/image275.png"/><Relationship Id="rId3" Type="http://schemas.openxmlformats.org/officeDocument/2006/relationships/image" Target="../media/image228.png"/><Relationship Id="rId12" Type="http://schemas.openxmlformats.org/officeDocument/2006/relationships/image" Target="../media/image237.png"/><Relationship Id="rId17" Type="http://schemas.openxmlformats.org/officeDocument/2006/relationships/image" Target="../media/image242.png"/><Relationship Id="rId25" Type="http://schemas.openxmlformats.org/officeDocument/2006/relationships/image" Target="../media/image250.png"/><Relationship Id="rId33" Type="http://schemas.openxmlformats.org/officeDocument/2006/relationships/image" Target="../media/image220.png"/><Relationship Id="rId38" Type="http://schemas.openxmlformats.org/officeDocument/2006/relationships/image" Target="../media/image262.png"/><Relationship Id="rId46" Type="http://schemas.openxmlformats.org/officeDocument/2006/relationships/image" Target="../media/image270.png"/><Relationship Id="rId59" Type="http://schemas.openxmlformats.org/officeDocument/2006/relationships/image" Target="../media/image12.png"/><Relationship Id="rId20" Type="http://schemas.openxmlformats.org/officeDocument/2006/relationships/image" Target="../media/image245.png"/><Relationship Id="rId41" Type="http://schemas.openxmlformats.org/officeDocument/2006/relationships/image" Target="../media/image265.png"/><Relationship Id="rId54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1.png"/><Relationship Id="rId15" Type="http://schemas.openxmlformats.org/officeDocument/2006/relationships/image" Target="../media/image240.png"/><Relationship Id="rId23" Type="http://schemas.openxmlformats.org/officeDocument/2006/relationships/image" Target="../media/image248.png"/><Relationship Id="rId28" Type="http://schemas.openxmlformats.org/officeDocument/2006/relationships/image" Target="../media/image253.png"/><Relationship Id="rId36" Type="http://schemas.openxmlformats.org/officeDocument/2006/relationships/image" Target="../media/image260.png"/><Relationship Id="rId49" Type="http://schemas.openxmlformats.org/officeDocument/2006/relationships/image" Target="../media/image273.png"/><Relationship Id="rId57" Type="http://schemas.openxmlformats.org/officeDocument/2006/relationships/image" Target="../media/image10.png"/><Relationship Id="rId10" Type="http://schemas.openxmlformats.org/officeDocument/2006/relationships/image" Target="../media/image235.png"/><Relationship Id="rId31" Type="http://schemas.openxmlformats.org/officeDocument/2006/relationships/image" Target="../media/image256.png"/><Relationship Id="rId44" Type="http://schemas.openxmlformats.org/officeDocument/2006/relationships/image" Target="../media/image268.png"/><Relationship Id="rId52" Type="http://schemas.openxmlformats.org/officeDocument/2006/relationships/image" Target="../media/image93.png"/><Relationship Id="rId60" Type="http://schemas.openxmlformats.org/officeDocument/2006/relationships/image" Target="../media/image13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015F-3BA2-789B-2D44-46E2C4F3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 2">
            <a:extLst>
              <a:ext uri="{FF2B5EF4-FFF2-40B4-BE49-F238E27FC236}">
                <a16:creationId xmlns:a16="http://schemas.microsoft.com/office/drawing/2014/main" id="{25CE3825-1AC1-A067-F02E-52A8444E9394}"/>
              </a:ext>
            </a:extLst>
          </p:cNvPr>
          <p:cNvSpPr/>
          <p:nvPr/>
        </p:nvSpPr>
        <p:spPr>
          <a:xfrm>
            <a:off x="-767823" y="2800449"/>
            <a:ext cx="13093705" cy="2720908"/>
          </a:xfrm>
          <a:custGeom>
            <a:avLst/>
            <a:gdLst>
              <a:gd name="connsiteX0" fmla="*/ 0 w 13095726"/>
              <a:gd name="connsiteY0" fmla="*/ 251263 h 2997501"/>
              <a:gd name="connsiteX1" fmla="*/ 1692693 w 13095726"/>
              <a:gd name="connsiteY1" fmla="*/ 1383802 h 2997501"/>
              <a:gd name="connsiteX2" fmla="*/ 3668162 w 13095726"/>
              <a:gd name="connsiteY2" fmla="*/ 1610537 h 2997501"/>
              <a:gd name="connsiteX3" fmla="*/ 2992195 w 13095726"/>
              <a:gd name="connsiteY3" fmla="*/ 2410576 h 2997501"/>
              <a:gd name="connsiteX4" fmla="*/ 6951398 w 13095726"/>
              <a:gd name="connsiteY4" fmla="*/ 2659373 h 2997501"/>
              <a:gd name="connsiteX5" fmla="*/ 13095726 w 13095726"/>
              <a:gd name="connsiteY5" fmla="*/ 1956 h 2997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95726" h="2997501">
                <a:moveTo>
                  <a:pt x="0" y="251263"/>
                </a:moveTo>
                <a:cubicBezTo>
                  <a:pt x="0" y="251263"/>
                  <a:pt x="484475" y="1086609"/>
                  <a:pt x="1692693" y="1383802"/>
                </a:cubicBezTo>
                <a:cubicBezTo>
                  <a:pt x="2572223" y="1600152"/>
                  <a:pt x="3440614" y="1480084"/>
                  <a:pt x="3668162" y="1610537"/>
                </a:cubicBezTo>
                <a:cubicBezTo>
                  <a:pt x="4121666" y="1870542"/>
                  <a:pt x="2618641" y="1896209"/>
                  <a:pt x="2992195" y="2410576"/>
                </a:cubicBezTo>
                <a:cubicBezTo>
                  <a:pt x="3216521" y="2719446"/>
                  <a:pt x="4905604" y="3410742"/>
                  <a:pt x="6951398" y="2659373"/>
                </a:cubicBezTo>
                <a:cubicBezTo>
                  <a:pt x="8729746" y="2006207"/>
                  <a:pt x="9522845" y="-72617"/>
                  <a:pt x="13095726" y="1956"/>
                </a:cubicBezTo>
              </a:path>
            </a:pathLst>
          </a:custGeom>
          <a:noFill/>
          <a:ln w="23269" cap="flat">
            <a:solidFill>
              <a:srgbClr val="0BB77E"/>
            </a:solidFill>
            <a:prstDash val="solid"/>
            <a:miter/>
          </a:ln>
        </p:spPr>
        <p:txBody>
          <a:bodyPr rtlCol="0" anchor="ctr"/>
          <a:lstStyle/>
          <a:p>
            <a:pPr defTabSz="914263"/>
            <a:endParaRPr lang="zh-CN" altLang="en-US" sz="2699">
              <a:solidFill>
                <a:prstClr val="black"/>
              </a:solidFill>
              <a:latin typeface="Helvetica Neue"/>
              <a:ea typeface="方正可变兰亭黑 GBK Normal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4B32D74-5BD5-A181-03F3-E842753771F6}"/>
              </a:ext>
            </a:extLst>
          </p:cNvPr>
          <p:cNvGrpSpPr/>
          <p:nvPr/>
        </p:nvGrpSpPr>
        <p:grpSpPr>
          <a:xfrm>
            <a:off x="6725181" y="2254543"/>
            <a:ext cx="3510381" cy="2348915"/>
            <a:chOff x="6725277" y="2110183"/>
            <a:chExt cx="3510923" cy="234927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825608E-1C0D-1824-F2CF-B63CD3120553}"/>
                </a:ext>
              </a:extLst>
            </p:cNvPr>
            <p:cNvSpPr/>
            <p:nvPr/>
          </p:nvSpPr>
          <p:spPr>
            <a:xfrm>
              <a:off x="7222024" y="2368195"/>
              <a:ext cx="1346201" cy="2057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63"/>
              <a:endParaRPr lang="zh-CN" altLang="en-US" sz="2699">
                <a:solidFill>
                  <a:prstClr val="white"/>
                </a:solidFill>
                <a:latin typeface="Helvetica Neue"/>
                <a:ea typeface="方正可变兰亭黑 GBK Normal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E163021-CBF4-1F95-A165-DEA52F0F6C0A}"/>
                </a:ext>
              </a:extLst>
            </p:cNvPr>
            <p:cNvSpPr txBox="1"/>
            <p:nvPr/>
          </p:nvSpPr>
          <p:spPr>
            <a:xfrm>
              <a:off x="6725277" y="2487326"/>
              <a:ext cx="3510923" cy="1939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263"/>
              <a:r>
                <a:rPr lang="zh-CN" altLang="en-US" sz="5999" spc="300" dirty="0">
                  <a:solidFill>
                    <a:prstClr val="black"/>
                  </a:solidFill>
                  <a:latin typeface="方正可变兰亭黑 GBK DemiBold"/>
                  <a:ea typeface="方正可变兰亭黑 GBK DemiBold"/>
                </a:rPr>
                <a:t>交通出行</a:t>
              </a:r>
            </a:p>
            <a:p>
              <a:pPr defTabSz="914263"/>
              <a:r>
                <a:rPr lang="zh-CN" altLang="en-US" sz="5999" spc="300" dirty="0">
                  <a:solidFill>
                    <a:prstClr val="black"/>
                  </a:solidFill>
                  <a:latin typeface="方正可变兰亭黑 GBK DemiBold"/>
                  <a:ea typeface="方正可变兰亭黑 GBK DemiBold"/>
                </a:rPr>
                <a:t>行业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45728C7-1F69-C389-121C-E52277890F48}"/>
                </a:ext>
              </a:extLst>
            </p:cNvPr>
            <p:cNvSpPr txBox="1"/>
            <p:nvPr/>
          </p:nvSpPr>
          <p:spPr>
            <a:xfrm>
              <a:off x="8038031" y="3924635"/>
              <a:ext cx="1132367" cy="534826"/>
            </a:xfrm>
            <a:custGeom>
              <a:avLst/>
              <a:gdLst/>
              <a:ahLst/>
              <a:cxnLst/>
              <a:rect l="l" t="t" r="r" b="b"/>
              <a:pathLst>
                <a:path w="1355217" h="640080">
                  <a:moveTo>
                    <a:pt x="571119" y="207264"/>
                  </a:moveTo>
                  <a:lnTo>
                    <a:pt x="551307" y="209550"/>
                  </a:lnTo>
                  <a:lnTo>
                    <a:pt x="525399" y="217932"/>
                  </a:lnTo>
                  <a:lnTo>
                    <a:pt x="500253" y="231648"/>
                  </a:lnTo>
                  <a:lnTo>
                    <a:pt x="478917" y="248412"/>
                  </a:lnTo>
                  <a:lnTo>
                    <a:pt x="463677" y="265938"/>
                  </a:lnTo>
                  <a:lnTo>
                    <a:pt x="458343" y="274320"/>
                  </a:lnTo>
                  <a:lnTo>
                    <a:pt x="453009" y="279654"/>
                  </a:lnTo>
                  <a:lnTo>
                    <a:pt x="447675" y="282702"/>
                  </a:lnTo>
                  <a:lnTo>
                    <a:pt x="442341" y="283464"/>
                  </a:lnTo>
                  <a:lnTo>
                    <a:pt x="437007" y="286512"/>
                  </a:lnTo>
                  <a:lnTo>
                    <a:pt x="430149" y="293370"/>
                  </a:lnTo>
                  <a:lnTo>
                    <a:pt x="423291" y="303276"/>
                  </a:lnTo>
                  <a:lnTo>
                    <a:pt x="416433" y="314706"/>
                  </a:lnTo>
                  <a:lnTo>
                    <a:pt x="411861" y="326898"/>
                  </a:lnTo>
                  <a:lnTo>
                    <a:pt x="405765" y="345186"/>
                  </a:lnTo>
                  <a:lnTo>
                    <a:pt x="400431" y="367284"/>
                  </a:lnTo>
                  <a:lnTo>
                    <a:pt x="395859" y="389382"/>
                  </a:lnTo>
                  <a:lnTo>
                    <a:pt x="393573" y="402336"/>
                  </a:lnTo>
                  <a:lnTo>
                    <a:pt x="392049" y="416052"/>
                  </a:lnTo>
                  <a:lnTo>
                    <a:pt x="391287" y="431292"/>
                  </a:lnTo>
                  <a:lnTo>
                    <a:pt x="390525" y="448056"/>
                  </a:lnTo>
                  <a:lnTo>
                    <a:pt x="391287" y="472440"/>
                  </a:lnTo>
                  <a:lnTo>
                    <a:pt x="393573" y="487680"/>
                  </a:lnTo>
                  <a:lnTo>
                    <a:pt x="397383" y="496824"/>
                  </a:lnTo>
                  <a:lnTo>
                    <a:pt x="403479" y="499872"/>
                  </a:lnTo>
                  <a:lnTo>
                    <a:pt x="411861" y="500634"/>
                  </a:lnTo>
                  <a:lnTo>
                    <a:pt x="421767" y="499872"/>
                  </a:lnTo>
                  <a:lnTo>
                    <a:pt x="430911" y="497586"/>
                  </a:lnTo>
                  <a:lnTo>
                    <a:pt x="439293" y="494538"/>
                  </a:lnTo>
                  <a:lnTo>
                    <a:pt x="456057" y="483870"/>
                  </a:lnTo>
                  <a:lnTo>
                    <a:pt x="476631" y="467106"/>
                  </a:lnTo>
                  <a:lnTo>
                    <a:pt x="497205" y="448056"/>
                  </a:lnTo>
                  <a:lnTo>
                    <a:pt x="513207" y="430530"/>
                  </a:lnTo>
                  <a:lnTo>
                    <a:pt x="526161" y="411480"/>
                  </a:lnTo>
                  <a:lnTo>
                    <a:pt x="543687" y="383286"/>
                  </a:lnTo>
                  <a:lnTo>
                    <a:pt x="559689" y="354330"/>
                  </a:lnTo>
                  <a:lnTo>
                    <a:pt x="571119" y="331470"/>
                  </a:lnTo>
                  <a:lnTo>
                    <a:pt x="579501" y="307848"/>
                  </a:lnTo>
                  <a:lnTo>
                    <a:pt x="587121" y="281940"/>
                  </a:lnTo>
                  <a:lnTo>
                    <a:pt x="592455" y="256794"/>
                  </a:lnTo>
                  <a:lnTo>
                    <a:pt x="594741" y="237744"/>
                  </a:lnTo>
                  <a:lnTo>
                    <a:pt x="592455" y="221742"/>
                  </a:lnTo>
                  <a:lnTo>
                    <a:pt x="584835" y="211836"/>
                  </a:lnTo>
                  <a:close/>
                  <a:moveTo>
                    <a:pt x="718566" y="183642"/>
                  </a:moveTo>
                  <a:lnTo>
                    <a:pt x="736854" y="186690"/>
                  </a:lnTo>
                  <a:lnTo>
                    <a:pt x="741426" y="188214"/>
                  </a:lnTo>
                  <a:lnTo>
                    <a:pt x="751332" y="190500"/>
                  </a:lnTo>
                  <a:lnTo>
                    <a:pt x="763524" y="192786"/>
                  </a:lnTo>
                  <a:lnTo>
                    <a:pt x="778002" y="195072"/>
                  </a:lnTo>
                  <a:lnTo>
                    <a:pt x="812292" y="201930"/>
                  </a:lnTo>
                  <a:lnTo>
                    <a:pt x="832104" y="207264"/>
                  </a:lnTo>
                  <a:lnTo>
                    <a:pt x="842772" y="214884"/>
                  </a:lnTo>
                  <a:lnTo>
                    <a:pt x="849630" y="225552"/>
                  </a:lnTo>
                  <a:lnTo>
                    <a:pt x="853440" y="234696"/>
                  </a:lnTo>
                  <a:lnTo>
                    <a:pt x="854964" y="243840"/>
                  </a:lnTo>
                  <a:lnTo>
                    <a:pt x="854964" y="253746"/>
                  </a:lnTo>
                  <a:lnTo>
                    <a:pt x="853440" y="265176"/>
                  </a:lnTo>
                  <a:lnTo>
                    <a:pt x="847344" y="284226"/>
                  </a:lnTo>
                  <a:lnTo>
                    <a:pt x="838200" y="304038"/>
                  </a:lnTo>
                  <a:lnTo>
                    <a:pt x="824484" y="325374"/>
                  </a:lnTo>
                  <a:lnTo>
                    <a:pt x="805434" y="350520"/>
                  </a:lnTo>
                  <a:lnTo>
                    <a:pt x="784860" y="377952"/>
                  </a:lnTo>
                  <a:lnTo>
                    <a:pt x="768096" y="402336"/>
                  </a:lnTo>
                  <a:lnTo>
                    <a:pt x="754380" y="426720"/>
                  </a:lnTo>
                  <a:lnTo>
                    <a:pt x="740664" y="454914"/>
                  </a:lnTo>
                  <a:lnTo>
                    <a:pt x="730758" y="477012"/>
                  </a:lnTo>
                  <a:lnTo>
                    <a:pt x="724662" y="493014"/>
                  </a:lnTo>
                  <a:lnTo>
                    <a:pt x="720852" y="505968"/>
                  </a:lnTo>
                  <a:lnTo>
                    <a:pt x="717042" y="519684"/>
                  </a:lnTo>
                  <a:lnTo>
                    <a:pt x="715518" y="531114"/>
                  </a:lnTo>
                  <a:lnTo>
                    <a:pt x="716280" y="537210"/>
                  </a:lnTo>
                  <a:lnTo>
                    <a:pt x="720852" y="539496"/>
                  </a:lnTo>
                  <a:lnTo>
                    <a:pt x="729234" y="537972"/>
                  </a:lnTo>
                  <a:lnTo>
                    <a:pt x="747522" y="531876"/>
                  </a:lnTo>
                  <a:lnTo>
                    <a:pt x="776478" y="519684"/>
                  </a:lnTo>
                  <a:lnTo>
                    <a:pt x="807720" y="505206"/>
                  </a:lnTo>
                  <a:lnTo>
                    <a:pt x="835152" y="490728"/>
                  </a:lnTo>
                  <a:lnTo>
                    <a:pt x="846582" y="484632"/>
                  </a:lnTo>
                  <a:lnTo>
                    <a:pt x="860298" y="477774"/>
                  </a:lnTo>
                  <a:lnTo>
                    <a:pt x="875538" y="471678"/>
                  </a:lnTo>
                  <a:lnTo>
                    <a:pt x="889254" y="465582"/>
                  </a:lnTo>
                  <a:lnTo>
                    <a:pt x="903732" y="460248"/>
                  </a:lnTo>
                  <a:lnTo>
                    <a:pt x="918972" y="454152"/>
                  </a:lnTo>
                  <a:lnTo>
                    <a:pt x="934212" y="448056"/>
                  </a:lnTo>
                  <a:lnTo>
                    <a:pt x="946404" y="442722"/>
                  </a:lnTo>
                  <a:lnTo>
                    <a:pt x="963168" y="436626"/>
                  </a:lnTo>
                  <a:lnTo>
                    <a:pt x="973074" y="434340"/>
                  </a:lnTo>
                  <a:lnTo>
                    <a:pt x="979170" y="435864"/>
                  </a:lnTo>
                  <a:lnTo>
                    <a:pt x="980694" y="441198"/>
                  </a:lnTo>
                  <a:lnTo>
                    <a:pt x="979170" y="444246"/>
                  </a:lnTo>
                  <a:lnTo>
                    <a:pt x="974598" y="447294"/>
                  </a:lnTo>
                  <a:lnTo>
                    <a:pt x="966978" y="451866"/>
                  </a:lnTo>
                  <a:lnTo>
                    <a:pt x="954786" y="458724"/>
                  </a:lnTo>
                  <a:lnTo>
                    <a:pt x="942594" y="464820"/>
                  </a:lnTo>
                  <a:lnTo>
                    <a:pt x="928878" y="471678"/>
                  </a:lnTo>
                  <a:lnTo>
                    <a:pt x="915924" y="479298"/>
                  </a:lnTo>
                  <a:lnTo>
                    <a:pt x="904494" y="486156"/>
                  </a:lnTo>
                  <a:lnTo>
                    <a:pt x="893064" y="493014"/>
                  </a:lnTo>
                  <a:lnTo>
                    <a:pt x="880110" y="500634"/>
                  </a:lnTo>
                  <a:lnTo>
                    <a:pt x="867918" y="507492"/>
                  </a:lnTo>
                  <a:lnTo>
                    <a:pt x="856488" y="513588"/>
                  </a:lnTo>
                  <a:lnTo>
                    <a:pt x="845058" y="520446"/>
                  </a:lnTo>
                  <a:lnTo>
                    <a:pt x="830580" y="529590"/>
                  </a:lnTo>
                  <a:lnTo>
                    <a:pt x="815340" y="538734"/>
                  </a:lnTo>
                  <a:lnTo>
                    <a:pt x="800100" y="548640"/>
                  </a:lnTo>
                  <a:lnTo>
                    <a:pt x="785622" y="557784"/>
                  </a:lnTo>
                  <a:lnTo>
                    <a:pt x="771144" y="566166"/>
                  </a:lnTo>
                  <a:lnTo>
                    <a:pt x="758952" y="572262"/>
                  </a:lnTo>
                  <a:lnTo>
                    <a:pt x="749808" y="576072"/>
                  </a:lnTo>
                  <a:lnTo>
                    <a:pt x="733806" y="580644"/>
                  </a:lnTo>
                  <a:lnTo>
                    <a:pt x="716280" y="582930"/>
                  </a:lnTo>
                  <a:lnTo>
                    <a:pt x="700278" y="583692"/>
                  </a:lnTo>
                  <a:lnTo>
                    <a:pt x="688848" y="582168"/>
                  </a:lnTo>
                  <a:lnTo>
                    <a:pt x="681228" y="578358"/>
                  </a:lnTo>
                  <a:lnTo>
                    <a:pt x="674370" y="572262"/>
                  </a:lnTo>
                  <a:lnTo>
                    <a:pt x="669798" y="566166"/>
                  </a:lnTo>
                  <a:lnTo>
                    <a:pt x="666750" y="558546"/>
                  </a:lnTo>
                  <a:lnTo>
                    <a:pt x="667512" y="546354"/>
                  </a:lnTo>
                  <a:lnTo>
                    <a:pt x="671322" y="527304"/>
                  </a:lnTo>
                  <a:lnTo>
                    <a:pt x="677418" y="506730"/>
                  </a:lnTo>
                  <a:lnTo>
                    <a:pt x="685038" y="487680"/>
                  </a:lnTo>
                  <a:lnTo>
                    <a:pt x="688086" y="480060"/>
                  </a:lnTo>
                  <a:lnTo>
                    <a:pt x="691896" y="471678"/>
                  </a:lnTo>
                  <a:lnTo>
                    <a:pt x="695706" y="463296"/>
                  </a:lnTo>
                  <a:lnTo>
                    <a:pt x="698754" y="455676"/>
                  </a:lnTo>
                  <a:lnTo>
                    <a:pt x="708660" y="434340"/>
                  </a:lnTo>
                  <a:lnTo>
                    <a:pt x="723900" y="406908"/>
                  </a:lnTo>
                  <a:lnTo>
                    <a:pt x="744474" y="374904"/>
                  </a:lnTo>
                  <a:lnTo>
                    <a:pt x="769620" y="338328"/>
                  </a:lnTo>
                  <a:lnTo>
                    <a:pt x="793242" y="301752"/>
                  </a:lnTo>
                  <a:lnTo>
                    <a:pt x="806196" y="273558"/>
                  </a:lnTo>
                  <a:lnTo>
                    <a:pt x="808482" y="253746"/>
                  </a:lnTo>
                  <a:lnTo>
                    <a:pt x="799338" y="243078"/>
                  </a:lnTo>
                  <a:lnTo>
                    <a:pt x="784098" y="240030"/>
                  </a:lnTo>
                  <a:lnTo>
                    <a:pt x="761238" y="236220"/>
                  </a:lnTo>
                  <a:lnTo>
                    <a:pt x="738378" y="233934"/>
                  </a:lnTo>
                  <a:lnTo>
                    <a:pt x="726186" y="233934"/>
                  </a:lnTo>
                  <a:lnTo>
                    <a:pt x="720090" y="233934"/>
                  </a:lnTo>
                  <a:lnTo>
                    <a:pt x="712470" y="230886"/>
                  </a:lnTo>
                  <a:lnTo>
                    <a:pt x="704850" y="226314"/>
                  </a:lnTo>
                  <a:lnTo>
                    <a:pt x="700278" y="220218"/>
                  </a:lnTo>
                  <a:lnTo>
                    <a:pt x="697230" y="203454"/>
                  </a:lnTo>
                  <a:lnTo>
                    <a:pt x="704088" y="190500"/>
                  </a:lnTo>
                  <a:close/>
                  <a:moveTo>
                    <a:pt x="51816" y="183642"/>
                  </a:moveTo>
                  <a:lnTo>
                    <a:pt x="70104" y="186690"/>
                  </a:lnTo>
                  <a:lnTo>
                    <a:pt x="74676" y="188214"/>
                  </a:lnTo>
                  <a:lnTo>
                    <a:pt x="84582" y="190500"/>
                  </a:lnTo>
                  <a:lnTo>
                    <a:pt x="96774" y="192786"/>
                  </a:lnTo>
                  <a:lnTo>
                    <a:pt x="111252" y="195072"/>
                  </a:lnTo>
                  <a:lnTo>
                    <a:pt x="145542" y="201930"/>
                  </a:lnTo>
                  <a:lnTo>
                    <a:pt x="165354" y="207264"/>
                  </a:lnTo>
                  <a:lnTo>
                    <a:pt x="176022" y="214884"/>
                  </a:lnTo>
                  <a:lnTo>
                    <a:pt x="182880" y="225552"/>
                  </a:lnTo>
                  <a:lnTo>
                    <a:pt x="186690" y="234696"/>
                  </a:lnTo>
                  <a:lnTo>
                    <a:pt x="188214" y="243840"/>
                  </a:lnTo>
                  <a:lnTo>
                    <a:pt x="188214" y="253746"/>
                  </a:lnTo>
                  <a:lnTo>
                    <a:pt x="186690" y="265176"/>
                  </a:lnTo>
                  <a:lnTo>
                    <a:pt x="180594" y="284226"/>
                  </a:lnTo>
                  <a:lnTo>
                    <a:pt x="171450" y="304038"/>
                  </a:lnTo>
                  <a:lnTo>
                    <a:pt x="157734" y="325374"/>
                  </a:lnTo>
                  <a:lnTo>
                    <a:pt x="138684" y="350520"/>
                  </a:lnTo>
                  <a:lnTo>
                    <a:pt x="118110" y="377952"/>
                  </a:lnTo>
                  <a:lnTo>
                    <a:pt x="101346" y="402336"/>
                  </a:lnTo>
                  <a:lnTo>
                    <a:pt x="87630" y="426720"/>
                  </a:lnTo>
                  <a:lnTo>
                    <a:pt x="73914" y="454914"/>
                  </a:lnTo>
                  <a:lnTo>
                    <a:pt x="64008" y="477012"/>
                  </a:lnTo>
                  <a:lnTo>
                    <a:pt x="57912" y="493014"/>
                  </a:lnTo>
                  <a:lnTo>
                    <a:pt x="54102" y="505968"/>
                  </a:lnTo>
                  <a:lnTo>
                    <a:pt x="50292" y="519684"/>
                  </a:lnTo>
                  <a:lnTo>
                    <a:pt x="48768" y="531114"/>
                  </a:lnTo>
                  <a:lnTo>
                    <a:pt x="49530" y="537210"/>
                  </a:lnTo>
                  <a:lnTo>
                    <a:pt x="54102" y="539496"/>
                  </a:lnTo>
                  <a:lnTo>
                    <a:pt x="62484" y="537972"/>
                  </a:lnTo>
                  <a:lnTo>
                    <a:pt x="80772" y="531876"/>
                  </a:lnTo>
                  <a:lnTo>
                    <a:pt x="109728" y="519684"/>
                  </a:lnTo>
                  <a:lnTo>
                    <a:pt x="140970" y="505206"/>
                  </a:lnTo>
                  <a:lnTo>
                    <a:pt x="168402" y="490728"/>
                  </a:lnTo>
                  <a:lnTo>
                    <a:pt x="179832" y="484632"/>
                  </a:lnTo>
                  <a:lnTo>
                    <a:pt x="193548" y="477774"/>
                  </a:lnTo>
                  <a:lnTo>
                    <a:pt x="208788" y="471678"/>
                  </a:lnTo>
                  <a:lnTo>
                    <a:pt x="222504" y="465582"/>
                  </a:lnTo>
                  <a:lnTo>
                    <a:pt x="236982" y="460248"/>
                  </a:lnTo>
                  <a:lnTo>
                    <a:pt x="252222" y="454152"/>
                  </a:lnTo>
                  <a:lnTo>
                    <a:pt x="267462" y="448056"/>
                  </a:lnTo>
                  <a:lnTo>
                    <a:pt x="279654" y="442722"/>
                  </a:lnTo>
                  <a:lnTo>
                    <a:pt x="296418" y="436626"/>
                  </a:lnTo>
                  <a:lnTo>
                    <a:pt x="306324" y="434340"/>
                  </a:lnTo>
                  <a:lnTo>
                    <a:pt x="312420" y="435864"/>
                  </a:lnTo>
                  <a:lnTo>
                    <a:pt x="313944" y="441198"/>
                  </a:lnTo>
                  <a:lnTo>
                    <a:pt x="312420" y="444246"/>
                  </a:lnTo>
                  <a:lnTo>
                    <a:pt x="307848" y="447294"/>
                  </a:lnTo>
                  <a:lnTo>
                    <a:pt x="300228" y="451866"/>
                  </a:lnTo>
                  <a:lnTo>
                    <a:pt x="288036" y="458724"/>
                  </a:lnTo>
                  <a:lnTo>
                    <a:pt x="275844" y="464820"/>
                  </a:lnTo>
                  <a:lnTo>
                    <a:pt x="262128" y="471678"/>
                  </a:lnTo>
                  <a:lnTo>
                    <a:pt x="249174" y="479298"/>
                  </a:lnTo>
                  <a:lnTo>
                    <a:pt x="237744" y="486156"/>
                  </a:lnTo>
                  <a:lnTo>
                    <a:pt x="226314" y="493014"/>
                  </a:lnTo>
                  <a:lnTo>
                    <a:pt x="213360" y="500634"/>
                  </a:lnTo>
                  <a:lnTo>
                    <a:pt x="201168" y="507492"/>
                  </a:lnTo>
                  <a:lnTo>
                    <a:pt x="189738" y="513588"/>
                  </a:lnTo>
                  <a:lnTo>
                    <a:pt x="178308" y="520446"/>
                  </a:lnTo>
                  <a:lnTo>
                    <a:pt x="163830" y="529590"/>
                  </a:lnTo>
                  <a:lnTo>
                    <a:pt x="148590" y="538734"/>
                  </a:lnTo>
                  <a:lnTo>
                    <a:pt x="133350" y="548640"/>
                  </a:lnTo>
                  <a:lnTo>
                    <a:pt x="118872" y="557784"/>
                  </a:lnTo>
                  <a:lnTo>
                    <a:pt x="104394" y="566166"/>
                  </a:lnTo>
                  <a:lnTo>
                    <a:pt x="92202" y="572262"/>
                  </a:lnTo>
                  <a:lnTo>
                    <a:pt x="83058" y="576072"/>
                  </a:lnTo>
                  <a:lnTo>
                    <a:pt x="67056" y="580644"/>
                  </a:lnTo>
                  <a:lnTo>
                    <a:pt x="49530" y="582930"/>
                  </a:lnTo>
                  <a:lnTo>
                    <a:pt x="33528" y="583692"/>
                  </a:lnTo>
                  <a:lnTo>
                    <a:pt x="22098" y="582168"/>
                  </a:lnTo>
                  <a:lnTo>
                    <a:pt x="14478" y="578358"/>
                  </a:lnTo>
                  <a:lnTo>
                    <a:pt x="7620" y="572262"/>
                  </a:lnTo>
                  <a:lnTo>
                    <a:pt x="3048" y="566166"/>
                  </a:lnTo>
                  <a:lnTo>
                    <a:pt x="0" y="558546"/>
                  </a:lnTo>
                  <a:lnTo>
                    <a:pt x="762" y="546354"/>
                  </a:lnTo>
                  <a:lnTo>
                    <a:pt x="4572" y="527304"/>
                  </a:lnTo>
                  <a:lnTo>
                    <a:pt x="10668" y="506730"/>
                  </a:lnTo>
                  <a:lnTo>
                    <a:pt x="18288" y="487680"/>
                  </a:lnTo>
                  <a:lnTo>
                    <a:pt x="21336" y="480060"/>
                  </a:lnTo>
                  <a:lnTo>
                    <a:pt x="25146" y="471678"/>
                  </a:lnTo>
                  <a:lnTo>
                    <a:pt x="28956" y="463296"/>
                  </a:lnTo>
                  <a:lnTo>
                    <a:pt x="32004" y="455676"/>
                  </a:lnTo>
                  <a:lnTo>
                    <a:pt x="41910" y="434340"/>
                  </a:lnTo>
                  <a:lnTo>
                    <a:pt x="57150" y="406908"/>
                  </a:lnTo>
                  <a:lnTo>
                    <a:pt x="77724" y="374904"/>
                  </a:lnTo>
                  <a:lnTo>
                    <a:pt x="102870" y="338328"/>
                  </a:lnTo>
                  <a:lnTo>
                    <a:pt x="126492" y="301752"/>
                  </a:lnTo>
                  <a:lnTo>
                    <a:pt x="139446" y="273558"/>
                  </a:lnTo>
                  <a:lnTo>
                    <a:pt x="141732" y="253746"/>
                  </a:lnTo>
                  <a:lnTo>
                    <a:pt x="132588" y="243078"/>
                  </a:lnTo>
                  <a:lnTo>
                    <a:pt x="117348" y="240030"/>
                  </a:lnTo>
                  <a:lnTo>
                    <a:pt x="94488" y="236220"/>
                  </a:lnTo>
                  <a:lnTo>
                    <a:pt x="71628" y="233934"/>
                  </a:lnTo>
                  <a:lnTo>
                    <a:pt x="59436" y="233934"/>
                  </a:lnTo>
                  <a:lnTo>
                    <a:pt x="53340" y="233934"/>
                  </a:lnTo>
                  <a:lnTo>
                    <a:pt x="45720" y="230886"/>
                  </a:lnTo>
                  <a:lnTo>
                    <a:pt x="38100" y="226314"/>
                  </a:lnTo>
                  <a:lnTo>
                    <a:pt x="33528" y="220218"/>
                  </a:lnTo>
                  <a:lnTo>
                    <a:pt x="30480" y="203454"/>
                  </a:lnTo>
                  <a:lnTo>
                    <a:pt x="37338" y="190500"/>
                  </a:lnTo>
                  <a:close/>
                  <a:moveTo>
                    <a:pt x="576453" y="170688"/>
                  </a:moveTo>
                  <a:lnTo>
                    <a:pt x="597789" y="172212"/>
                  </a:lnTo>
                  <a:lnTo>
                    <a:pt x="614553" y="179832"/>
                  </a:lnTo>
                  <a:lnTo>
                    <a:pt x="628269" y="193548"/>
                  </a:lnTo>
                  <a:lnTo>
                    <a:pt x="632079" y="198882"/>
                  </a:lnTo>
                  <a:lnTo>
                    <a:pt x="634365" y="204216"/>
                  </a:lnTo>
                  <a:lnTo>
                    <a:pt x="635127" y="211836"/>
                  </a:lnTo>
                  <a:lnTo>
                    <a:pt x="635127" y="224028"/>
                  </a:lnTo>
                  <a:lnTo>
                    <a:pt x="633603" y="245364"/>
                  </a:lnTo>
                  <a:lnTo>
                    <a:pt x="629031" y="268224"/>
                  </a:lnTo>
                  <a:lnTo>
                    <a:pt x="620649" y="293370"/>
                  </a:lnTo>
                  <a:lnTo>
                    <a:pt x="608457" y="323850"/>
                  </a:lnTo>
                  <a:lnTo>
                    <a:pt x="590931" y="361950"/>
                  </a:lnTo>
                  <a:lnTo>
                    <a:pt x="577977" y="389382"/>
                  </a:lnTo>
                  <a:lnTo>
                    <a:pt x="568071" y="409194"/>
                  </a:lnTo>
                  <a:lnTo>
                    <a:pt x="558927" y="422148"/>
                  </a:lnTo>
                  <a:lnTo>
                    <a:pt x="531495" y="457962"/>
                  </a:lnTo>
                  <a:lnTo>
                    <a:pt x="511683" y="483108"/>
                  </a:lnTo>
                  <a:lnTo>
                    <a:pt x="496443" y="499872"/>
                  </a:lnTo>
                  <a:lnTo>
                    <a:pt x="480441" y="513588"/>
                  </a:lnTo>
                  <a:lnTo>
                    <a:pt x="472821" y="519684"/>
                  </a:lnTo>
                  <a:lnTo>
                    <a:pt x="464439" y="525780"/>
                  </a:lnTo>
                  <a:lnTo>
                    <a:pt x="455295" y="531876"/>
                  </a:lnTo>
                  <a:lnTo>
                    <a:pt x="447675" y="535686"/>
                  </a:lnTo>
                  <a:lnTo>
                    <a:pt x="439293" y="540258"/>
                  </a:lnTo>
                  <a:lnTo>
                    <a:pt x="431673" y="542544"/>
                  </a:lnTo>
                  <a:lnTo>
                    <a:pt x="423291" y="544068"/>
                  </a:lnTo>
                  <a:lnTo>
                    <a:pt x="412623" y="544830"/>
                  </a:lnTo>
                  <a:lnTo>
                    <a:pt x="404241" y="544830"/>
                  </a:lnTo>
                  <a:lnTo>
                    <a:pt x="395859" y="544068"/>
                  </a:lnTo>
                  <a:lnTo>
                    <a:pt x="389763" y="543306"/>
                  </a:lnTo>
                  <a:lnTo>
                    <a:pt x="384429" y="542544"/>
                  </a:lnTo>
                  <a:lnTo>
                    <a:pt x="375285" y="537210"/>
                  </a:lnTo>
                  <a:lnTo>
                    <a:pt x="366903" y="529590"/>
                  </a:lnTo>
                  <a:lnTo>
                    <a:pt x="359283" y="520446"/>
                  </a:lnTo>
                  <a:lnTo>
                    <a:pt x="355473" y="512064"/>
                  </a:lnTo>
                  <a:lnTo>
                    <a:pt x="351663" y="496062"/>
                  </a:lnTo>
                  <a:lnTo>
                    <a:pt x="349377" y="476250"/>
                  </a:lnTo>
                  <a:lnTo>
                    <a:pt x="348615" y="453390"/>
                  </a:lnTo>
                  <a:lnTo>
                    <a:pt x="349377" y="429006"/>
                  </a:lnTo>
                  <a:lnTo>
                    <a:pt x="353949" y="374904"/>
                  </a:lnTo>
                  <a:lnTo>
                    <a:pt x="364617" y="327660"/>
                  </a:lnTo>
                  <a:lnTo>
                    <a:pt x="379095" y="289560"/>
                  </a:lnTo>
                  <a:lnTo>
                    <a:pt x="398145" y="260604"/>
                  </a:lnTo>
                  <a:lnTo>
                    <a:pt x="403479" y="255270"/>
                  </a:lnTo>
                  <a:lnTo>
                    <a:pt x="408051" y="249936"/>
                  </a:lnTo>
                  <a:lnTo>
                    <a:pt x="411861" y="245364"/>
                  </a:lnTo>
                  <a:lnTo>
                    <a:pt x="414147" y="242316"/>
                  </a:lnTo>
                  <a:lnTo>
                    <a:pt x="424815" y="230886"/>
                  </a:lnTo>
                  <a:lnTo>
                    <a:pt x="437007" y="217170"/>
                  </a:lnTo>
                  <a:lnTo>
                    <a:pt x="448437" y="205740"/>
                  </a:lnTo>
                  <a:lnTo>
                    <a:pt x="455295" y="199644"/>
                  </a:lnTo>
                  <a:lnTo>
                    <a:pt x="461391" y="197358"/>
                  </a:lnTo>
                  <a:lnTo>
                    <a:pt x="468249" y="196596"/>
                  </a:lnTo>
                  <a:lnTo>
                    <a:pt x="474345" y="197358"/>
                  </a:lnTo>
                  <a:lnTo>
                    <a:pt x="481203" y="200406"/>
                  </a:lnTo>
                  <a:lnTo>
                    <a:pt x="485775" y="201930"/>
                  </a:lnTo>
                  <a:lnTo>
                    <a:pt x="489585" y="201168"/>
                  </a:lnTo>
                  <a:lnTo>
                    <a:pt x="496443" y="198120"/>
                  </a:lnTo>
                  <a:lnTo>
                    <a:pt x="507873" y="190500"/>
                  </a:lnTo>
                  <a:lnTo>
                    <a:pt x="518541" y="183642"/>
                  </a:lnTo>
                  <a:lnTo>
                    <a:pt x="527685" y="179070"/>
                  </a:lnTo>
                  <a:lnTo>
                    <a:pt x="537591" y="176022"/>
                  </a:lnTo>
                  <a:lnTo>
                    <a:pt x="550545" y="173736"/>
                  </a:lnTo>
                  <a:close/>
                  <a:moveTo>
                    <a:pt x="1333119" y="0"/>
                  </a:moveTo>
                  <a:lnTo>
                    <a:pt x="1337691" y="762"/>
                  </a:lnTo>
                  <a:lnTo>
                    <a:pt x="1341501" y="3810"/>
                  </a:lnTo>
                  <a:lnTo>
                    <a:pt x="1346835" y="8382"/>
                  </a:lnTo>
                  <a:lnTo>
                    <a:pt x="1350645" y="12954"/>
                  </a:lnTo>
                  <a:lnTo>
                    <a:pt x="1352931" y="16764"/>
                  </a:lnTo>
                  <a:lnTo>
                    <a:pt x="1354455" y="21336"/>
                  </a:lnTo>
                  <a:lnTo>
                    <a:pt x="1355217" y="25146"/>
                  </a:lnTo>
                  <a:lnTo>
                    <a:pt x="1353693" y="32766"/>
                  </a:lnTo>
                  <a:lnTo>
                    <a:pt x="1349121" y="40386"/>
                  </a:lnTo>
                  <a:lnTo>
                    <a:pt x="1342263" y="46482"/>
                  </a:lnTo>
                  <a:lnTo>
                    <a:pt x="1335405" y="50292"/>
                  </a:lnTo>
                  <a:lnTo>
                    <a:pt x="1320927" y="57912"/>
                  </a:lnTo>
                  <a:lnTo>
                    <a:pt x="1301115" y="70866"/>
                  </a:lnTo>
                  <a:lnTo>
                    <a:pt x="1279017" y="89916"/>
                  </a:lnTo>
                  <a:lnTo>
                    <a:pt x="1256157" y="111252"/>
                  </a:lnTo>
                  <a:lnTo>
                    <a:pt x="1234821" y="134874"/>
                  </a:lnTo>
                  <a:lnTo>
                    <a:pt x="1214247" y="160020"/>
                  </a:lnTo>
                  <a:lnTo>
                    <a:pt x="1194435" y="186690"/>
                  </a:lnTo>
                  <a:lnTo>
                    <a:pt x="1176147" y="215646"/>
                  </a:lnTo>
                  <a:lnTo>
                    <a:pt x="1170051" y="224028"/>
                  </a:lnTo>
                  <a:lnTo>
                    <a:pt x="1164717" y="232410"/>
                  </a:lnTo>
                  <a:lnTo>
                    <a:pt x="1160145" y="240030"/>
                  </a:lnTo>
                  <a:lnTo>
                    <a:pt x="1156335" y="244602"/>
                  </a:lnTo>
                  <a:lnTo>
                    <a:pt x="1144905" y="264414"/>
                  </a:lnTo>
                  <a:lnTo>
                    <a:pt x="1127379" y="298704"/>
                  </a:lnTo>
                  <a:lnTo>
                    <a:pt x="1109091" y="335280"/>
                  </a:lnTo>
                  <a:lnTo>
                    <a:pt x="1097661" y="362712"/>
                  </a:lnTo>
                  <a:lnTo>
                    <a:pt x="1093851" y="371856"/>
                  </a:lnTo>
                  <a:lnTo>
                    <a:pt x="1089279" y="384048"/>
                  </a:lnTo>
                  <a:lnTo>
                    <a:pt x="1083945" y="397764"/>
                  </a:lnTo>
                  <a:lnTo>
                    <a:pt x="1078611" y="411480"/>
                  </a:lnTo>
                  <a:lnTo>
                    <a:pt x="1069467" y="440436"/>
                  </a:lnTo>
                  <a:lnTo>
                    <a:pt x="1062609" y="466344"/>
                  </a:lnTo>
                  <a:lnTo>
                    <a:pt x="1059561" y="493776"/>
                  </a:lnTo>
                  <a:lnTo>
                    <a:pt x="1058799" y="527304"/>
                  </a:lnTo>
                  <a:lnTo>
                    <a:pt x="1058799" y="550164"/>
                  </a:lnTo>
                  <a:lnTo>
                    <a:pt x="1058799" y="563880"/>
                  </a:lnTo>
                  <a:lnTo>
                    <a:pt x="1060323" y="571500"/>
                  </a:lnTo>
                  <a:lnTo>
                    <a:pt x="1063371" y="578358"/>
                  </a:lnTo>
                  <a:lnTo>
                    <a:pt x="1069467" y="588264"/>
                  </a:lnTo>
                  <a:lnTo>
                    <a:pt x="1074039" y="593598"/>
                  </a:lnTo>
                  <a:lnTo>
                    <a:pt x="1080135" y="596646"/>
                  </a:lnTo>
                  <a:lnTo>
                    <a:pt x="1089279" y="598932"/>
                  </a:lnTo>
                  <a:lnTo>
                    <a:pt x="1109853" y="598932"/>
                  </a:lnTo>
                  <a:lnTo>
                    <a:pt x="1129665" y="592074"/>
                  </a:lnTo>
                  <a:lnTo>
                    <a:pt x="1149477" y="578358"/>
                  </a:lnTo>
                  <a:lnTo>
                    <a:pt x="1169289" y="557784"/>
                  </a:lnTo>
                  <a:lnTo>
                    <a:pt x="1174623" y="550926"/>
                  </a:lnTo>
                  <a:lnTo>
                    <a:pt x="1181481" y="542544"/>
                  </a:lnTo>
                  <a:lnTo>
                    <a:pt x="1188339" y="534162"/>
                  </a:lnTo>
                  <a:lnTo>
                    <a:pt x="1195197" y="525780"/>
                  </a:lnTo>
                  <a:lnTo>
                    <a:pt x="1207389" y="509778"/>
                  </a:lnTo>
                  <a:lnTo>
                    <a:pt x="1218057" y="493014"/>
                  </a:lnTo>
                  <a:lnTo>
                    <a:pt x="1225677" y="476250"/>
                  </a:lnTo>
                  <a:lnTo>
                    <a:pt x="1230249" y="463296"/>
                  </a:lnTo>
                  <a:lnTo>
                    <a:pt x="1231011" y="459486"/>
                  </a:lnTo>
                  <a:lnTo>
                    <a:pt x="1230249" y="456438"/>
                  </a:lnTo>
                  <a:lnTo>
                    <a:pt x="1227963" y="454152"/>
                  </a:lnTo>
                  <a:lnTo>
                    <a:pt x="1223391" y="451866"/>
                  </a:lnTo>
                  <a:lnTo>
                    <a:pt x="1209675" y="448818"/>
                  </a:lnTo>
                  <a:lnTo>
                    <a:pt x="1192911" y="448818"/>
                  </a:lnTo>
                  <a:lnTo>
                    <a:pt x="1175385" y="450342"/>
                  </a:lnTo>
                  <a:lnTo>
                    <a:pt x="1159383" y="454914"/>
                  </a:lnTo>
                  <a:lnTo>
                    <a:pt x="1144143" y="461010"/>
                  </a:lnTo>
                  <a:lnTo>
                    <a:pt x="1128141" y="469392"/>
                  </a:lnTo>
                  <a:lnTo>
                    <a:pt x="1113663" y="477774"/>
                  </a:lnTo>
                  <a:lnTo>
                    <a:pt x="1103757" y="485394"/>
                  </a:lnTo>
                  <a:lnTo>
                    <a:pt x="1095375" y="490728"/>
                  </a:lnTo>
                  <a:lnTo>
                    <a:pt x="1087755" y="492252"/>
                  </a:lnTo>
                  <a:lnTo>
                    <a:pt x="1080135" y="490728"/>
                  </a:lnTo>
                  <a:lnTo>
                    <a:pt x="1074039" y="486156"/>
                  </a:lnTo>
                  <a:lnTo>
                    <a:pt x="1068705" y="475488"/>
                  </a:lnTo>
                  <a:lnTo>
                    <a:pt x="1070991" y="467106"/>
                  </a:lnTo>
                  <a:lnTo>
                    <a:pt x="1081659" y="456438"/>
                  </a:lnTo>
                  <a:lnTo>
                    <a:pt x="1102233" y="444246"/>
                  </a:lnTo>
                  <a:lnTo>
                    <a:pt x="1146429" y="425958"/>
                  </a:lnTo>
                  <a:lnTo>
                    <a:pt x="1194435" y="414528"/>
                  </a:lnTo>
                  <a:lnTo>
                    <a:pt x="1235583" y="411480"/>
                  </a:lnTo>
                  <a:lnTo>
                    <a:pt x="1261491" y="419100"/>
                  </a:lnTo>
                  <a:lnTo>
                    <a:pt x="1267587" y="426720"/>
                  </a:lnTo>
                  <a:lnTo>
                    <a:pt x="1272159" y="435102"/>
                  </a:lnTo>
                  <a:lnTo>
                    <a:pt x="1274445" y="444246"/>
                  </a:lnTo>
                  <a:lnTo>
                    <a:pt x="1273683" y="451866"/>
                  </a:lnTo>
                  <a:lnTo>
                    <a:pt x="1269111" y="465582"/>
                  </a:lnTo>
                  <a:lnTo>
                    <a:pt x="1259967" y="485394"/>
                  </a:lnTo>
                  <a:lnTo>
                    <a:pt x="1246251" y="509016"/>
                  </a:lnTo>
                  <a:lnTo>
                    <a:pt x="1230249" y="533400"/>
                  </a:lnTo>
                  <a:lnTo>
                    <a:pt x="1208151" y="563118"/>
                  </a:lnTo>
                  <a:lnTo>
                    <a:pt x="1181481" y="592074"/>
                  </a:lnTo>
                  <a:lnTo>
                    <a:pt x="1154811" y="615696"/>
                  </a:lnTo>
                  <a:lnTo>
                    <a:pt x="1132713" y="631698"/>
                  </a:lnTo>
                  <a:lnTo>
                    <a:pt x="1122807" y="636270"/>
                  </a:lnTo>
                  <a:lnTo>
                    <a:pt x="1114425" y="638556"/>
                  </a:lnTo>
                  <a:lnTo>
                    <a:pt x="1106805" y="640080"/>
                  </a:lnTo>
                  <a:lnTo>
                    <a:pt x="1095375" y="640080"/>
                  </a:lnTo>
                  <a:lnTo>
                    <a:pt x="1083945" y="640080"/>
                  </a:lnTo>
                  <a:lnTo>
                    <a:pt x="1076325" y="638556"/>
                  </a:lnTo>
                  <a:lnTo>
                    <a:pt x="1068705" y="637032"/>
                  </a:lnTo>
                  <a:lnTo>
                    <a:pt x="1061085" y="633222"/>
                  </a:lnTo>
                  <a:lnTo>
                    <a:pt x="1050417" y="626364"/>
                  </a:lnTo>
                  <a:lnTo>
                    <a:pt x="1040511" y="617982"/>
                  </a:lnTo>
                  <a:lnTo>
                    <a:pt x="1032129" y="608076"/>
                  </a:lnTo>
                  <a:lnTo>
                    <a:pt x="1026795" y="598170"/>
                  </a:lnTo>
                  <a:lnTo>
                    <a:pt x="1022985" y="582930"/>
                  </a:lnTo>
                  <a:lnTo>
                    <a:pt x="1019937" y="562356"/>
                  </a:lnTo>
                  <a:lnTo>
                    <a:pt x="1019175" y="539496"/>
                  </a:lnTo>
                  <a:lnTo>
                    <a:pt x="1019937" y="518160"/>
                  </a:lnTo>
                  <a:lnTo>
                    <a:pt x="1025271" y="488442"/>
                  </a:lnTo>
                  <a:lnTo>
                    <a:pt x="1034415" y="448056"/>
                  </a:lnTo>
                  <a:lnTo>
                    <a:pt x="1044321" y="408432"/>
                  </a:lnTo>
                  <a:lnTo>
                    <a:pt x="1053465" y="377952"/>
                  </a:lnTo>
                  <a:lnTo>
                    <a:pt x="1067181" y="343662"/>
                  </a:lnTo>
                  <a:lnTo>
                    <a:pt x="1079373" y="313944"/>
                  </a:lnTo>
                  <a:lnTo>
                    <a:pt x="1090803" y="289560"/>
                  </a:lnTo>
                  <a:lnTo>
                    <a:pt x="1100709" y="270510"/>
                  </a:lnTo>
                  <a:lnTo>
                    <a:pt x="1106805" y="259842"/>
                  </a:lnTo>
                  <a:lnTo>
                    <a:pt x="1113663" y="248412"/>
                  </a:lnTo>
                  <a:lnTo>
                    <a:pt x="1119759" y="236220"/>
                  </a:lnTo>
                  <a:lnTo>
                    <a:pt x="1125855" y="225552"/>
                  </a:lnTo>
                  <a:lnTo>
                    <a:pt x="1141857" y="200406"/>
                  </a:lnTo>
                  <a:lnTo>
                    <a:pt x="1168527" y="161544"/>
                  </a:lnTo>
                  <a:lnTo>
                    <a:pt x="1197483" y="120396"/>
                  </a:lnTo>
                  <a:lnTo>
                    <a:pt x="1221105" y="88392"/>
                  </a:lnTo>
                  <a:lnTo>
                    <a:pt x="1226439" y="83058"/>
                  </a:lnTo>
                  <a:lnTo>
                    <a:pt x="1235583" y="73914"/>
                  </a:lnTo>
                  <a:lnTo>
                    <a:pt x="1247775" y="63246"/>
                  </a:lnTo>
                  <a:lnTo>
                    <a:pt x="1261491" y="51816"/>
                  </a:lnTo>
                  <a:lnTo>
                    <a:pt x="1275969" y="39624"/>
                  </a:lnTo>
                  <a:lnTo>
                    <a:pt x="1288923" y="28956"/>
                  </a:lnTo>
                  <a:lnTo>
                    <a:pt x="1298829" y="19050"/>
                  </a:lnTo>
                  <a:lnTo>
                    <a:pt x="1305687" y="12954"/>
                  </a:lnTo>
                  <a:lnTo>
                    <a:pt x="1311021" y="7620"/>
                  </a:lnTo>
                  <a:lnTo>
                    <a:pt x="1316355" y="3810"/>
                  </a:lnTo>
                  <a:lnTo>
                    <a:pt x="1320927" y="1524"/>
                  </a:lnTo>
                  <a:lnTo>
                    <a:pt x="1327023" y="762"/>
                  </a:lnTo>
                  <a:close/>
                </a:path>
              </a:pathLst>
            </a:custGeom>
            <a:solidFill>
              <a:srgbClr val="0BB77E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6" tIns="45713" rIns="91426" bIns="4571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263"/>
              <a:endParaRPr lang="zh-CN" altLang="en-US" sz="5999" dirty="0">
                <a:solidFill>
                  <a:srgbClr val="0BB77E"/>
                </a:solidFill>
                <a:latin typeface="默陌专辑手写体" panose="02000603000000000000" pitchFamily="2" charset="-122"/>
                <a:ea typeface="默陌专辑手写体" panose="02000603000000000000" pitchFamily="2" charset="-122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F9252D3-EE60-C0A3-7126-D7E94C98D0A7}"/>
                </a:ext>
              </a:extLst>
            </p:cNvPr>
            <p:cNvGrpSpPr/>
            <p:nvPr/>
          </p:nvGrpSpPr>
          <p:grpSpPr>
            <a:xfrm>
              <a:off x="6811434" y="2110183"/>
              <a:ext cx="1520824" cy="316200"/>
              <a:chOff x="6654801" y="2148283"/>
              <a:chExt cx="1520824" cy="316200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90024F83-9044-620F-1DE6-4D04A31D5474}"/>
                  </a:ext>
                </a:extLst>
              </p:cNvPr>
              <p:cNvSpPr/>
              <p:nvPr/>
            </p:nvSpPr>
            <p:spPr>
              <a:xfrm>
                <a:off x="6654801" y="2148283"/>
                <a:ext cx="1520824" cy="313268"/>
              </a:xfrm>
              <a:prstGeom prst="roundRect">
                <a:avLst>
                  <a:gd name="adj" fmla="val 50000"/>
                </a:avLst>
              </a:prstGeom>
              <a:solidFill>
                <a:srgbClr val="0BB77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63"/>
                <a:endParaRPr lang="zh-CN" altLang="en-US" sz="2699">
                  <a:solidFill>
                    <a:prstClr val="white"/>
                  </a:solidFill>
                  <a:latin typeface="Helvetica Neue"/>
                  <a:ea typeface="方正可变兰亭黑 GBK Normal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0FA2FE3-ADFE-8BEB-875C-6B2DBB94DCC8}"/>
                  </a:ext>
                </a:extLst>
              </p:cNvPr>
              <p:cNvSpPr txBox="1"/>
              <p:nvPr/>
            </p:nvSpPr>
            <p:spPr>
              <a:xfrm>
                <a:off x="6700920" y="2187442"/>
                <a:ext cx="1428587" cy="277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 defTabSz="914263"/>
                <a:r>
                  <a:rPr lang="zh-CN" altLang="en-US" sz="1200" spc="200" dirty="0">
                    <a:solidFill>
                      <a:prstClr val="white"/>
                    </a:solidFill>
                    <a:latin typeface="方正可变兰亭黑 GBK DemiBold"/>
                    <a:ea typeface="方正可变兰亭黑 GBK DemiBold"/>
                  </a:rPr>
                  <a:t>小红书营销</a:t>
                </a:r>
                <a:r>
                  <a:rPr lang="en-US" altLang="zh-CN" sz="1200" spc="200" dirty="0">
                    <a:solidFill>
                      <a:prstClr val="white"/>
                    </a:solidFill>
                    <a:latin typeface="方正可变兰亭黑 GBK DemiBold"/>
                    <a:ea typeface="方正可变兰亭黑 GBK DemiBold"/>
                  </a:rPr>
                  <a:t>IP</a:t>
                </a:r>
                <a:endParaRPr lang="en-GB" altLang="zh-CN" sz="1200" spc="200" dirty="0">
                  <a:solidFill>
                    <a:prstClr val="white"/>
                  </a:solidFill>
                  <a:latin typeface="方正可变兰亭黑 GBK DemiBold"/>
                  <a:ea typeface="方正可变兰亭黑 GBK DemiBold"/>
                </a:endParaRPr>
              </a:p>
            </p:txBody>
          </p:sp>
        </p:grp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236DF864-B0BA-8732-C022-563D0E1E90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610"/>
          <a:stretch>
            <a:fillRect/>
          </a:stretch>
        </p:blipFill>
        <p:spPr>
          <a:xfrm>
            <a:off x="8743542" y="2786348"/>
            <a:ext cx="3591293" cy="2749110"/>
          </a:xfrm>
          <a:prstGeom prst="rect">
            <a:avLst/>
          </a:prstGeom>
        </p:spPr>
      </p:pic>
      <p:sp>
        <p:nvSpPr>
          <p:cNvPr id="11" name="PA-圆角矩形 1">
            <a:extLst>
              <a:ext uri="{FF2B5EF4-FFF2-40B4-BE49-F238E27FC236}">
                <a16:creationId xmlns:a16="http://schemas.microsoft.com/office/drawing/2014/main" id="{9AA21375-F19D-8DE3-4A72-7B102CE7E3F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80000">
            <a:off x="2791282" y="562073"/>
            <a:ext cx="3187973" cy="5756567"/>
          </a:xfrm>
          <a:prstGeom prst="roundRect">
            <a:avLst>
              <a:gd name="adj" fmla="val 7626"/>
            </a:avLst>
          </a:prstGeom>
          <a:solidFill>
            <a:schemeClr val="accent5">
              <a:lumMod val="75000"/>
            </a:schemeClr>
          </a:solidFill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kumimoji="1" lang="zh-CN" altLang="en-US" sz="2699">
              <a:solidFill>
                <a:prstClr val="black"/>
              </a:solidFill>
              <a:latin typeface="Helvetica Neue"/>
              <a:ea typeface="方正可变兰亭黑 GBK Normal"/>
            </a:endParaRPr>
          </a:p>
        </p:txBody>
      </p:sp>
      <p:sp>
        <p:nvSpPr>
          <p:cNvPr id="6" name="PA-圆角矩形 1">
            <a:extLst>
              <a:ext uri="{FF2B5EF4-FFF2-40B4-BE49-F238E27FC236}">
                <a16:creationId xmlns:a16="http://schemas.microsoft.com/office/drawing/2014/main" id="{80DFA1E8-AF3F-C627-B9A0-6765F5D46BE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21480000">
            <a:off x="2789403" y="633806"/>
            <a:ext cx="3187973" cy="5684785"/>
          </a:xfrm>
          <a:prstGeom prst="roundRect">
            <a:avLst>
              <a:gd name="adj" fmla="val 7626"/>
            </a:avLst>
          </a:prstGeom>
          <a:solidFill>
            <a:schemeClr val="accent4">
              <a:lumMod val="75000"/>
            </a:schemeClr>
          </a:solidFill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kumimoji="1" lang="zh-CN" altLang="en-US" sz="2699">
              <a:solidFill>
                <a:prstClr val="black"/>
              </a:solidFill>
              <a:latin typeface="Helvetica Neue"/>
              <a:ea typeface="方正可变兰亭黑 GBK Normal"/>
            </a:endParaRPr>
          </a:p>
        </p:txBody>
      </p:sp>
      <p:pic>
        <p:nvPicPr>
          <p:cNvPr id="3" name="Mask group">
            <a:extLst>
              <a:ext uri="{FF2B5EF4-FFF2-40B4-BE49-F238E27FC236}">
                <a16:creationId xmlns:a16="http://schemas.microsoft.com/office/drawing/2014/main" id="{B68FB977-9BC9-87FB-78F5-7F1A2F018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9" r="12769"/>
          <a:stretch/>
        </p:blipFill>
        <p:spPr>
          <a:xfrm>
            <a:off x="2804477" y="582835"/>
            <a:ext cx="3179973" cy="5692331"/>
          </a:xfrm>
          <a:prstGeom prst="roundRect">
            <a:avLst>
              <a:gd name="adj" fmla="val 8082"/>
            </a:avLst>
          </a:prstGeom>
        </p:spPr>
      </p:pic>
      <p:sp>
        <p:nvSpPr>
          <p:cNvPr id="20" name="图形 18">
            <a:extLst>
              <a:ext uri="{FF2B5EF4-FFF2-40B4-BE49-F238E27FC236}">
                <a16:creationId xmlns:a16="http://schemas.microsoft.com/office/drawing/2014/main" id="{80A24757-C528-7228-8D79-32B1D1A08D68}"/>
              </a:ext>
            </a:extLst>
          </p:cNvPr>
          <p:cNvSpPr/>
          <p:nvPr/>
        </p:nvSpPr>
        <p:spPr>
          <a:xfrm>
            <a:off x="-767822" y="3036213"/>
            <a:ext cx="3753722" cy="1960063"/>
          </a:xfrm>
          <a:custGeom>
            <a:avLst/>
            <a:gdLst>
              <a:gd name="connsiteX0" fmla="*/ 0 w 12926532"/>
              <a:gd name="connsiteY0" fmla="*/ 251263 h 2997501"/>
              <a:gd name="connsiteX1" fmla="*/ 1670824 w 12926532"/>
              <a:gd name="connsiteY1" fmla="*/ 1383802 h 2997501"/>
              <a:gd name="connsiteX2" fmla="*/ 3620770 w 12926532"/>
              <a:gd name="connsiteY2" fmla="*/ 1610537 h 2997501"/>
              <a:gd name="connsiteX3" fmla="*/ 2953536 w 12926532"/>
              <a:gd name="connsiteY3" fmla="*/ 2410576 h 2997501"/>
              <a:gd name="connsiteX4" fmla="*/ 6861587 w 12926532"/>
              <a:gd name="connsiteY4" fmla="*/ 2659373 h 2997501"/>
              <a:gd name="connsiteX5" fmla="*/ 12926532 w 12926532"/>
              <a:gd name="connsiteY5" fmla="*/ 1956 h 2997501"/>
              <a:gd name="connsiteX0" fmla="*/ 0 w 6861587"/>
              <a:gd name="connsiteY0" fmla="*/ 0 h 2746238"/>
              <a:gd name="connsiteX1" fmla="*/ 1670824 w 6861587"/>
              <a:gd name="connsiteY1" fmla="*/ 1132539 h 2746238"/>
              <a:gd name="connsiteX2" fmla="*/ 3620770 w 6861587"/>
              <a:gd name="connsiteY2" fmla="*/ 1359274 h 2746238"/>
              <a:gd name="connsiteX3" fmla="*/ 2953536 w 6861587"/>
              <a:gd name="connsiteY3" fmla="*/ 2159313 h 2746238"/>
              <a:gd name="connsiteX4" fmla="*/ 6861587 w 6861587"/>
              <a:gd name="connsiteY4" fmla="*/ 2408110 h 2746238"/>
              <a:gd name="connsiteX0" fmla="*/ 0 w 3705796"/>
              <a:gd name="connsiteY0" fmla="*/ 0 h 2159313"/>
              <a:gd name="connsiteX1" fmla="*/ 1670824 w 3705796"/>
              <a:gd name="connsiteY1" fmla="*/ 1132539 h 2159313"/>
              <a:gd name="connsiteX2" fmla="*/ 3620770 w 3705796"/>
              <a:gd name="connsiteY2" fmla="*/ 1359274 h 2159313"/>
              <a:gd name="connsiteX3" fmla="*/ 2953536 w 3705796"/>
              <a:gd name="connsiteY3" fmla="*/ 2159313 h 215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5796" h="2159313">
                <a:moveTo>
                  <a:pt x="0" y="0"/>
                </a:moveTo>
                <a:cubicBezTo>
                  <a:pt x="0" y="0"/>
                  <a:pt x="478216" y="835346"/>
                  <a:pt x="1670824" y="1132539"/>
                </a:cubicBezTo>
                <a:cubicBezTo>
                  <a:pt x="2538990" y="1348889"/>
                  <a:pt x="3396162" y="1228821"/>
                  <a:pt x="3620770" y="1359274"/>
                </a:cubicBezTo>
                <a:cubicBezTo>
                  <a:pt x="4068414" y="1619279"/>
                  <a:pt x="2584808" y="1644946"/>
                  <a:pt x="2953536" y="2159313"/>
                </a:cubicBezTo>
              </a:path>
            </a:pathLst>
          </a:custGeom>
          <a:noFill/>
          <a:ln w="22981" cap="flat">
            <a:solidFill>
              <a:srgbClr val="0BB77E"/>
            </a:solidFill>
            <a:prstDash val="solid"/>
            <a:miter/>
          </a:ln>
        </p:spPr>
        <p:txBody>
          <a:bodyPr rtlCol="0" anchor="ctr"/>
          <a:lstStyle/>
          <a:p>
            <a:pPr defTabSz="914263"/>
            <a:endParaRPr lang="zh-CN" altLang="en-US" sz="2699">
              <a:solidFill>
                <a:prstClr val="black"/>
              </a:solidFill>
              <a:latin typeface="Helvetica Neue"/>
              <a:ea typeface="方正可变兰亭黑 GBK Normal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FC943A-2CBE-F69C-808C-46CB2A399BDA}"/>
              </a:ext>
            </a:extLst>
          </p:cNvPr>
          <p:cNvGrpSpPr/>
          <p:nvPr/>
        </p:nvGrpSpPr>
        <p:grpSpPr>
          <a:xfrm>
            <a:off x="9246520" y="6269761"/>
            <a:ext cx="2705475" cy="276999"/>
            <a:chOff x="13869780" y="9404653"/>
            <a:chExt cx="4058212" cy="415499"/>
          </a:xfrm>
        </p:grpSpPr>
        <p:sp>
          <p:nvSpPr>
            <p:cNvPr id="4" name="文本框 3">
              <a:hlinkClick r:id="rId6" action="ppaction://hlinksldjump" highlightClick="1"/>
              <a:extLst>
                <a:ext uri="{FF2B5EF4-FFF2-40B4-BE49-F238E27FC236}">
                  <a16:creationId xmlns:a16="http://schemas.microsoft.com/office/drawing/2014/main" id="{137EBD7F-7902-04AF-5B58-42273F502625}"/>
                </a:ext>
              </a:extLst>
            </p:cNvPr>
            <p:cNvSpPr txBox="1"/>
            <p:nvPr/>
          </p:nvSpPr>
          <p:spPr>
            <a:xfrm>
              <a:off x="14334325" y="9404653"/>
              <a:ext cx="3593667" cy="415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 defTabSz="914263"/>
              <a:r>
                <a:rPr lang="zh-CN" altLang="en-US" sz="1200" spc="5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方正可变兰亭黑 GBK Normal"/>
                  <a:ea typeface="方正可变兰亭黑 GBK Normal"/>
                </a:rPr>
                <a:t>返回</a:t>
              </a:r>
              <a:r>
                <a:rPr lang="zh-CN" altLang="en-US" sz="1200" spc="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方正可变兰亭黑 GBK Normal"/>
                  <a:ea typeface="方正可变兰亭黑 GBK Normal"/>
                </a:rPr>
                <a:t> </a:t>
              </a:r>
              <a:r>
                <a:rPr lang="en-US" altLang="zh-CN" sz="1200" spc="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方正可变兰亭黑 GBK SemiBold" panose="02000600000000000000" pitchFamily="2" charset="-122"/>
                  <a:ea typeface="方正可变兰亭黑 GBK SemiBold" panose="02000600000000000000" pitchFamily="2" charset="-122"/>
                </a:rPr>
                <a:t>2026</a:t>
              </a:r>
              <a:r>
                <a:rPr lang="zh-CN" altLang="en-US" sz="1200" spc="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方正可变兰亭黑 GBK SemiBold" panose="02000600000000000000" pitchFamily="2" charset="-122"/>
                  <a:ea typeface="方正可变兰亭黑 GBK SemiBold" panose="02000600000000000000" pitchFamily="2" charset="-122"/>
                </a:rPr>
                <a:t>小红书营销</a:t>
              </a:r>
              <a:r>
                <a:rPr lang="en-US" altLang="zh-CN" sz="1200" spc="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方正可变兰亭黑 GBK SemiBold" panose="02000600000000000000" pitchFamily="2" charset="-122"/>
                  <a:ea typeface="方正可变兰亭黑 GBK SemiBold" panose="02000600000000000000" pitchFamily="2" charset="-122"/>
                </a:rPr>
                <a:t>IP</a:t>
              </a:r>
              <a:r>
                <a:rPr lang="zh-CN" altLang="en-US" sz="1200" spc="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方正可变兰亭黑 GBK SemiBold" panose="02000600000000000000" pitchFamily="2" charset="-122"/>
                  <a:ea typeface="方正可变兰亭黑 GBK SemiBold" panose="02000600000000000000" pitchFamily="2" charset="-122"/>
                </a:rPr>
                <a:t>导航</a:t>
              </a:r>
              <a:endParaRPr lang="en-GB" altLang="zh-CN" sz="1200" spc="50" dirty="0">
                <a:solidFill>
                  <a:prstClr val="black">
                    <a:lumMod val="75000"/>
                    <a:lumOff val="25000"/>
                  </a:prstClr>
                </a:solidFill>
                <a:latin typeface="方正可变兰亭黑 GBK SemiBold" panose="02000600000000000000" pitchFamily="2" charset="-122"/>
                <a:ea typeface="方正可变兰亭黑 GBK SemiBold" panose="02000600000000000000" pitchFamily="2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1E7B4BB-1299-EA02-FF5A-06464AB02C41}"/>
                </a:ext>
              </a:extLst>
            </p:cNvPr>
            <p:cNvGrpSpPr/>
            <p:nvPr/>
          </p:nvGrpSpPr>
          <p:grpSpPr>
            <a:xfrm>
              <a:off x="13869780" y="9422319"/>
              <a:ext cx="674062" cy="380101"/>
              <a:chOff x="10045700" y="6338888"/>
              <a:chExt cx="245882" cy="138652"/>
            </a:xfrm>
          </p:grpSpPr>
          <p:sp>
            <p:nvSpPr>
              <p:cNvPr id="7" name="矩形: 圆角 26">
                <a:hlinkClick r:id="rId6" action="ppaction://hlinksldjump" highlightClick="1"/>
                <a:extLst>
                  <a:ext uri="{FF2B5EF4-FFF2-40B4-BE49-F238E27FC236}">
                    <a16:creationId xmlns:a16="http://schemas.microsoft.com/office/drawing/2014/main" id="{F9CA3695-B8D8-C035-81AA-B35F17D73274}"/>
                  </a:ext>
                </a:extLst>
              </p:cNvPr>
              <p:cNvSpPr/>
              <p:nvPr/>
            </p:nvSpPr>
            <p:spPr>
              <a:xfrm>
                <a:off x="10045700" y="6338888"/>
                <a:ext cx="245882" cy="1386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63"/>
                <a:endParaRPr lang="zh-CN" altLang="en-US" sz="2699">
                  <a:solidFill>
                    <a:prstClr val="white"/>
                  </a:solidFill>
                  <a:latin typeface="Helvetica Neue"/>
                  <a:ea typeface="方正可变兰亭黑 GBK Normal"/>
                </a:endParaRPr>
              </a:p>
            </p:txBody>
          </p:sp>
          <p:pic>
            <p:nvPicPr>
              <p:cNvPr id="8" name="图形 7">
                <a:extLst>
                  <a:ext uri="{FF2B5EF4-FFF2-40B4-BE49-F238E27FC236}">
                    <a16:creationId xmlns:a16="http://schemas.microsoft.com/office/drawing/2014/main" id="{9B6518A6-BAA8-EDD2-8E8D-94950CF9D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108370" y="6344767"/>
                <a:ext cx="123719" cy="123718"/>
              </a:xfrm>
              <a:prstGeom prst="rect">
                <a:avLst/>
              </a:prstGeom>
            </p:spPr>
          </p:pic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E57A20D-DBE7-D32F-E79F-82151B9599CB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E965C771-9DF2-8CCE-99B4-EFEB10AB3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3" name="Vector" descr="Vector">
              <a:extLst>
                <a:ext uri="{FF2B5EF4-FFF2-40B4-BE49-F238E27FC236}">
                  <a16:creationId xmlns:a16="http://schemas.microsoft.com/office/drawing/2014/main" id="{91C3E14B-44DE-162A-1EAF-08D955C24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4" name="Vector" descr="Vector">
              <a:extLst>
                <a:ext uri="{FF2B5EF4-FFF2-40B4-BE49-F238E27FC236}">
                  <a16:creationId xmlns:a16="http://schemas.microsoft.com/office/drawing/2014/main" id="{DA2276CB-0E56-404D-7A89-5A9EDCF4F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5" name="Vector" descr="Vector">
              <a:extLst>
                <a:ext uri="{FF2B5EF4-FFF2-40B4-BE49-F238E27FC236}">
                  <a16:creationId xmlns:a16="http://schemas.microsoft.com/office/drawing/2014/main" id="{2E281D46-E605-542E-3FEF-FCF1E48B0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6" name="Vector" descr="Vector">
              <a:extLst>
                <a:ext uri="{FF2B5EF4-FFF2-40B4-BE49-F238E27FC236}">
                  <a16:creationId xmlns:a16="http://schemas.microsoft.com/office/drawing/2014/main" id="{9EF8552A-9E73-52B2-C1E1-A8D9699FA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7" name="Vector" descr="Vector">
              <a:extLst>
                <a:ext uri="{FF2B5EF4-FFF2-40B4-BE49-F238E27FC236}">
                  <a16:creationId xmlns:a16="http://schemas.microsoft.com/office/drawing/2014/main" id="{7985C7CF-1019-68A7-15A2-834FCB655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8" name="Vector" descr="Vector">
              <a:extLst>
                <a:ext uri="{FF2B5EF4-FFF2-40B4-BE49-F238E27FC236}">
                  <a16:creationId xmlns:a16="http://schemas.microsoft.com/office/drawing/2014/main" id="{C27D5E63-22F4-079A-85A6-043382F2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9" name="Vector" descr="Vector">
              <a:extLst>
                <a:ext uri="{FF2B5EF4-FFF2-40B4-BE49-F238E27FC236}">
                  <a16:creationId xmlns:a16="http://schemas.microsoft.com/office/drawing/2014/main" id="{C8744FA7-F6D8-F949-2D0A-04424CB1A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0" name="Vector" descr="Vector">
              <a:extLst>
                <a:ext uri="{FF2B5EF4-FFF2-40B4-BE49-F238E27FC236}">
                  <a16:creationId xmlns:a16="http://schemas.microsoft.com/office/drawing/2014/main" id="{03205AC1-1925-2EF1-7A7C-A96AB27DF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304484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6" name="背景" descr="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7" name="Rectangle 914" descr="Rectangle 9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" y="1854200"/>
            <a:ext cx="1981200" cy="386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8" name="Rectangle 916" descr="Rectangle 9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450" y="1854200"/>
            <a:ext cx="1981200" cy="386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9" name="Rectangle 918" descr="Rectangle 9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750" y="1854200"/>
            <a:ext cx="1981200" cy="386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0" name="Rectangle 920" descr="Rectangle 9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050" y="1854200"/>
            <a:ext cx="1981200" cy="386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1" name="Rectangle 922" descr="Rectangle 9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1854200"/>
            <a:ext cx="1981200" cy="386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2" name="Rectangle 204" descr="Rectangle 2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24150"/>
            <a:ext cx="2159000" cy="299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3" name="Rectangle 924" descr="Rectangle 9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550" y="2724150"/>
            <a:ext cx="2159000" cy="299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4" name="Rectangle 925" descr="Rectangle 9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850" y="2724150"/>
            <a:ext cx="2159000" cy="299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5" name="Rectangle 926" descr="Rectangle 9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150" y="2724150"/>
            <a:ext cx="2159000" cy="299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6" name="Rectangle 927" descr="Rectangle 9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450" y="2724150"/>
            <a:ext cx="2159000" cy="299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7" name="Rectangle 915" descr="Rectangle 9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" y="2508250"/>
            <a:ext cx="1739900" cy="227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8" name="Rectangle 917" descr="Rectangle 9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750" y="2508250"/>
            <a:ext cx="1739900" cy="227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9" name="Rectangle 919" descr="Rectangle 9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6050" y="2508250"/>
            <a:ext cx="1739900" cy="227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0" name="Rectangle 921" descr="Rectangle 9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9350" y="2508250"/>
            <a:ext cx="1739900" cy="227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1" name="Rectangle 923" descr="Rectangle 9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2650" y="2508250"/>
            <a:ext cx="1739900" cy="227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3" name="Line 18" descr="Lin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114" y="399833"/>
            <a:ext cx="1674091" cy="196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4" name="Line 22" descr="Lin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518" y="5270525"/>
            <a:ext cx="863250" cy="38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5" name="Line 22" descr="Lin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7818" y="5270525"/>
            <a:ext cx="863250" cy="38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6" name="Line 22" descr="Lin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1118" y="5270525"/>
            <a:ext cx="863250" cy="38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7" name="Line 22" descr="Lin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4418" y="5270525"/>
            <a:ext cx="863250" cy="38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8" name="Line 22" descr="Lin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3917" y="5270525"/>
            <a:ext cx="863250" cy="38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9" name="Rectangle 984" descr="Rectangle 9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" y="4076700"/>
            <a:ext cx="13208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0" name="Rectangle 984" descr="Rectangle 9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13050" y="4210050"/>
            <a:ext cx="13208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1" name="Rectangle 984" descr="Rectangle 9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4100" y="4305300"/>
            <a:ext cx="13208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2" name="Rectangle 984" descr="Rectangle 9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2850" y="3613150"/>
            <a:ext cx="16383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3" name="Rectangle 984" descr="Rectangle 9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9450" y="3575050"/>
            <a:ext cx="17653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4" name="Rectangle 984" descr="Rectangle 9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2850" y="4394200"/>
            <a:ext cx="13208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5" name="Rectangle 984" descr="Rectangle 9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603750"/>
            <a:ext cx="13208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6" name="Rectangle 984" descr="Rectangle 98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5750" y="4699000"/>
            <a:ext cx="14478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7" name="Rectangle 984" descr="Rectangle 9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0" y="4699000"/>
            <a:ext cx="163830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8" name="Rectangle 984" descr="Rectangle 9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1400" y="4629150"/>
            <a:ext cx="1765300" cy="209550"/>
          </a:xfrm>
          <a:prstGeom prst="rect">
            <a:avLst/>
          </a:prstGeom>
          <a:ln w="12700">
            <a:miter lim="400000"/>
          </a:ln>
        </p:spPr>
      </p:pic>
      <p:sp>
        <p:nvSpPr>
          <p:cNvPr id="4589" name="default_name"/>
          <p:cNvSpPr txBox="1"/>
          <p:nvPr/>
        </p:nvSpPr>
        <p:spPr>
          <a:xfrm>
            <a:off x="2349500" y="763191"/>
            <a:ext cx="7490989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3200"/>
              </a:lnSpc>
              <a:defRPr sz="4000"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667" dirty="0" err="1">
                <a:solidFill>
                  <a:srgbClr val="0BB77E"/>
                </a:solidFill>
              </a:rPr>
              <a:t>交通出行</a:t>
            </a:r>
            <a:r>
              <a:rPr lang="zh-CN" altLang="en-US" sz="2667" dirty="0">
                <a:solidFill>
                  <a:srgbClr val="0BB77E"/>
                </a:solidFill>
              </a:rPr>
              <a:t>行业 </a:t>
            </a:r>
            <a:r>
              <a:rPr sz="2667" dirty="0" err="1">
                <a:solidFill>
                  <a:srgbClr val="191919"/>
                </a:solidFill>
              </a:rPr>
              <a:t>营销痛点及解法</a:t>
            </a:r>
            <a:endParaRPr sz="2667" dirty="0">
              <a:solidFill>
                <a:srgbClr val="191919"/>
              </a:solidFill>
            </a:endParaRPr>
          </a:p>
        </p:txBody>
      </p:sp>
      <p:sp>
        <p:nvSpPr>
          <p:cNvPr id="4590" name="default_name"/>
          <p:cNvSpPr txBox="1"/>
          <p:nvPr/>
        </p:nvSpPr>
        <p:spPr>
          <a:xfrm>
            <a:off x="812800" y="2049920"/>
            <a:ext cx="1480741" cy="332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900"/>
              </a:lnSpc>
              <a:defRPr sz="24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533" dirty="0" err="1">
                <a:latin typeface="FZVariable-LanTingHeiK Normal" panose="02000600000000000000" pitchFamily="2" charset="-122"/>
                <a:ea typeface="FZVariable-LanTingHeiK Normal" panose="02000600000000000000" pitchFamily="2" charset="-122"/>
              </a:rPr>
              <a:t>用户决策链路长</a:t>
            </a:r>
            <a:endParaRPr sz="1533" dirty="0">
              <a:latin typeface="FZVariable-LanTingHeiK Normal" panose="02000600000000000000" pitchFamily="2" charset="-122"/>
              <a:ea typeface="FZVariable-LanTingHeiK Normal" panose="02000600000000000000" pitchFamily="2" charset="-122"/>
            </a:endParaRPr>
          </a:p>
        </p:txBody>
      </p:sp>
      <p:sp>
        <p:nvSpPr>
          <p:cNvPr id="4591" name="default_name"/>
          <p:cNvSpPr txBox="1"/>
          <p:nvPr/>
        </p:nvSpPr>
        <p:spPr>
          <a:xfrm>
            <a:off x="2921000" y="2049920"/>
            <a:ext cx="1816100" cy="332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900"/>
              </a:lnSpc>
              <a:defRPr sz="24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533">
                <a:latin typeface="FZVariable-LanTingHeiK Normal" panose="02000600000000000000" pitchFamily="2" charset="-122"/>
                <a:ea typeface="FZVariable-LanTingHeiK Normal" panose="02000600000000000000" pitchFamily="2" charset="-122"/>
              </a:rPr>
              <a:t>产品理解成本高</a:t>
            </a:r>
          </a:p>
        </p:txBody>
      </p:sp>
      <p:sp>
        <p:nvSpPr>
          <p:cNvPr id="4592" name="default_name"/>
          <p:cNvSpPr txBox="1"/>
          <p:nvPr/>
        </p:nvSpPr>
        <p:spPr>
          <a:xfrm>
            <a:off x="7727950" y="2049920"/>
            <a:ext cx="1297941" cy="332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900"/>
              </a:lnSpc>
              <a:defRPr sz="24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533">
                <a:latin typeface="FZVariable-LanTingHeiK Normal" panose="02000600000000000000" pitchFamily="2" charset="-122"/>
                <a:ea typeface="FZVariable-LanTingHeiK Normal" panose="02000600000000000000" pitchFamily="2" charset="-122"/>
              </a:rPr>
              <a:t>用户互动浅层</a:t>
            </a:r>
          </a:p>
        </p:txBody>
      </p:sp>
      <p:sp>
        <p:nvSpPr>
          <p:cNvPr id="4593" name="default_name"/>
          <p:cNvSpPr txBox="1"/>
          <p:nvPr/>
        </p:nvSpPr>
        <p:spPr>
          <a:xfrm>
            <a:off x="10001250" y="2049920"/>
            <a:ext cx="1297941" cy="332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900"/>
              </a:lnSpc>
              <a:defRPr sz="24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533">
                <a:latin typeface="FZVariable-LanTingHeiK Normal" panose="02000600000000000000" pitchFamily="2" charset="-122"/>
                <a:ea typeface="FZVariable-LanTingHeiK Normal" panose="02000600000000000000" pitchFamily="2" charset="-122"/>
              </a:rPr>
              <a:t>人群拉新困难</a:t>
            </a:r>
          </a:p>
        </p:txBody>
      </p:sp>
      <p:sp>
        <p:nvSpPr>
          <p:cNvPr id="4594" name="default_name"/>
          <p:cNvSpPr txBox="1"/>
          <p:nvPr/>
        </p:nvSpPr>
        <p:spPr>
          <a:xfrm>
            <a:off x="5359400" y="2049920"/>
            <a:ext cx="1480741" cy="332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900"/>
              </a:lnSpc>
              <a:defRPr sz="24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533">
                <a:latin typeface="FZVariable-LanTingHeiK Normal" panose="02000600000000000000" pitchFamily="2" charset="-122"/>
                <a:ea typeface="FZVariable-LanTingHeiK Normal" panose="02000600000000000000" pitchFamily="2" charset="-122"/>
              </a:rPr>
              <a:t>品牌定位模糊</a:t>
            </a:r>
          </a:p>
        </p:txBody>
      </p:sp>
      <p:sp>
        <p:nvSpPr>
          <p:cNvPr id="4595" name="default_name"/>
          <p:cNvSpPr txBox="1"/>
          <p:nvPr/>
        </p:nvSpPr>
        <p:spPr>
          <a:xfrm>
            <a:off x="317500" y="286490"/>
            <a:ext cx="15113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4596" name="default_name"/>
          <p:cNvSpPr txBox="1"/>
          <p:nvPr/>
        </p:nvSpPr>
        <p:spPr>
          <a:xfrm>
            <a:off x="1111250" y="521440"/>
            <a:ext cx="11811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4597" name="default_name"/>
          <p:cNvSpPr txBox="1"/>
          <p:nvPr/>
        </p:nvSpPr>
        <p:spPr>
          <a:xfrm>
            <a:off x="3060700" y="5107301"/>
            <a:ext cx="6286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激发用户</a:t>
            </a:r>
          </a:p>
        </p:txBody>
      </p:sp>
      <p:sp>
        <p:nvSpPr>
          <p:cNvPr id="4598" name="default_name"/>
          <p:cNvSpPr txBox="1"/>
          <p:nvPr/>
        </p:nvSpPr>
        <p:spPr>
          <a:xfrm>
            <a:off x="3714750" y="4992344"/>
            <a:ext cx="876300" cy="34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sz="2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667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情境共鸣</a:t>
            </a:r>
          </a:p>
        </p:txBody>
      </p:sp>
      <p:sp>
        <p:nvSpPr>
          <p:cNvPr id="4599" name="default_name"/>
          <p:cNvSpPr txBox="1"/>
          <p:nvPr/>
        </p:nvSpPr>
        <p:spPr>
          <a:xfrm>
            <a:off x="5334000" y="5107301"/>
            <a:ext cx="6286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人群聚焦</a:t>
            </a:r>
          </a:p>
        </p:txBody>
      </p:sp>
      <p:sp>
        <p:nvSpPr>
          <p:cNvPr id="4600" name="default_name"/>
          <p:cNvSpPr txBox="1"/>
          <p:nvPr/>
        </p:nvSpPr>
        <p:spPr>
          <a:xfrm>
            <a:off x="5988050" y="4992344"/>
            <a:ext cx="876300" cy="34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sz="2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667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切中场景</a:t>
            </a:r>
          </a:p>
        </p:txBody>
      </p:sp>
      <p:sp>
        <p:nvSpPr>
          <p:cNvPr id="4601" name="default_name"/>
          <p:cNvSpPr txBox="1"/>
          <p:nvPr/>
        </p:nvSpPr>
        <p:spPr>
          <a:xfrm>
            <a:off x="7607300" y="5107301"/>
            <a:ext cx="6286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真实车主</a:t>
            </a:r>
          </a:p>
        </p:txBody>
      </p:sp>
      <p:sp>
        <p:nvSpPr>
          <p:cNvPr id="4602" name="default_name"/>
          <p:cNvSpPr txBox="1"/>
          <p:nvPr/>
        </p:nvSpPr>
        <p:spPr>
          <a:xfrm>
            <a:off x="8261350" y="4992344"/>
            <a:ext cx="876300" cy="34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sz="2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667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口碑激发</a:t>
            </a:r>
          </a:p>
        </p:txBody>
      </p:sp>
      <p:sp>
        <p:nvSpPr>
          <p:cNvPr id="4603" name="default_name"/>
          <p:cNvSpPr txBox="1"/>
          <p:nvPr/>
        </p:nvSpPr>
        <p:spPr>
          <a:xfrm>
            <a:off x="9880600" y="5107301"/>
            <a:ext cx="6286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高效提升</a:t>
            </a:r>
          </a:p>
        </p:txBody>
      </p:sp>
      <p:sp>
        <p:nvSpPr>
          <p:cNvPr id="4604" name="TA"/>
          <p:cNvSpPr txBox="1"/>
          <p:nvPr/>
        </p:nvSpPr>
        <p:spPr>
          <a:xfrm>
            <a:off x="10534650" y="4992344"/>
            <a:ext cx="774700" cy="34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sz="2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667"/>
              <a:t>TA渗透</a:t>
            </a:r>
          </a:p>
        </p:txBody>
      </p:sp>
      <p:sp>
        <p:nvSpPr>
          <p:cNvPr id="4605" name="default_name"/>
          <p:cNvSpPr txBox="1"/>
          <p:nvPr/>
        </p:nvSpPr>
        <p:spPr>
          <a:xfrm>
            <a:off x="800100" y="5107301"/>
            <a:ext cx="6286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 dirty="0" err="1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快速占领</a:t>
            </a:r>
            <a:endParaRPr sz="1200" dirty="0">
              <a:latin typeface="FZVariable-LanTingHeiK DemiBold" panose="02000600000000000000" pitchFamily="2" charset="-122"/>
              <a:ea typeface="FZVariable-LanTingHeiK DemiBold" panose="02000600000000000000" pitchFamily="2" charset="-122"/>
            </a:endParaRPr>
          </a:p>
        </p:txBody>
      </p:sp>
      <p:sp>
        <p:nvSpPr>
          <p:cNvPr id="4606" name="default_name"/>
          <p:cNvSpPr txBox="1"/>
          <p:nvPr/>
        </p:nvSpPr>
        <p:spPr>
          <a:xfrm>
            <a:off x="1454150" y="4992344"/>
            <a:ext cx="876300" cy="34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sz="2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667" dirty="0" err="1">
                <a:latin typeface="FZVariable-LanTingHeiK DemiBold" panose="02000600000000000000" pitchFamily="2" charset="-122"/>
                <a:ea typeface="FZVariable-LanTingHeiK DemiBold" panose="02000600000000000000" pitchFamily="2" charset="-122"/>
              </a:rPr>
              <a:t>品类心智</a:t>
            </a:r>
            <a:endParaRPr sz="1667" dirty="0">
              <a:latin typeface="FZVariable-LanTingHeiK DemiBold" panose="02000600000000000000" pitchFamily="2" charset="-122"/>
              <a:ea typeface="FZVariable-LanTingHeiK DemiBold" panose="02000600000000000000" pitchFamily="2" charset="-122"/>
            </a:endParaRPr>
          </a:p>
        </p:txBody>
      </p:sp>
      <p:sp>
        <p:nvSpPr>
          <p:cNvPr id="4607" name="default_name"/>
          <p:cNvSpPr txBox="1"/>
          <p:nvPr/>
        </p:nvSpPr>
        <p:spPr>
          <a:xfrm>
            <a:off x="596900" y="4096301"/>
            <a:ext cx="118702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颜色营销，买点共创</a:t>
            </a:r>
          </a:p>
        </p:txBody>
      </p:sp>
      <p:sp>
        <p:nvSpPr>
          <p:cNvPr id="4608" name="default_name"/>
          <p:cNvSpPr txBox="1"/>
          <p:nvPr/>
        </p:nvSpPr>
        <p:spPr>
          <a:xfrm>
            <a:off x="2889250" y="4229651"/>
            <a:ext cx="118702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技术语言难以共鸣</a:t>
            </a:r>
          </a:p>
        </p:txBody>
      </p:sp>
      <p:sp>
        <p:nvSpPr>
          <p:cNvPr id="4609" name="default_name"/>
          <p:cNvSpPr txBox="1"/>
          <p:nvPr/>
        </p:nvSpPr>
        <p:spPr>
          <a:xfrm>
            <a:off x="7480300" y="4324901"/>
            <a:ext cx="118702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卷动真实车主分享</a:t>
            </a:r>
          </a:p>
        </p:txBody>
      </p:sp>
      <p:sp>
        <p:nvSpPr>
          <p:cNvPr id="4610" name="default_name"/>
          <p:cNvSpPr txBox="1"/>
          <p:nvPr/>
        </p:nvSpPr>
        <p:spPr>
          <a:xfrm>
            <a:off x="5118100" y="3633446"/>
            <a:ext cx="146931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新能源层出不穷，用户选择多</a:t>
            </a:r>
          </a:p>
        </p:txBody>
      </p:sp>
      <p:sp>
        <p:nvSpPr>
          <p:cNvPr id="4611" name="Text 22"/>
          <p:cNvSpPr txBox="1"/>
          <p:nvPr/>
        </p:nvSpPr>
        <p:spPr>
          <a:xfrm>
            <a:off x="9671050" y="3601696"/>
            <a:ext cx="1582229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品类人群见顶 ，如何场景化拉新？</a:t>
            </a:r>
          </a:p>
        </p:txBody>
      </p:sp>
      <p:sp>
        <p:nvSpPr>
          <p:cNvPr id="4612" name="Text 23"/>
          <p:cNvSpPr txBox="1"/>
          <p:nvPr/>
        </p:nvSpPr>
        <p:spPr>
          <a:xfrm>
            <a:off x="1289050" y="4413801"/>
            <a:ext cx="118702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七夕改款, 重磅升级</a:t>
            </a:r>
          </a:p>
        </p:txBody>
      </p:sp>
      <p:sp>
        <p:nvSpPr>
          <p:cNvPr id="4613" name="default_name"/>
          <p:cNvSpPr txBox="1"/>
          <p:nvPr/>
        </p:nvSpPr>
        <p:spPr>
          <a:xfrm>
            <a:off x="3581400" y="4623351"/>
            <a:ext cx="118702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产品参数如何打动用户？</a:t>
            </a:r>
          </a:p>
        </p:txBody>
      </p:sp>
      <p:sp>
        <p:nvSpPr>
          <p:cNvPr id="4614" name="pick"/>
          <p:cNvSpPr txBox="1"/>
          <p:nvPr/>
        </p:nvSpPr>
        <p:spPr>
          <a:xfrm>
            <a:off x="7988300" y="4718601"/>
            <a:ext cx="1299941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大家都pick，才是真好用</a:t>
            </a:r>
          </a:p>
        </p:txBody>
      </p:sp>
      <p:sp>
        <p:nvSpPr>
          <p:cNvPr id="4615" name="default_name"/>
          <p:cNvSpPr txBox="1"/>
          <p:nvPr/>
        </p:nvSpPr>
        <p:spPr>
          <a:xfrm>
            <a:off x="5581650" y="4719296"/>
            <a:ext cx="1469313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卷空间、卷价格、卷续航……</a:t>
            </a:r>
          </a:p>
        </p:txBody>
      </p:sp>
      <p:sp>
        <p:nvSpPr>
          <p:cNvPr id="4616" name="TGI"/>
          <p:cNvSpPr txBox="1"/>
          <p:nvPr/>
        </p:nvSpPr>
        <p:spPr>
          <a:xfrm>
            <a:off x="9925050" y="4655796"/>
            <a:ext cx="17780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如何找到高TGI人群，提升渗透？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F280DD0-5D72-FC3B-2E71-6F089204F4F5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4ACB561E-FFDA-CDD7-4626-99022AAC7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7A6035B3-B292-F302-ACFD-06A69BF51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9F94E761-7398-4D3A-C335-A66B066E7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DAD5E755-450B-796F-0B14-C00AD69A6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789AC4B8-D621-1D30-9237-2B2CB7CC8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B25ABE95-57FE-CB45-4FAB-D54C9A52A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DE07FF7A-8D0D-CDF9-0703-1EFD52653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939264F1-8E2D-2108-6043-03F618BB8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1025D183-95CF-6599-37B2-5C20A3131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08681611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8" name="背景" descr="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619" name="圆角矩形 142"/>
          <p:cNvSpPr/>
          <p:nvPr/>
        </p:nvSpPr>
        <p:spPr>
          <a:xfrm>
            <a:off x="622300" y="5208016"/>
            <a:ext cx="10953750" cy="278970"/>
          </a:xfrm>
          <a:prstGeom prst="roundRect">
            <a:avLst>
              <a:gd name="adj" fmla="val 50000"/>
            </a:avLst>
          </a:prstGeom>
          <a:solidFill>
            <a:srgbClr val="0BB77E"/>
          </a:solidFill>
          <a:ln w="12700">
            <a:miter lim="400000"/>
          </a:ln>
        </p:spPr>
        <p:txBody>
          <a:bodyPr lIns="30479" rIns="30479" anchor="ctr"/>
          <a:lstStyle/>
          <a:p>
            <a:pPr algn="ctr">
              <a:defRPr>
                <a:solidFill>
                  <a:srgbClr val="FFFFFF"/>
                </a:solidFill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endParaRPr sz="1200"/>
          </a:p>
        </p:txBody>
      </p:sp>
      <p:pic>
        <p:nvPicPr>
          <p:cNvPr id="4621" name="Rectangle 3" descr="Rectang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314450"/>
            <a:ext cx="1422400" cy="933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2" name="Rectangle 92" descr="Rectangle 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311400"/>
            <a:ext cx="1422400" cy="2076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3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451350"/>
            <a:ext cx="14224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4" name="Rectangle 106" descr="Rectangle 1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4550" y="4451350"/>
            <a:ext cx="231775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5" name="Rectangle 110" descr="Rectangl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4550" y="1314450"/>
            <a:ext cx="2317750" cy="933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6" name="Rectangle 393" descr="Rectangle 39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4550" y="2311400"/>
            <a:ext cx="2317750" cy="2076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7" name="Rectangle 394" descr="Rectangle 3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3177" y="2324885"/>
            <a:ext cx="2317751" cy="20764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8" name="Rectangle 928" descr="Rectangle 9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0" y="2311400"/>
            <a:ext cx="2317750" cy="2076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9" name="Rectangle 933" descr="Rectangle 9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0700" y="2311400"/>
            <a:ext cx="2317750" cy="2076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0" name="Line 102" descr="Lin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050" y="275590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1" name="Line 106" descr="Line 1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300" y="305435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2" name="Line 108" descr="Line 1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1800" y="335280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3" name="Line 107" descr="Line 1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300" y="361950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4" name="Line 110" descr="Line 1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85115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5" name="Line 111" descr="Line 1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333375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6" name="Line 112" descr="Line 1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381000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7" name="Line 103" descr="Line 10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050" y="316865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8" name="Line 104" descr="Line 1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050" y="358140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9" name="Line 105" descr="Line 10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050" y="3981450"/>
            <a:ext cx="2184400" cy="1219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0" name="Rectangle 111" descr="Rectangle 1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5800" y="1314450"/>
            <a:ext cx="2317750" cy="933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1" name="Rectangle 112" descr="Rectangle 1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7050" y="1314450"/>
            <a:ext cx="2317750" cy="933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2" name="Rectangle 113" descr="Rectangle 1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0" y="1314450"/>
            <a:ext cx="2317750" cy="933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3" name="Rectangle 107" descr="Rectangle 10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4451350"/>
            <a:ext cx="23114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4" name="Rectangle 108" descr="Rectangle 1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0700" y="4451350"/>
            <a:ext cx="23114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5" name="Rectangle 109" descr="Rectangle 1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5600" y="4451350"/>
            <a:ext cx="231775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6" name="Rectangle 102" descr="Rectangle 10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5994400"/>
            <a:ext cx="26797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7" name="Rectangle 103" descr="Rectangle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8200" y="5994400"/>
            <a:ext cx="26797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8" name="Rectangle 104" descr="Rectangle 1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4100" y="5994400"/>
            <a:ext cx="26797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9" name="Rectangle 105" descr="Rectangle 10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3650" y="5994400"/>
            <a:ext cx="267970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0" name="Rectangle 938" descr="Rectangle 9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0900" y="292100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1" name="Rectangle 45" descr="Rectangle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5588000"/>
            <a:ext cx="267970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2" name="Rectangle 100" descr="Rectangle 1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34100" y="5588000"/>
            <a:ext cx="267970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3" name="Rectangle 99" descr="Rectangle 9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78200" y="5588000"/>
            <a:ext cx="267970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4" name="Rectangle 101" descr="Rectangle 10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3650" y="5588000"/>
            <a:ext cx="267970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5" name="Line 54" descr="Lin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46" y="5109840"/>
            <a:ext cx="10934704" cy="14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6" name="Rectangle 386" descr="Rectangle 3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38789" y="1644650"/>
            <a:ext cx="762000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7" name="Rectangle 391" descr="Rectangle 39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0850" y="1647825"/>
            <a:ext cx="98425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8" name="Rectangle 389" descr="Rectangle 38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23100" y="1644650"/>
            <a:ext cx="984250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9" name="Rectangle 390" descr="Rectangle 39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4500" y="1644650"/>
            <a:ext cx="984250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1" name="Rectangle 392" descr="Rectangle 39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88600" y="1647825"/>
            <a:ext cx="111125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2" name="Rectangle 388" descr="Rectangle 38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73600" y="1644650"/>
            <a:ext cx="844550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3" name="Rectangle 937" descr="Rectangle 93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19750" y="1644650"/>
            <a:ext cx="1016000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4" name="Rectangle 917" descr="Rectangle 9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2050" y="241935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5" name="Rectangle 922" descr="Rectangle 9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8450" y="568960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6" name="Rectangle 923" descr="Rectangle 9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8350" y="568960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7" name="Rectangle 924" descr="Rectangle 9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4900" y="262255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8" name="Rectangle 935" descr="Rectangle 9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5200" y="247015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9" name="Rectangle 925" descr="Rectangle 9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7450" y="319405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0" name="Rectangle 926" descr="Rectangle 9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76555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1" name="Rectangle 921" descr="Rectangle 9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62400" y="4044950"/>
            <a:ext cx="349250" cy="139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2" name="Line 18" descr="Line 1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114" y="399833"/>
            <a:ext cx="1674091" cy="196227"/>
          </a:xfrm>
          <a:prstGeom prst="rect">
            <a:avLst/>
          </a:prstGeom>
          <a:ln w="12700">
            <a:miter lim="400000"/>
          </a:ln>
        </p:spPr>
      </p:pic>
      <p:sp>
        <p:nvSpPr>
          <p:cNvPr id="4673" name="name_2026  IP Solution"/>
          <p:cNvSpPr txBox="1"/>
          <p:nvPr/>
        </p:nvSpPr>
        <p:spPr>
          <a:xfrm>
            <a:off x="3056986" y="617141"/>
            <a:ext cx="6078028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32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667" dirty="0">
                <a:solidFill>
                  <a:srgbClr val="191919"/>
                </a:solidFill>
              </a:rPr>
              <a:t>2026</a:t>
            </a:r>
            <a:r>
              <a:rPr sz="2667" dirty="0"/>
              <a:t> </a:t>
            </a:r>
            <a:r>
              <a:rPr sz="2667" dirty="0" err="1">
                <a:solidFill>
                  <a:srgbClr val="0BB77E"/>
                </a:solidFill>
              </a:rPr>
              <a:t>交通出行行业</a:t>
            </a:r>
            <a:r>
              <a:rPr sz="2667" dirty="0"/>
              <a:t> </a:t>
            </a:r>
            <a:r>
              <a:rPr sz="2667" dirty="0">
                <a:solidFill>
                  <a:srgbClr val="191919"/>
                </a:solidFill>
              </a:rPr>
              <a:t>IP Solution</a:t>
            </a:r>
          </a:p>
        </p:txBody>
      </p:sp>
      <p:sp>
        <p:nvSpPr>
          <p:cNvPr id="4674" name="default_name"/>
          <p:cNvSpPr txBox="1"/>
          <p:nvPr/>
        </p:nvSpPr>
        <p:spPr>
          <a:xfrm>
            <a:off x="622300" y="1628923"/>
            <a:ext cx="14351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行业营销诉求</a:t>
            </a:r>
          </a:p>
        </p:txBody>
      </p:sp>
      <p:sp>
        <p:nvSpPr>
          <p:cNvPr id="4675" name="IP"/>
          <p:cNvSpPr txBox="1"/>
          <p:nvPr/>
        </p:nvSpPr>
        <p:spPr>
          <a:xfrm>
            <a:off x="749300" y="3057673"/>
            <a:ext cx="11811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IP解决方案</a:t>
            </a:r>
          </a:p>
        </p:txBody>
      </p:sp>
      <p:sp>
        <p:nvSpPr>
          <p:cNvPr id="4676" name="IP"/>
          <p:cNvSpPr txBox="1"/>
          <p:nvPr/>
        </p:nvSpPr>
        <p:spPr>
          <a:xfrm>
            <a:off x="749300" y="4568973"/>
            <a:ext cx="11811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IP特色指标</a:t>
            </a:r>
          </a:p>
        </p:txBody>
      </p:sp>
      <p:sp>
        <p:nvSpPr>
          <p:cNvPr id="4677" name="default_name"/>
          <p:cNvSpPr txBox="1"/>
          <p:nvPr/>
        </p:nvSpPr>
        <p:spPr>
          <a:xfrm>
            <a:off x="2870200" y="1362697"/>
            <a:ext cx="806450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67" dirty="0" err="1"/>
              <a:t>新车上市</a:t>
            </a:r>
            <a:endParaRPr sz="1267" dirty="0"/>
          </a:p>
        </p:txBody>
      </p:sp>
      <p:sp>
        <p:nvSpPr>
          <p:cNvPr id="4678" name="default_name"/>
          <p:cNvSpPr txBox="1"/>
          <p:nvPr/>
        </p:nvSpPr>
        <p:spPr>
          <a:xfrm>
            <a:off x="2482850" y="1951351"/>
            <a:ext cx="16573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提升新品营销确定性</a:t>
            </a:r>
          </a:p>
        </p:txBody>
      </p:sp>
      <p:sp>
        <p:nvSpPr>
          <p:cNvPr id="4679" name="default_name"/>
          <p:cNvSpPr txBox="1"/>
          <p:nvPr/>
        </p:nvSpPr>
        <p:spPr>
          <a:xfrm>
            <a:off x="4864100" y="1951351"/>
            <a:ext cx="16573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场景化功能心智建设</a:t>
            </a:r>
          </a:p>
        </p:txBody>
      </p:sp>
      <p:sp>
        <p:nvSpPr>
          <p:cNvPr id="4680" name="UGC"/>
          <p:cNvSpPr txBox="1"/>
          <p:nvPr/>
        </p:nvSpPr>
        <p:spPr>
          <a:xfrm>
            <a:off x="9423400" y="1951351"/>
            <a:ext cx="20637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lang="en-US" sz="1200" dirty="0" err="1"/>
              <a:t>UGC</a:t>
            </a:r>
            <a:r>
              <a:rPr sz="1200" dirty="0" err="1"/>
              <a:t>带动品牌好感度提升</a:t>
            </a:r>
            <a:endParaRPr sz="1200" dirty="0"/>
          </a:p>
        </p:txBody>
      </p:sp>
      <p:sp>
        <p:nvSpPr>
          <p:cNvPr id="4681" name="AIPS"/>
          <p:cNvSpPr txBox="1"/>
          <p:nvPr/>
        </p:nvSpPr>
        <p:spPr>
          <a:xfrm>
            <a:off x="7239000" y="1951351"/>
            <a:ext cx="16573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AIPS人群资产积累</a:t>
            </a:r>
          </a:p>
        </p:txBody>
      </p:sp>
      <p:sp>
        <p:nvSpPr>
          <p:cNvPr id="4682" name="default_name"/>
          <p:cNvSpPr txBox="1"/>
          <p:nvPr/>
        </p:nvSpPr>
        <p:spPr>
          <a:xfrm>
            <a:off x="2444750" y="23946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「宝藏新车」</a:t>
            </a:r>
          </a:p>
        </p:txBody>
      </p:sp>
      <p:sp>
        <p:nvSpPr>
          <p:cNvPr id="4683" name="default_name"/>
          <p:cNvSpPr txBox="1"/>
          <p:nvPr/>
        </p:nvSpPr>
        <p:spPr>
          <a:xfrm>
            <a:off x="2444750" y="28010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「新车时间到」</a:t>
            </a:r>
          </a:p>
        </p:txBody>
      </p:sp>
      <p:sp>
        <p:nvSpPr>
          <p:cNvPr id="4684" name="default_name"/>
          <p:cNvSpPr txBox="1"/>
          <p:nvPr/>
        </p:nvSpPr>
        <p:spPr>
          <a:xfrm>
            <a:off x="2444750" y="3234581"/>
            <a:ext cx="16573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「RCC看车节」</a:t>
            </a:r>
          </a:p>
        </p:txBody>
      </p:sp>
      <p:sp>
        <p:nvSpPr>
          <p:cNvPr id="4685" name="default_name"/>
          <p:cNvSpPr txBox="1"/>
          <p:nvPr/>
        </p:nvSpPr>
        <p:spPr>
          <a:xfrm>
            <a:off x="4826000" y="25978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「路书计划」</a:t>
            </a:r>
          </a:p>
        </p:txBody>
      </p:sp>
      <p:sp>
        <p:nvSpPr>
          <p:cNvPr id="4686" name="default_name"/>
          <p:cNvSpPr txBox="1"/>
          <p:nvPr/>
        </p:nvSpPr>
        <p:spPr>
          <a:xfrm>
            <a:off x="9588500" y="289634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「万人口碑计划」</a:t>
            </a:r>
          </a:p>
        </p:txBody>
      </p:sp>
      <p:sp>
        <p:nvSpPr>
          <p:cNvPr id="4687" name="default_name"/>
          <p:cNvSpPr txBox="1"/>
          <p:nvPr/>
        </p:nvSpPr>
        <p:spPr>
          <a:xfrm>
            <a:off x="11042617" y="2929307"/>
            <a:ext cx="2921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大事件</a:t>
            </a:r>
          </a:p>
        </p:txBody>
      </p:sp>
      <p:sp>
        <p:nvSpPr>
          <p:cNvPr id="4688" name="default_name"/>
          <p:cNvSpPr txBox="1"/>
          <p:nvPr/>
        </p:nvSpPr>
        <p:spPr>
          <a:xfrm>
            <a:off x="7200900" y="24454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「小红书玩车节」</a:t>
            </a:r>
          </a:p>
        </p:txBody>
      </p:sp>
      <p:sp>
        <p:nvSpPr>
          <p:cNvPr id="4689" name="default_name"/>
          <p:cNvSpPr txBox="1"/>
          <p:nvPr/>
        </p:nvSpPr>
        <p:spPr>
          <a:xfrm>
            <a:off x="7200900" y="29280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「周末玩车俱乐部」</a:t>
            </a:r>
          </a:p>
        </p:txBody>
      </p:sp>
      <p:sp>
        <p:nvSpPr>
          <p:cNvPr id="4690" name="default_name"/>
          <p:cNvSpPr txBox="1"/>
          <p:nvPr/>
        </p:nvSpPr>
        <p:spPr>
          <a:xfrm>
            <a:off x="7080250" y="3410690"/>
            <a:ext cx="6667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「雪人节」</a:t>
            </a:r>
          </a:p>
        </p:txBody>
      </p:sp>
      <p:sp>
        <p:nvSpPr>
          <p:cNvPr id="4691" name="default_name"/>
          <p:cNvSpPr txBox="1"/>
          <p:nvPr/>
        </p:nvSpPr>
        <p:spPr>
          <a:xfrm>
            <a:off x="7696200" y="3410690"/>
            <a:ext cx="6667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「夜人节」</a:t>
            </a:r>
          </a:p>
        </p:txBody>
      </p:sp>
      <p:sp>
        <p:nvSpPr>
          <p:cNvPr id="4692" name="default_name"/>
          <p:cNvSpPr txBox="1"/>
          <p:nvPr/>
        </p:nvSpPr>
        <p:spPr>
          <a:xfrm>
            <a:off x="8312150" y="3410690"/>
            <a:ext cx="6667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「外人节」</a:t>
            </a:r>
          </a:p>
        </p:txBody>
      </p:sp>
      <p:sp>
        <p:nvSpPr>
          <p:cNvPr id="4693" name="default_name"/>
          <p:cNvSpPr txBox="1"/>
          <p:nvPr/>
        </p:nvSpPr>
        <p:spPr>
          <a:xfrm>
            <a:off x="7200900" y="38932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「人生奢享指南」</a:t>
            </a:r>
          </a:p>
        </p:txBody>
      </p:sp>
      <p:sp>
        <p:nvSpPr>
          <p:cNvPr id="4694" name="default_name"/>
          <p:cNvSpPr txBox="1"/>
          <p:nvPr/>
        </p:nvSpPr>
        <p:spPr>
          <a:xfrm>
            <a:off x="4826000" y="31693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「一刻半径」</a:t>
            </a:r>
          </a:p>
        </p:txBody>
      </p:sp>
      <p:sp>
        <p:nvSpPr>
          <p:cNvPr id="4695" name="default_name"/>
          <p:cNvSpPr txBox="1"/>
          <p:nvPr/>
        </p:nvSpPr>
        <p:spPr>
          <a:xfrm>
            <a:off x="9588500" y="346784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「好好玩俱乐部」</a:t>
            </a:r>
          </a:p>
        </p:txBody>
      </p:sp>
      <p:sp>
        <p:nvSpPr>
          <p:cNvPr id="4696" name="default_name"/>
          <p:cNvSpPr txBox="1"/>
          <p:nvPr/>
        </p:nvSpPr>
        <p:spPr>
          <a:xfrm>
            <a:off x="4826000" y="37408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「宝藏目的地」</a:t>
            </a:r>
          </a:p>
        </p:txBody>
      </p:sp>
      <p:sp>
        <p:nvSpPr>
          <p:cNvPr id="4697" name="default_name"/>
          <p:cNvSpPr txBox="1"/>
          <p:nvPr/>
        </p:nvSpPr>
        <p:spPr>
          <a:xfrm>
            <a:off x="2444750" y="3613890"/>
            <a:ext cx="1657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「我的第一辆车」</a:t>
            </a:r>
          </a:p>
        </p:txBody>
      </p:sp>
      <p:sp>
        <p:nvSpPr>
          <p:cNvPr id="4698" name="REDLAUNCH"/>
          <p:cNvSpPr txBox="1"/>
          <p:nvPr/>
        </p:nvSpPr>
        <p:spPr>
          <a:xfrm>
            <a:off x="2425700" y="4047381"/>
            <a:ext cx="16954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「RED LAUNCH」</a:t>
            </a:r>
          </a:p>
        </p:txBody>
      </p:sp>
      <p:sp>
        <p:nvSpPr>
          <p:cNvPr id="4699" name="default_name"/>
          <p:cNvSpPr txBox="1"/>
          <p:nvPr/>
        </p:nvSpPr>
        <p:spPr>
          <a:xfrm>
            <a:off x="5251450" y="1362697"/>
            <a:ext cx="806450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67" dirty="0" err="1"/>
              <a:t>场景转化</a:t>
            </a:r>
            <a:endParaRPr sz="1267" dirty="0"/>
          </a:p>
        </p:txBody>
      </p:sp>
      <p:sp>
        <p:nvSpPr>
          <p:cNvPr id="4700" name="default_name"/>
          <p:cNvSpPr txBox="1"/>
          <p:nvPr/>
        </p:nvSpPr>
        <p:spPr>
          <a:xfrm>
            <a:off x="7632700" y="1362697"/>
            <a:ext cx="806450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67" dirty="0" err="1"/>
              <a:t>人群破圈</a:t>
            </a:r>
            <a:endParaRPr sz="1267" dirty="0"/>
          </a:p>
        </p:txBody>
      </p:sp>
      <p:sp>
        <p:nvSpPr>
          <p:cNvPr id="4701" name="default_name"/>
          <p:cNvSpPr txBox="1"/>
          <p:nvPr/>
        </p:nvSpPr>
        <p:spPr>
          <a:xfrm>
            <a:off x="9779000" y="1362697"/>
            <a:ext cx="1276350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67" dirty="0" err="1"/>
              <a:t>口碑沉淀</a:t>
            </a:r>
            <a:endParaRPr sz="1267" dirty="0"/>
          </a:p>
        </p:txBody>
      </p:sp>
      <p:sp>
        <p:nvSpPr>
          <p:cNvPr id="4702" name="IP"/>
          <p:cNvSpPr txBox="1"/>
          <p:nvPr/>
        </p:nvSpPr>
        <p:spPr>
          <a:xfrm>
            <a:off x="4210050" y="5191273"/>
            <a:ext cx="37719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IP特色能力</a:t>
            </a:r>
          </a:p>
        </p:txBody>
      </p:sp>
      <p:sp>
        <p:nvSpPr>
          <p:cNvPr id="4703" name="default_name"/>
          <p:cNvSpPr txBox="1"/>
          <p:nvPr/>
        </p:nvSpPr>
        <p:spPr>
          <a:xfrm>
            <a:off x="1009650" y="5640701"/>
            <a:ext cx="1917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 spc="108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社区趋势共创</a:t>
            </a:r>
          </a:p>
        </p:txBody>
      </p:sp>
      <p:sp>
        <p:nvSpPr>
          <p:cNvPr id="4704" name="default_name"/>
          <p:cNvSpPr txBox="1"/>
          <p:nvPr/>
        </p:nvSpPr>
        <p:spPr>
          <a:xfrm>
            <a:off x="6515100" y="5640701"/>
            <a:ext cx="1917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 spc="108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经销商联动</a:t>
            </a:r>
          </a:p>
        </p:txBody>
      </p:sp>
      <p:sp>
        <p:nvSpPr>
          <p:cNvPr id="4705" name="default_name"/>
          <p:cNvSpPr txBox="1"/>
          <p:nvPr/>
        </p:nvSpPr>
        <p:spPr>
          <a:xfrm>
            <a:off x="3759200" y="5640701"/>
            <a:ext cx="1917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 spc="108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 dirty="0" err="1"/>
              <a:t>品牌长线心智</a:t>
            </a:r>
            <a:endParaRPr sz="1200" dirty="0"/>
          </a:p>
        </p:txBody>
      </p:sp>
      <p:sp>
        <p:nvSpPr>
          <p:cNvPr id="4706" name="default_name"/>
          <p:cNvSpPr txBox="1"/>
          <p:nvPr/>
        </p:nvSpPr>
        <p:spPr>
          <a:xfrm>
            <a:off x="9264650" y="5640701"/>
            <a:ext cx="1917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 spc="108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全域媒体触点联动</a:t>
            </a:r>
          </a:p>
        </p:txBody>
      </p:sp>
      <p:sp>
        <p:nvSpPr>
          <p:cNvPr id="4707" name="Text 34"/>
          <p:cNvSpPr txBox="1"/>
          <p:nvPr/>
        </p:nvSpPr>
        <p:spPr>
          <a:xfrm>
            <a:off x="914400" y="6077690"/>
            <a:ext cx="21082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@汽车薯 @户外薯 @职场薯@潮流薯</a:t>
            </a:r>
          </a:p>
        </p:txBody>
      </p:sp>
      <p:sp>
        <p:nvSpPr>
          <p:cNvPr id="4708" name="IP"/>
          <p:cNvSpPr txBox="1"/>
          <p:nvPr/>
        </p:nvSpPr>
        <p:spPr>
          <a:xfrm>
            <a:off x="4140200" y="6077690"/>
            <a:ext cx="11620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官方长线IP阵地运营</a:t>
            </a:r>
          </a:p>
        </p:txBody>
      </p:sp>
      <p:sp>
        <p:nvSpPr>
          <p:cNvPr id="4709" name="default_name"/>
          <p:cNvSpPr txBox="1"/>
          <p:nvPr/>
        </p:nvSpPr>
        <p:spPr>
          <a:xfrm>
            <a:off x="2882900" y="4534640"/>
            <a:ext cx="7747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搜索排名变化</a:t>
            </a:r>
          </a:p>
        </p:txBody>
      </p:sp>
      <p:sp>
        <p:nvSpPr>
          <p:cNvPr id="4710" name="default_name"/>
          <p:cNvSpPr txBox="1"/>
          <p:nvPr/>
        </p:nvSpPr>
        <p:spPr>
          <a:xfrm>
            <a:off x="5010150" y="4534640"/>
            <a:ext cx="12827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品牌上下游搜索词心智</a:t>
            </a:r>
          </a:p>
        </p:txBody>
      </p:sp>
      <p:sp>
        <p:nvSpPr>
          <p:cNvPr id="4711" name="default_name"/>
          <p:cNvSpPr txBox="1"/>
          <p:nvPr/>
        </p:nvSpPr>
        <p:spPr>
          <a:xfrm>
            <a:off x="7575550" y="4534640"/>
            <a:ext cx="9017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目标人群渗透率</a:t>
            </a:r>
          </a:p>
        </p:txBody>
      </p:sp>
      <p:sp>
        <p:nvSpPr>
          <p:cNvPr id="4712" name="NPS"/>
          <p:cNvSpPr txBox="1"/>
          <p:nvPr/>
        </p:nvSpPr>
        <p:spPr>
          <a:xfrm>
            <a:off x="9988550" y="4534640"/>
            <a:ext cx="8255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NPS口碑提升</a:t>
            </a:r>
          </a:p>
        </p:txBody>
      </p:sp>
      <p:sp>
        <p:nvSpPr>
          <p:cNvPr id="4713" name="name_200POI"/>
          <p:cNvSpPr txBox="1"/>
          <p:nvPr/>
        </p:nvSpPr>
        <p:spPr>
          <a:xfrm>
            <a:off x="6470650" y="6077690"/>
            <a:ext cx="20066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200+线下场景，POI定位门店直达</a:t>
            </a:r>
          </a:p>
        </p:txBody>
      </p:sp>
      <p:sp>
        <p:nvSpPr>
          <p:cNvPr id="4714" name="name_50 200 1000"/>
          <p:cNvSpPr txBox="1"/>
          <p:nvPr/>
        </p:nvSpPr>
        <p:spPr>
          <a:xfrm>
            <a:off x="8763000" y="6075834"/>
            <a:ext cx="2921000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800"/>
              <a:t>本地：50+文旅合作、 200+车聚友好门店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800"/>
              <a:t>1000+商圈渠道…</a:t>
            </a:r>
          </a:p>
        </p:txBody>
      </p:sp>
      <p:sp>
        <p:nvSpPr>
          <p:cNvPr id="4715" name="default_name"/>
          <p:cNvSpPr txBox="1"/>
          <p:nvPr/>
        </p:nvSpPr>
        <p:spPr>
          <a:xfrm>
            <a:off x="9436100" y="6315867"/>
            <a:ext cx="158115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 dirty="0" err="1"/>
              <a:t>媒体：中国国家地理、时尚芭莎</a:t>
            </a:r>
            <a:r>
              <a:rPr sz="800" dirty="0"/>
              <a:t>…</a:t>
            </a:r>
          </a:p>
        </p:txBody>
      </p:sp>
      <p:sp>
        <p:nvSpPr>
          <p:cNvPr id="4716" name="Text 43"/>
          <p:cNvSpPr txBox="1"/>
          <p:nvPr/>
        </p:nvSpPr>
        <p:spPr>
          <a:xfrm>
            <a:off x="723900" y="6249140"/>
            <a:ext cx="24892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@运动薯 @时尚薯@生活薯 @小红书设计周</a:t>
            </a:r>
          </a:p>
        </p:txBody>
      </p:sp>
      <p:sp>
        <p:nvSpPr>
          <p:cNvPr id="4717" name="IP"/>
          <p:cNvSpPr txBox="1"/>
          <p:nvPr/>
        </p:nvSpPr>
        <p:spPr>
          <a:xfrm>
            <a:off x="4140200" y="6249140"/>
            <a:ext cx="11620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品牌全年IP营销方案</a:t>
            </a:r>
          </a:p>
        </p:txBody>
      </p:sp>
      <p:sp>
        <p:nvSpPr>
          <p:cNvPr id="4718" name="SPU"/>
          <p:cNvSpPr txBox="1"/>
          <p:nvPr/>
        </p:nvSpPr>
        <p:spPr>
          <a:xfrm>
            <a:off x="2857500" y="4706090"/>
            <a:ext cx="8255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SPU品类排名</a:t>
            </a:r>
          </a:p>
        </p:txBody>
      </p:sp>
      <p:sp>
        <p:nvSpPr>
          <p:cNvPr id="4719" name="default_name"/>
          <p:cNvSpPr txBox="1"/>
          <p:nvPr/>
        </p:nvSpPr>
        <p:spPr>
          <a:xfrm>
            <a:off x="5137150" y="4706090"/>
            <a:ext cx="10287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人群资产排名变化</a:t>
            </a:r>
          </a:p>
        </p:txBody>
      </p:sp>
      <p:sp>
        <p:nvSpPr>
          <p:cNvPr id="4720" name="AIPS"/>
          <p:cNvSpPr txBox="1"/>
          <p:nvPr/>
        </p:nvSpPr>
        <p:spPr>
          <a:xfrm>
            <a:off x="7664450" y="4706090"/>
            <a:ext cx="7302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AIPS拉新率</a:t>
            </a:r>
          </a:p>
        </p:txBody>
      </p:sp>
      <p:sp>
        <p:nvSpPr>
          <p:cNvPr id="4721" name="UGC"/>
          <p:cNvSpPr txBox="1"/>
          <p:nvPr/>
        </p:nvSpPr>
        <p:spPr>
          <a:xfrm>
            <a:off x="9975850" y="4706090"/>
            <a:ext cx="8509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lang="en-US" sz="1000" dirty="0" err="1"/>
              <a:t>UGC</a:t>
            </a:r>
            <a:r>
              <a:rPr sz="1000" dirty="0" err="1"/>
              <a:t>笔记数量</a:t>
            </a:r>
            <a:endParaRPr sz="1000" dirty="0"/>
          </a:p>
        </p:txBody>
      </p:sp>
      <p:sp>
        <p:nvSpPr>
          <p:cNvPr id="4722" name="default_name"/>
          <p:cNvSpPr txBox="1"/>
          <p:nvPr/>
        </p:nvSpPr>
        <p:spPr>
          <a:xfrm>
            <a:off x="6896100" y="6249140"/>
            <a:ext cx="11557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经销商线下经营活动</a:t>
            </a:r>
          </a:p>
        </p:txBody>
      </p:sp>
      <p:sp>
        <p:nvSpPr>
          <p:cNvPr id="4723" name="default_name"/>
          <p:cNvSpPr txBox="1"/>
          <p:nvPr/>
        </p:nvSpPr>
        <p:spPr>
          <a:xfrm>
            <a:off x="2402289" y="1664440"/>
            <a:ext cx="6286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品类占领</a:t>
            </a:r>
          </a:p>
        </p:txBody>
      </p:sp>
      <p:sp>
        <p:nvSpPr>
          <p:cNvPr id="4724" name="default_name"/>
          <p:cNvSpPr txBox="1"/>
          <p:nvPr/>
        </p:nvSpPr>
        <p:spPr>
          <a:xfrm>
            <a:off x="9423400" y="1667616"/>
            <a:ext cx="8064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真实车主发声</a:t>
            </a:r>
          </a:p>
        </p:txBody>
      </p:sp>
      <p:sp>
        <p:nvSpPr>
          <p:cNvPr id="4725" name="default_name"/>
          <p:cNvSpPr txBox="1"/>
          <p:nvPr/>
        </p:nvSpPr>
        <p:spPr>
          <a:xfrm>
            <a:off x="7099300" y="1664440"/>
            <a:ext cx="8318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兴趣人群破圈</a:t>
            </a:r>
          </a:p>
        </p:txBody>
      </p:sp>
      <p:sp>
        <p:nvSpPr>
          <p:cNvPr id="4726" name="default_name"/>
          <p:cNvSpPr txBox="1"/>
          <p:nvPr/>
        </p:nvSpPr>
        <p:spPr>
          <a:xfrm>
            <a:off x="8140700" y="1664440"/>
            <a:ext cx="8318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目标人群渗透</a:t>
            </a:r>
          </a:p>
        </p:txBody>
      </p:sp>
      <p:sp>
        <p:nvSpPr>
          <p:cNvPr id="4728" name="-"/>
          <p:cNvSpPr txBox="1"/>
          <p:nvPr/>
        </p:nvSpPr>
        <p:spPr>
          <a:xfrm>
            <a:off x="10426700" y="1667616"/>
            <a:ext cx="10223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链接线上-线下</a:t>
            </a:r>
          </a:p>
        </p:txBody>
      </p:sp>
      <p:sp>
        <p:nvSpPr>
          <p:cNvPr id="4729" name="default_name"/>
          <p:cNvSpPr txBox="1"/>
          <p:nvPr/>
        </p:nvSpPr>
        <p:spPr>
          <a:xfrm>
            <a:off x="4686300" y="1664440"/>
            <a:ext cx="8191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车型定位</a:t>
            </a:r>
          </a:p>
        </p:txBody>
      </p:sp>
      <p:sp>
        <p:nvSpPr>
          <p:cNvPr id="4730" name="default_name"/>
          <p:cNvSpPr txBox="1"/>
          <p:nvPr/>
        </p:nvSpPr>
        <p:spPr>
          <a:xfrm>
            <a:off x="5638800" y="1664440"/>
            <a:ext cx="9779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生活场景拓展</a:t>
            </a:r>
          </a:p>
        </p:txBody>
      </p:sp>
      <p:sp>
        <p:nvSpPr>
          <p:cNvPr id="4731" name="default_name"/>
          <p:cNvSpPr txBox="1"/>
          <p:nvPr/>
        </p:nvSpPr>
        <p:spPr>
          <a:xfrm>
            <a:off x="2298700" y="2573315"/>
            <a:ext cx="1949450" cy="155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900" spc="10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新车首秀+海量曝光+权威平台背书+全链路解决方案</a:t>
            </a:r>
          </a:p>
        </p:txBody>
      </p:sp>
      <p:sp>
        <p:nvSpPr>
          <p:cNvPr id="4732" name="default_name"/>
          <p:cNvSpPr txBox="1"/>
          <p:nvPr/>
        </p:nvSpPr>
        <p:spPr>
          <a:xfrm>
            <a:off x="2590800" y="2977407"/>
            <a:ext cx="13652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最新上市车型资讯与第一手体验</a:t>
            </a:r>
          </a:p>
        </p:txBody>
      </p:sp>
      <p:sp>
        <p:nvSpPr>
          <p:cNvPr id="4733" name="default_name"/>
          <p:cNvSpPr txBox="1"/>
          <p:nvPr/>
        </p:nvSpPr>
        <p:spPr>
          <a:xfrm>
            <a:off x="2736850" y="3383807"/>
            <a:ext cx="10731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车展特色内容边看边种草</a:t>
            </a:r>
          </a:p>
        </p:txBody>
      </p:sp>
      <p:sp>
        <p:nvSpPr>
          <p:cNvPr id="4734" name="WOW"/>
          <p:cNvSpPr txBox="1"/>
          <p:nvPr/>
        </p:nvSpPr>
        <p:spPr>
          <a:xfrm>
            <a:off x="4876800" y="2774207"/>
            <a:ext cx="15557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打开每一程都很WOW的车生活想象</a:t>
            </a:r>
          </a:p>
        </p:txBody>
      </p:sp>
      <p:sp>
        <p:nvSpPr>
          <p:cNvPr id="4735" name="default_name"/>
          <p:cNvSpPr txBox="1"/>
          <p:nvPr/>
        </p:nvSpPr>
        <p:spPr>
          <a:xfrm>
            <a:off x="9556750" y="3072657"/>
            <a:ext cx="17208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汇聚口碑积累+真实及潜在车主心智建设</a:t>
            </a:r>
          </a:p>
        </p:txBody>
      </p:sp>
      <p:sp>
        <p:nvSpPr>
          <p:cNvPr id="4736" name="default_name"/>
          <p:cNvSpPr txBox="1"/>
          <p:nvPr/>
        </p:nvSpPr>
        <p:spPr>
          <a:xfrm>
            <a:off x="7397750" y="2621807"/>
            <a:ext cx="12636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平台级车迷狂欢与种草大事件</a:t>
            </a:r>
          </a:p>
        </p:txBody>
      </p:sp>
      <p:sp>
        <p:nvSpPr>
          <p:cNvPr id="4737" name="default_name"/>
          <p:cNvSpPr txBox="1"/>
          <p:nvPr/>
        </p:nvSpPr>
        <p:spPr>
          <a:xfrm>
            <a:off x="7200900" y="3104407"/>
            <a:ext cx="16573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聚焦周末休闲场景，破圈玩车兴趣人群</a:t>
            </a:r>
          </a:p>
        </p:txBody>
      </p:sp>
      <p:sp>
        <p:nvSpPr>
          <p:cNvPr id="4738" name="default_name"/>
          <p:cNvSpPr txBox="1"/>
          <p:nvPr/>
        </p:nvSpPr>
        <p:spPr>
          <a:xfrm>
            <a:off x="7251700" y="3587007"/>
            <a:ext cx="156210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从兴趣人群出发，打开汽车生活场景</a:t>
            </a:r>
          </a:p>
        </p:txBody>
      </p:sp>
      <p:sp>
        <p:nvSpPr>
          <p:cNvPr id="4739" name="default_name"/>
          <p:cNvSpPr txBox="1"/>
          <p:nvPr/>
        </p:nvSpPr>
        <p:spPr>
          <a:xfrm>
            <a:off x="7105650" y="4069607"/>
            <a:ext cx="18478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打开高端消费人群场景，奢享人群精准触达</a:t>
            </a:r>
          </a:p>
        </p:txBody>
      </p:sp>
      <p:sp>
        <p:nvSpPr>
          <p:cNvPr id="4740" name="name_10"/>
          <p:cNvSpPr txBox="1"/>
          <p:nvPr/>
        </p:nvSpPr>
        <p:spPr>
          <a:xfrm>
            <a:off x="4724400" y="3345707"/>
            <a:ext cx="186690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探索城市漫游10公里范围圈的生活半径方式</a:t>
            </a:r>
          </a:p>
        </p:txBody>
      </p:sp>
      <p:sp>
        <p:nvSpPr>
          <p:cNvPr id="4741" name="name_10000UGC"/>
          <p:cNvSpPr txBox="1"/>
          <p:nvPr/>
        </p:nvSpPr>
        <p:spPr>
          <a:xfrm>
            <a:off x="9436100" y="3644157"/>
            <a:ext cx="19621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 dirty="0"/>
              <a:t>合作10000+线下圈层俱乐部&amp;</a:t>
            </a:r>
            <a:r>
              <a:rPr lang="en-US" sz="733" dirty="0"/>
              <a:t>UGC</a:t>
            </a:r>
            <a:r>
              <a:rPr sz="733" dirty="0"/>
              <a:t>内容沉淀</a:t>
            </a:r>
          </a:p>
        </p:txBody>
      </p:sp>
      <p:sp>
        <p:nvSpPr>
          <p:cNvPr id="4742" name="default_name"/>
          <p:cNvSpPr txBox="1"/>
          <p:nvPr/>
        </p:nvSpPr>
        <p:spPr>
          <a:xfrm>
            <a:off x="4826000" y="3917207"/>
            <a:ext cx="16573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以非典型目的为载体，将汽车切入场景</a:t>
            </a:r>
          </a:p>
        </p:txBody>
      </p:sp>
      <p:sp>
        <p:nvSpPr>
          <p:cNvPr id="4743" name="default_name"/>
          <p:cNvSpPr txBox="1"/>
          <p:nvPr/>
        </p:nvSpPr>
        <p:spPr>
          <a:xfrm>
            <a:off x="2641600" y="3790207"/>
            <a:ext cx="12636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年轻人赛道，车主的真实故事</a:t>
            </a:r>
          </a:p>
        </p:txBody>
      </p:sp>
      <p:sp>
        <p:nvSpPr>
          <p:cNvPr id="4744" name="default_name"/>
          <p:cNvSpPr txBox="1"/>
          <p:nvPr/>
        </p:nvSpPr>
        <p:spPr>
          <a:xfrm>
            <a:off x="2736850" y="4196607"/>
            <a:ext cx="107315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1A1A1A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/>
              <a:t>海内外顶尖车型首发引爆</a:t>
            </a:r>
          </a:p>
        </p:txBody>
      </p:sp>
      <p:sp>
        <p:nvSpPr>
          <p:cNvPr id="4745" name="default_name"/>
          <p:cNvSpPr txBox="1"/>
          <p:nvPr/>
        </p:nvSpPr>
        <p:spPr>
          <a:xfrm>
            <a:off x="3733767" y="2427657"/>
            <a:ext cx="2921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 dirty="0" err="1"/>
              <a:t>大事件</a:t>
            </a:r>
            <a:endParaRPr sz="667" dirty="0"/>
          </a:p>
        </p:txBody>
      </p:sp>
      <p:sp>
        <p:nvSpPr>
          <p:cNvPr id="4746" name="NEW"/>
          <p:cNvSpPr txBox="1"/>
          <p:nvPr/>
        </p:nvSpPr>
        <p:spPr>
          <a:xfrm>
            <a:off x="7950167" y="5700023"/>
            <a:ext cx="27940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 dirty="0"/>
              <a:t>NEW</a:t>
            </a:r>
          </a:p>
        </p:txBody>
      </p:sp>
      <p:sp>
        <p:nvSpPr>
          <p:cNvPr id="4747" name="NEW"/>
          <p:cNvSpPr txBox="1"/>
          <p:nvPr/>
        </p:nvSpPr>
        <p:spPr>
          <a:xfrm>
            <a:off x="10960067" y="5700023"/>
            <a:ext cx="279400" cy="1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1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733" dirty="0"/>
              <a:t>NEW</a:t>
            </a:r>
          </a:p>
        </p:txBody>
      </p:sp>
      <p:sp>
        <p:nvSpPr>
          <p:cNvPr id="4748" name="default_name"/>
          <p:cNvSpPr txBox="1"/>
          <p:nvPr/>
        </p:nvSpPr>
        <p:spPr>
          <a:xfrm>
            <a:off x="6216617" y="2630857"/>
            <a:ext cx="2921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大事件</a:t>
            </a:r>
          </a:p>
        </p:txBody>
      </p:sp>
      <p:sp>
        <p:nvSpPr>
          <p:cNvPr id="4749" name="default_name"/>
          <p:cNvSpPr txBox="1"/>
          <p:nvPr/>
        </p:nvSpPr>
        <p:spPr>
          <a:xfrm>
            <a:off x="8616917" y="2478457"/>
            <a:ext cx="2921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大事件</a:t>
            </a:r>
          </a:p>
        </p:txBody>
      </p:sp>
      <p:sp>
        <p:nvSpPr>
          <p:cNvPr id="4750" name="NEW"/>
          <p:cNvSpPr txBox="1"/>
          <p:nvPr/>
        </p:nvSpPr>
        <p:spPr>
          <a:xfrm>
            <a:off x="6305517" y="3202357"/>
            <a:ext cx="2667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NEW</a:t>
            </a:r>
          </a:p>
        </p:txBody>
      </p:sp>
      <p:sp>
        <p:nvSpPr>
          <p:cNvPr id="4751" name="NEW"/>
          <p:cNvSpPr txBox="1"/>
          <p:nvPr/>
        </p:nvSpPr>
        <p:spPr>
          <a:xfrm>
            <a:off x="6248367" y="3773857"/>
            <a:ext cx="2667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NEW</a:t>
            </a:r>
          </a:p>
        </p:txBody>
      </p:sp>
      <p:sp>
        <p:nvSpPr>
          <p:cNvPr id="4752" name="NEW"/>
          <p:cNvSpPr txBox="1"/>
          <p:nvPr/>
        </p:nvSpPr>
        <p:spPr>
          <a:xfrm>
            <a:off x="4000467" y="4053257"/>
            <a:ext cx="266700" cy="157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lnSpc>
                <a:spcPts val="1400"/>
              </a:lnSpc>
              <a:defRPr sz="1000" spc="11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NEW</a:t>
            </a:r>
          </a:p>
        </p:txBody>
      </p:sp>
      <p:sp>
        <p:nvSpPr>
          <p:cNvPr id="4753" name="default_name"/>
          <p:cNvSpPr txBox="1"/>
          <p:nvPr/>
        </p:nvSpPr>
        <p:spPr>
          <a:xfrm>
            <a:off x="317500" y="286490"/>
            <a:ext cx="15113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4754" name="default_name"/>
          <p:cNvSpPr txBox="1"/>
          <p:nvPr/>
        </p:nvSpPr>
        <p:spPr>
          <a:xfrm>
            <a:off x="1111250" y="521440"/>
            <a:ext cx="11811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pic>
        <p:nvPicPr>
          <p:cNvPr id="2" name="Rectangle 937" descr="Rectangle 937">
            <a:extLst>
              <a:ext uri="{FF2B5EF4-FFF2-40B4-BE49-F238E27FC236}">
                <a16:creationId xmlns:a16="http://schemas.microsoft.com/office/drawing/2014/main" id="{80F712E4-8536-A540-0543-23B68EC5CB0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75719" y="1644650"/>
            <a:ext cx="1016000" cy="247650"/>
          </a:xfrm>
          <a:prstGeom prst="rect">
            <a:avLst/>
          </a:prstGeom>
          <a:ln w="12700">
            <a:miter lim="400000"/>
          </a:ln>
        </p:spPr>
      </p:pic>
      <p:sp>
        <p:nvSpPr>
          <p:cNvPr id="4727" name="default_name"/>
          <p:cNvSpPr txBox="1"/>
          <p:nvPr/>
        </p:nvSpPr>
        <p:spPr>
          <a:xfrm>
            <a:off x="3331294" y="1664440"/>
            <a:ext cx="70485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 dirty="0" err="1"/>
              <a:t>价格带卡位</a:t>
            </a:r>
            <a:endParaRPr sz="1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633B4BB-24C2-A605-773C-9A03724BAFAE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BA15952A-2BC8-44EF-FDAE-01CFB7DED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C54D71FC-9FDB-8763-0368-EDA0A804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0D19FEBE-111A-7DDD-4EC1-AC2996B5F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7EEAD8BE-8996-944F-C31D-D3AE77ABD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1AE42178-766C-5067-333B-DD44F98D9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784A4AC0-B46D-A8EC-CC7D-C4C901916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9F844D76-FF7D-0F0E-D633-66375693F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CAE9A766-3536-AAAA-099F-9BA4B536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2" name="Vector" descr="Vector">
              <a:extLst>
                <a:ext uri="{FF2B5EF4-FFF2-40B4-BE49-F238E27FC236}">
                  <a16:creationId xmlns:a16="http://schemas.microsoft.com/office/drawing/2014/main" id="{C509407D-0833-FE73-65CD-9AD4EF729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04126951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6" name="背景" descr="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8" name="Line 18" descr="Lin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14" y="399833"/>
            <a:ext cx="1674091" cy="196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9" name="Rectangle 204" descr="Rectangle 2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19300"/>
            <a:ext cx="2762250" cy="445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0" name="Ellipse 36" descr="Ellips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260600"/>
            <a:ext cx="2120900" cy="736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1" name="Ellipse 41" descr="Ellips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098800"/>
            <a:ext cx="2120900" cy="736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2" name="Ellipse 44" descr="Ellips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937000"/>
            <a:ext cx="2120900" cy="736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3" name="Ellipse 47" descr="Ellipse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4775200"/>
            <a:ext cx="2120900" cy="736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4" name="Ellipse 48" descr="Ellipse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15" y="5155816"/>
            <a:ext cx="2221635" cy="4129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5" name="Ellipse 40" descr="Ellips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59" y="2203269"/>
            <a:ext cx="2221672" cy="4125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6" name="Vector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82" y="3479800"/>
            <a:ext cx="2352868" cy="81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7" name="Vector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82" y="4318000"/>
            <a:ext cx="2352868" cy="81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8" name="Vector" descr="Vect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82" y="2641600"/>
            <a:ext cx="2352868" cy="81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9" name="Rectangle 205" descr="Rectangle 2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2019300"/>
            <a:ext cx="2762250" cy="445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0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2305050"/>
            <a:ext cx="2032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1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2971800"/>
            <a:ext cx="2032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2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3638550"/>
            <a:ext cx="2032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3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4305300"/>
            <a:ext cx="2032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4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8550" y="4972050"/>
            <a:ext cx="2032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5" name="Rectangle 207" descr="Rectangle 2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500" y="2019300"/>
            <a:ext cx="2762250" cy="445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6" name="Rectangle 209" descr="Rectangle 2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0" y="2019300"/>
            <a:ext cx="2762250" cy="445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7" name="Rectangle 22" descr="Rectangl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7050" y="3403600"/>
            <a:ext cx="889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8" name="Rectangle 22" descr="Rectangl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5150" y="3930650"/>
            <a:ext cx="889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9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9200" y="4438650"/>
            <a:ext cx="14160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0" name="Rectangle 22" descr="Rectangl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7350" y="4845050"/>
            <a:ext cx="14605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1" name="Rectangle 22" descr="Rectangl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1600" y="5251450"/>
            <a:ext cx="12065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2" name="Rectangle 22" descr="Rectangl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5300" y="2895600"/>
            <a:ext cx="889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3" name="Rectangle 22" descr="Rectangl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1350" y="2305050"/>
            <a:ext cx="1270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4" name="Rectangle 22" descr="Rectangl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5600" y="2838450"/>
            <a:ext cx="1270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5" name="Rectangle 22" descr="Rectangl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82250" y="3371850"/>
            <a:ext cx="1270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6" name="Rectangle 22" descr="Rectangl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5450" y="3905250"/>
            <a:ext cx="1270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7" name="Rectangle 195" descr="Rectangle 19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" y="1530350"/>
            <a:ext cx="2336800" cy="488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8" name="Rectangle 206" descr="Rectangle 20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6150" y="1530350"/>
            <a:ext cx="2330450" cy="488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9" name="Rectangle 208" descr="Rectangle 20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1750" y="1530350"/>
            <a:ext cx="2336800" cy="488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0" name="Rectangle 210" descr="Rectangle 2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7350" y="1530350"/>
            <a:ext cx="2336800" cy="488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1" name="Rectangle 211" descr="Rectangle 21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9050" y="2305050"/>
            <a:ext cx="234315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2" name="Rectangle 212" descr="Rectangle 2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9050" y="3149600"/>
            <a:ext cx="234315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3" name="Rectangle 213" descr="Rectangle 2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9050" y="3994150"/>
            <a:ext cx="234315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4" name="Rectangle 214" descr="Rectangle 2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9050" y="4838700"/>
            <a:ext cx="234315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5" name="Rectangle 183" descr="Rectangle 18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79750" y="3797300"/>
            <a:ext cx="254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6" name="Rectangle 183" descr="Rectangle 18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9000" y="3797300"/>
            <a:ext cx="254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7" name="Rectangle 183" descr="Rectangle 18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58250" y="3797300"/>
            <a:ext cx="254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8" name="Rectangle 22" descr="Rectangl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41050" y="2425700"/>
            <a:ext cx="41275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9" name="Ellipse 61" descr="Ellipse 6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42650" y="25209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0" name="Ellipse 62" descr="Ellipse 6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80750" y="25209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1" name="Ellipse 63" descr="Ellipse 6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18850" y="25209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2" name="Ellipse 64" descr="Ellipse 6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56950" y="25209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3" name="Ellipse 65" descr="Ellipse 6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95050" y="25209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4" name="Ellipse 66" descr="Ellipse 6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33150" y="25209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5" name="Rectangle 22" descr="Rectangl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52000" y="5283200"/>
            <a:ext cx="412750" cy="209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6" name="Ellipse 61" descr="Ellipse 6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53600" y="53784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7" name="Ellipse 62" descr="Ellipse 6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91700" y="53784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8" name="Ellipse 63" descr="Ellipse 6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29800" y="53784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9" name="Ellipse 64" descr="Ellipse 6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67900" y="53784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0" name="Ellipse 65" descr="Ellipse 6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06000" y="5378450"/>
            <a:ext cx="19053" cy="19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1" name="Ellipse 66" descr="Ellipse 6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44100" y="5378450"/>
            <a:ext cx="19053" cy="19056"/>
          </a:xfrm>
          <a:prstGeom prst="rect">
            <a:avLst/>
          </a:prstGeom>
          <a:ln w="12700">
            <a:miter lim="400000"/>
          </a:ln>
        </p:spPr>
      </p:pic>
      <p:sp>
        <p:nvSpPr>
          <p:cNvPr id="4812" name="Text 0"/>
          <p:cNvSpPr txBox="1"/>
          <p:nvPr/>
        </p:nvSpPr>
        <p:spPr>
          <a:xfrm>
            <a:off x="4127500" y="591741"/>
            <a:ext cx="3981450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3200"/>
              </a:lnSpc>
              <a:defRPr sz="40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667"/>
              <a:t>因客施策</a:t>
            </a:r>
            <a:r>
              <a:rPr sz="2667">
                <a:solidFill>
                  <a:srgbClr val="191919"/>
                </a:solidFill>
              </a:rPr>
              <a:t> 全生命周期覆盖</a:t>
            </a:r>
          </a:p>
        </p:txBody>
      </p:sp>
      <p:sp>
        <p:nvSpPr>
          <p:cNvPr id="4813" name="IP"/>
          <p:cNvSpPr txBox="1"/>
          <p:nvPr/>
        </p:nvSpPr>
        <p:spPr>
          <a:xfrm>
            <a:off x="5181600" y="1057391"/>
            <a:ext cx="18288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13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 dirty="0" err="1"/>
              <a:t>交通出行行业IP策略</a:t>
            </a:r>
            <a:endParaRPr sz="1467" dirty="0"/>
          </a:p>
        </p:txBody>
      </p:sp>
      <p:sp>
        <p:nvSpPr>
          <p:cNvPr id="4814" name="default_name"/>
          <p:cNvSpPr txBox="1"/>
          <p:nvPr/>
        </p:nvSpPr>
        <p:spPr>
          <a:xfrm>
            <a:off x="317500" y="286490"/>
            <a:ext cx="15113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4815" name="default_name"/>
          <p:cNvSpPr txBox="1"/>
          <p:nvPr/>
        </p:nvSpPr>
        <p:spPr>
          <a:xfrm>
            <a:off x="1111250" y="521440"/>
            <a:ext cx="11811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4816" name="default_name"/>
          <p:cNvSpPr txBox="1"/>
          <p:nvPr/>
        </p:nvSpPr>
        <p:spPr>
          <a:xfrm>
            <a:off x="3632200" y="2340091"/>
            <a:ext cx="20447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概念预热期</a:t>
            </a:r>
          </a:p>
        </p:txBody>
      </p:sp>
      <p:sp>
        <p:nvSpPr>
          <p:cNvPr id="4817" name="default_name"/>
          <p:cNvSpPr txBox="1"/>
          <p:nvPr/>
        </p:nvSpPr>
        <p:spPr>
          <a:xfrm>
            <a:off x="3632200" y="3006841"/>
            <a:ext cx="20447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新车发布期</a:t>
            </a:r>
          </a:p>
        </p:txBody>
      </p:sp>
      <p:sp>
        <p:nvSpPr>
          <p:cNvPr id="4818" name="default_name"/>
          <p:cNvSpPr txBox="1"/>
          <p:nvPr/>
        </p:nvSpPr>
        <p:spPr>
          <a:xfrm>
            <a:off x="3632200" y="3673591"/>
            <a:ext cx="20447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新车上市期</a:t>
            </a:r>
          </a:p>
        </p:txBody>
      </p:sp>
      <p:sp>
        <p:nvSpPr>
          <p:cNvPr id="4819" name="default_name"/>
          <p:cNvSpPr txBox="1"/>
          <p:nvPr/>
        </p:nvSpPr>
        <p:spPr>
          <a:xfrm>
            <a:off x="3632200" y="4340341"/>
            <a:ext cx="20447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车型运营期</a:t>
            </a:r>
          </a:p>
        </p:txBody>
      </p:sp>
      <p:sp>
        <p:nvSpPr>
          <p:cNvPr id="4820" name="default_name"/>
          <p:cNvSpPr txBox="1"/>
          <p:nvPr/>
        </p:nvSpPr>
        <p:spPr>
          <a:xfrm>
            <a:off x="3632200" y="5007091"/>
            <a:ext cx="20447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品牌焕新期</a:t>
            </a:r>
          </a:p>
        </p:txBody>
      </p:sp>
      <p:sp>
        <p:nvSpPr>
          <p:cNvPr id="4821" name="default_name"/>
          <p:cNvSpPr txBox="1"/>
          <p:nvPr/>
        </p:nvSpPr>
        <p:spPr>
          <a:xfrm>
            <a:off x="9505950" y="3453656"/>
            <a:ext cx="7112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辣妹轿跑</a:t>
            </a:r>
          </a:p>
        </p:txBody>
      </p:sp>
      <p:sp>
        <p:nvSpPr>
          <p:cNvPr id="4822" name="default_name"/>
          <p:cNvSpPr txBox="1"/>
          <p:nvPr/>
        </p:nvSpPr>
        <p:spPr>
          <a:xfrm>
            <a:off x="10814050" y="3980706"/>
            <a:ext cx="7112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停车高手</a:t>
            </a:r>
          </a:p>
        </p:txBody>
      </p:sp>
      <p:sp>
        <p:nvSpPr>
          <p:cNvPr id="4823" name="default_name"/>
          <p:cNvSpPr txBox="1"/>
          <p:nvPr/>
        </p:nvSpPr>
        <p:spPr>
          <a:xfrm>
            <a:off x="10255250" y="4488706"/>
            <a:ext cx="11239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她的人生阶段车</a:t>
            </a:r>
          </a:p>
        </p:txBody>
      </p:sp>
      <p:sp>
        <p:nvSpPr>
          <p:cNvPr id="4824" name="name_1"/>
          <p:cNvSpPr txBox="1"/>
          <p:nvPr/>
        </p:nvSpPr>
        <p:spPr>
          <a:xfrm>
            <a:off x="9366250" y="4895106"/>
            <a:ext cx="12827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握紧方向盘的第1天</a:t>
            </a:r>
          </a:p>
        </p:txBody>
      </p:sp>
      <p:sp>
        <p:nvSpPr>
          <p:cNvPr id="4825" name="default_name"/>
          <p:cNvSpPr txBox="1"/>
          <p:nvPr/>
        </p:nvSpPr>
        <p:spPr>
          <a:xfrm>
            <a:off x="10350500" y="5301506"/>
            <a:ext cx="10287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开进山喘口气</a:t>
            </a:r>
          </a:p>
        </p:txBody>
      </p:sp>
      <p:sp>
        <p:nvSpPr>
          <p:cNvPr id="4826" name="name_8"/>
          <p:cNvSpPr txBox="1"/>
          <p:nvPr/>
        </p:nvSpPr>
        <p:spPr>
          <a:xfrm>
            <a:off x="10744200" y="2945656"/>
            <a:ext cx="7112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8平米的家</a:t>
            </a:r>
          </a:p>
        </p:txBody>
      </p:sp>
      <p:sp>
        <p:nvSpPr>
          <p:cNvPr id="4827" name="default_name"/>
          <p:cNvSpPr txBox="1"/>
          <p:nvPr/>
        </p:nvSpPr>
        <p:spPr>
          <a:xfrm>
            <a:off x="9531350" y="2421781"/>
            <a:ext cx="12700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成年人的大玩具</a:t>
            </a:r>
          </a:p>
        </p:txBody>
      </p:sp>
      <p:sp>
        <p:nvSpPr>
          <p:cNvPr id="4828" name="default_name"/>
          <p:cNvSpPr txBox="1"/>
          <p:nvPr/>
        </p:nvSpPr>
        <p:spPr>
          <a:xfrm>
            <a:off x="9372599" y="2952006"/>
            <a:ext cx="101055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个人野生车展</a:t>
            </a:r>
          </a:p>
        </p:txBody>
      </p:sp>
      <p:sp>
        <p:nvSpPr>
          <p:cNvPr id="4829" name="SOP"/>
          <p:cNvSpPr txBox="1"/>
          <p:nvPr/>
        </p:nvSpPr>
        <p:spPr>
          <a:xfrm>
            <a:off x="10509249" y="3485406"/>
            <a:ext cx="101055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宠物自驾SOP</a:t>
            </a:r>
          </a:p>
        </p:txBody>
      </p:sp>
      <p:sp>
        <p:nvSpPr>
          <p:cNvPr id="4830" name="default_name"/>
          <p:cNvSpPr txBox="1"/>
          <p:nvPr/>
        </p:nvSpPr>
        <p:spPr>
          <a:xfrm>
            <a:off x="9442449" y="4018806"/>
            <a:ext cx="101055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333333"/>
                </a:solidFill>
              </a:rPr>
              <a:t>开进夏夜放个空</a:t>
            </a:r>
          </a:p>
        </p:txBody>
      </p:sp>
      <p:sp>
        <p:nvSpPr>
          <p:cNvPr id="4831" name="default_name"/>
          <p:cNvSpPr txBox="1"/>
          <p:nvPr/>
        </p:nvSpPr>
        <p:spPr>
          <a:xfrm>
            <a:off x="1092200" y="16225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理解品牌业态</a:t>
            </a:r>
          </a:p>
        </p:txBody>
      </p:sp>
      <p:sp>
        <p:nvSpPr>
          <p:cNvPr id="4832" name="default_name"/>
          <p:cNvSpPr txBox="1"/>
          <p:nvPr/>
        </p:nvSpPr>
        <p:spPr>
          <a:xfrm>
            <a:off x="1092200" y="24734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豪华客户</a:t>
            </a:r>
          </a:p>
        </p:txBody>
      </p:sp>
      <p:sp>
        <p:nvSpPr>
          <p:cNvPr id="4833" name="default_name"/>
          <p:cNvSpPr txBox="1"/>
          <p:nvPr/>
        </p:nvSpPr>
        <p:spPr>
          <a:xfrm>
            <a:off x="6883400" y="240362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新品引爆</a:t>
            </a:r>
          </a:p>
        </p:txBody>
      </p:sp>
      <p:sp>
        <p:nvSpPr>
          <p:cNvPr id="4834" name="default_name"/>
          <p:cNvSpPr txBox="1"/>
          <p:nvPr/>
        </p:nvSpPr>
        <p:spPr>
          <a:xfrm>
            <a:off x="6883400" y="32481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口碑沉淀</a:t>
            </a:r>
          </a:p>
        </p:txBody>
      </p:sp>
      <p:sp>
        <p:nvSpPr>
          <p:cNvPr id="4835" name="default_name"/>
          <p:cNvSpPr txBox="1"/>
          <p:nvPr/>
        </p:nvSpPr>
        <p:spPr>
          <a:xfrm>
            <a:off x="6883400" y="409272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场景转化</a:t>
            </a:r>
          </a:p>
        </p:txBody>
      </p:sp>
      <p:sp>
        <p:nvSpPr>
          <p:cNvPr id="4836" name="default_name"/>
          <p:cNvSpPr txBox="1"/>
          <p:nvPr/>
        </p:nvSpPr>
        <p:spPr>
          <a:xfrm>
            <a:off x="6883400" y="49372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人群破圈</a:t>
            </a:r>
          </a:p>
        </p:txBody>
      </p:sp>
      <p:sp>
        <p:nvSpPr>
          <p:cNvPr id="4837" name="default_name"/>
          <p:cNvSpPr txBox="1"/>
          <p:nvPr/>
        </p:nvSpPr>
        <p:spPr>
          <a:xfrm>
            <a:off x="1092200" y="33116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集团客户</a:t>
            </a:r>
          </a:p>
        </p:txBody>
      </p:sp>
      <p:sp>
        <p:nvSpPr>
          <p:cNvPr id="4838" name="default_name"/>
          <p:cNvSpPr txBox="1"/>
          <p:nvPr/>
        </p:nvSpPr>
        <p:spPr>
          <a:xfrm>
            <a:off x="1092200" y="41371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新势力客户</a:t>
            </a:r>
          </a:p>
        </p:txBody>
      </p:sp>
      <p:sp>
        <p:nvSpPr>
          <p:cNvPr id="4839" name="default_name"/>
          <p:cNvSpPr txBox="1"/>
          <p:nvPr/>
        </p:nvSpPr>
        <p:spPr>
          <a:xfrm>
            <a:off x="1092200" y="499442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自主客户</a:t>
            </a:r>
          </a:p>
        </p:txBody>
      </p:sp>
      <p:sp>
        <p:nvSpPr>
          <p:cNvPr id="4840" name="default_name"/>
          <p:cNvSpPr txBox="1"/>
          <p:nvPr/>
        </p:nvSpPr>
        <p:spPr>
          <a:xfrm>
            <a:off x="3994150" y="16225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立足产品周期</a:t>
            </a:r>
          </a:p>
        </p:txBody>
      </p:sp>
      <p:sp>
        <p:nvSpPr>
          <p:cNvPr id="4841" name="default_name"/>
          <p:cNvSpPr txBox="1"/>
          <p:nvPr/>
        </p:nvSpPr>
        <p:spPr>
          <a:xfrm>
            <a:off x="6889750" y="16225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明确营销诉求</a:t>
            </a:r>
          </a:p>
        </p:txBody>
      </p:sp>
      <p:sp>
        <p:nvSpPr>
          <p:cNvPr id="4842" name="default_name"/>
          <p:cNvSpPr txBox="1"/>
          <p:nvPr/>
        </p:nvSpPr>
        <p:spPr>
          <a:xfrm>
            <a:off x="9791700" y="1622573"/>
            <a:ext cx="13208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瞄准当下趋势</a:t>
            </a:r>
          </a:p>
        </p:txBody>
      </p:sp>
      <p:sp>
        <p:nvSpPr>
          <p:cNvPr id="4843" name="WHO"/>
          <p:cNvSpPr txBox="1"/>
          <p:nvPr/>
        </p:nvSpPr>
        <p:spPr>
          <a:xfrm>
            <a:off x="1111250" y="5804907"/>
            <a:ext cx="1314450" cy="46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000"/>
              </a:lnSpc>
              <a:defRPr sz="3300" spc="203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200"/>
              <a:t>WHO</a:t>
            </a:r>
          </a:p>
        </p:txBody>
      </p:sp>
      <p:sp>
        <p:nvSpPr>
          <p:cNvPr id="4844" name="WHEN"/>
          <p:cNvSpPr txBox="1"/>
          <p:nvPr/>
        </p:nvSpPr>
        <p:spPr>
          <a:xfrm>
            <a:off x="3746500" y="5804907"/>
            <a:ext cx="1816100" cy="46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000"/>
              </a:lnSpc>
              <a:defRPr sz="3300" spc="203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200"/>
              <a:t>WHEN</a:t>
            </a:r>
          </a:p>
        </p:txBody>
      </p:sp>
      <p:sp>
        <p:nvSpPr>
          <p:cNvPr id="4845" name="WHY"/>
          <p:cNvSpPr txBox="1"/>
          <p:nvPr/>
        </p:nvSpPr>
        <p:spPr>
          <a:xfrm>
            <a:off x="6889750" y="5804907"/>
            <a:ext cx="1314450" cy="46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000"/>
              </a:lnSpc>
              <a:defRPr sz="3300" spc="203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200"/>
              <a:t>WHY</a:t>
            </a:r>
          </a:p>
        </p:txBody>
      </p:sp>
      <p:sp>
        <p:nvSpPr>
          <p:cNvPr id="4846" name="WHAT"/>
          <p:cNvSpPr txBox="1"/>
          <p:nvPr/>
        </p:nvSpPr>
        <p:spPr>
          <a:xfrm>
            <a:off x="9385300" y="5804907"/>
            <a:ext cx="2095500" cy="461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000"/>
              </a:lnSpc>
              <a:defRPr sz="3300" spc="203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200"/>
              <a:t>WHAT</a:t>
            </a:r>
          </a:p>
        </p:txBody>
      </p:sp>
      <p:sp>
        <p:nvSpPr>
          <p:cNvPr id="4847" name="default_name"/>
          <p:cNvSpPr txBox="1"/>
          <p:nvPr/>
        </p:nvSpPr>
        <p:spPr>
          <a:xfrm>
            <a:off x="4064000" y="2616578"/>
            <a:ext cx="11811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谍照、概念车、用户共创</a:t>
            </a:r>
          </a:p>
        </p:txBody>
      </p:sp>
      <p:sp>
        <p:nvSpPr>
          <p:cNvPr id="4848" name="name_0-1"/>
          <p:cNvSpPr txBox="1"/>
          <p:nvPr/>
        </p:nvSpPr>
        <p:spPr>
          <a:xfrm>
            <a:off x="7175500" y="2743578"/>
            <a:ext cx="7366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“认知从0-1”</a:t>
            </a:r>
          </a:p>
        </p:txBody>
      </p:sp>
      <p:sp>
        <p:nvSpPr>
          <p:cNvPr id="4849" name="default_name"/>
          <p:cNvSpPr txBox="1"/>
          <p:nvPr/>
        </p:nvSpPr>
        <p:spPr>
          <a:xfrm>
            <a:off x="7112000" y="3588128"/>
            <a:ext cx="8636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“信任从浅到深”</a:t>
            </a:r>
          </a:p>
        </p:txBody>
      </p:sp>
      <p:sp>
        <p:nvSpPr>
          <p:cNvPr id="4850" name="default_name"/>
          <p:cNvSpPr txBox="1"/>
          <p:nvPr/>
        </p:nvSpPr>
        <p:spPr>
          <a:xfrm>
            <a:off x="7112000" y="4432678"/>
            <a:ext cx="8636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“兴趣从心到行”</a:t>
            </a:r>
          </a:p>
        </p:txBody>
      </p:sp>
      <p:sp>
        <p:nvSpPr>
          <p:cNvPr id="4851" name="default_name"/>
          <p:cNvSpPr txBox="1"/>
          <p:nvPr/>
        </p:nvSpPr>
        <p:spPr>
          <a:xfrm>
            <a:off x="7112000" y="5277228"/>
            <a:ext cx="8636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“用户从窄到广”</a:t>
            </a:r>
          </a:p>
        </p:txBody>
      </p:sp>
      <p:sp>
        <p:nvSpPr>
          <p:cNvPr id="4852" name="default_name"/>
          <p:cNvSpPr txBox="1"/>
          <p:nvPr/>
        </p:nvSpPr>
        <p:spPr>
          <a:xfrm>
            <a:off x="4064000" y="3283328"/>
            <a:ext cx="11811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车展亮相、发布会、预售</a:t>
            </a:r>
          </a:p>
        </p:txBody>
      </p:sp>
      <p:sp>
        <p:nvSpPr>
          <p:cNvPr id="4853" name="KOL"/>
          <p:cNvSpPr txBox="1"/>
          <p:nvPr/>
        </p:nvSpPr>
        <p:spPr>
          <a:xfrm>
            <a:off x="3759200" y="3950078"/>
            <a:ext cx="18034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媒体/KOL测评、用户体验、大定政策</a:t>
            </a:r>
          </a:p>
        </p:txBody>
      </p:sp>
      <p:sp>
        <p:nvSpPr>
          <p:cNvPr id="4854" name="OTA"/>
          <p:cNvSpPr txBox="1"/>
          <p:nvPr/>
        </p:nvSpPr>
        <p:spPr>
          <a:xfrm>
            <a:off x="3829050" y="4616828"/>
            <a:ext cx="166370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交付、用户运营、OTA升级、跨界</a:t>
            </a:r>
          </a:p>
        </p:txBody>
      </p:sp>
      <p:sp>
        <p:nvSpPr>
          <p:cNvPr id="4855" name="default_name"/>
          <p:cNvSpPr txBox="1"/>
          <p:nvPr/>
        </p:nvSpPr>
        <p:spPr>
          <a:xfrm>
            <a:off x="3937000" y="5283578"/>
            <a:ext cx="1441450" cy="342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改款、老用户权益、限量/联名</a:t>
            </a:r>
          </a:p>
        </p:txBody>
      </p:sp>
      <p:sp>
        <p:nvSpPr>
          <p:cNvPr id="4856" name="default_name"/>
          <p:cNvSpPr txBox="1"/>
          <p:nvPr/>
        </p:nvSpPr>
        <p:spPr>
          <a:xfrm>
            <a:off x="3129930" y="3808647"/>
            <a:ext cx="163219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>
                <a:solidFill>
                  <a:srgbClr val="FFFFFF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200"/>
              <a:t>×</a:t>
            </a:r>
          </a:p>
        </p:txBody>
      </p:sp>
      <p:sp>
        <p:nvSpPr>
          <p:cNvPr id="4857" name="default_name"/>
          <p:cNvSpPr txBox="1"/>
          <p:nvPr/>
        </p:nvSpPr>
        <p:spPr>
          <a:xfrm>
            <a:off x="6019180" y="3808647"/>
            <a:ext cx="163219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>
                <a:solidFill>
                  <a:srgbClr val="FFFFFF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200"/>
              <a:t>×</a:t>
            </a:r>
          </a:p>
        </p:txBody>
      </p:sp>
      <p:sp>
        <p:nvSpPr>
          <p:cNvPr id="4858" name="default_name"/>
          <p:cNvSpPr txBox="1"/>
          <p:nvPr/>
        </p:nvSpPr>
        <p:spPr>
          <a:xfrm>
            <a:off x="8908430" y="3808647"/>
            <a:ext cx="163219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>
                <a:solidFill>
                  <a:srgbClr val="FFFFFF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200"/>
              <a:t>×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9E29FD-3004-3EAE-5529-BF2178515293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50D16D7B-5F94-06C1-16B2-49601DC7D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6E5E7985-6C44-49C7-6679-1C6C6E1D4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3595F8F5-8FF5-5BB8-A168-DFA340AAC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49FBA034-A5F6-17E3-1AAE-01D4569F8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A0FBE030-DE1A-E328-9E36-8D3FA765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8A8B9CAA-A0C0-ABF0-74DC-CA60626F4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426C1A75-50CB-B946-2446-613E43B03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FE99D1C4-BB19-918F-8208-8862DAD77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8AEB4D73-BADD-C69D-0221-060F59E11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664038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0" name="背景" descr="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1" name="Line 18" descr="Lin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19" y="399833"/>
            <a:ext cx="1674091" cy="196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3" name="Line 16" descr="Lin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0" y="1807443"/>
            <a:ext cx="11214100" cy="93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4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5" name="Ellipse 34" descr="Ellips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6" name="Rectangle 3" descr="Rectangl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" y="1466850"/>
            <a:ext cx="16954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7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8" name="Ellipse 35" descr="Ellips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8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9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1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0" name="Ellipse 36" descr="Ellips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9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1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2" name="Ellipse 37" descr="Ellips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3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3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4" name="Ellipse 38" descr="Ellips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5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1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6" name="Ellipse 39" descr="Ellips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9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7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8" name="Ellipse 40" descr="Ellips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9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0" name="Ellipse 41" descr="Ellips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1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7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2" name="Ellipse 42" descr="Ellips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5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3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4" name="Ellipse 43" descr="Ellips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26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5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9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6" name="Ellipse 44" descr="Ellips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7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0" y="1466850"/>
            <a:ext cx="7048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8" name="Ellipse 45" descr="Ellipse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2850" y="18288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9" name="Rectangle 24" descr="Rectangl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900" y="2063750"/>
            <a:ext cx="9505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0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250" y="23495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1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4250" y="55880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2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5350" y="50165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3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1100" y="50165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4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5350" y="55880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5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8800" y="55880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6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8600" y="55880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7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1100" y="55880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8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830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9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880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0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20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1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395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2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3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335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4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3650" y="473075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5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8650" y="23495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6" name="Rectangle 24" descr="Rectangl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8950" y="2349500"/>
            <a:ext cx="7048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7" name="Rectangle 24" descr="Rectangl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900" y="2762250"/>
            <a:ext cx="9505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8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7900" y="44450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9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7900" y="59944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0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44450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1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59944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2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0" y="44450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3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0" y="59944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4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0" y="44450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5" name="Rectangle 24" descr="Rectangl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0" y="5994400"/>
            <a:ext cx="23050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6" name="Rectangle 24" descr="Rectangl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900" y="3175000"/>
            <a:ext cx="9505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7" name="Rectangle 24" descr="Rectangl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900" y="3460750"/>
            <a:ext cx="9505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8" name="Rectangle 24" descr="Rectangl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7900" y="3873500"/>
            <a:ext cx="1504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9" name="Rectangle 24" descr="Rectangl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47900" y="4730750"/>
            <a:ext cx="11176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0" name="Rectangle 24" descr="Rectangl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7900" y="5016500"/>
            <a:ext cx="1504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1" name="Rectangle 24" descr="Rectangl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3873500"/>
            <a:ext cx="1504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2" name="Rectangle 24" descr="Rectangl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5784" y="4730750"/>
            <a:ext cx="1117601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3" name="Rectangle 24" descr="Rectangl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5016500"/>
            <a:ext cx="1504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4" name="Rectangle 24" descr="Rectangl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8600" y="3873500"/>
            <a:ext cx="15049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5" name="Rectangle 24" descr="Rectangl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8800" y="3873500"/>
            <a:ext cx="11684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6" name="Rectangle 24" descr="Rectangl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8800" y="4159250"/>
            <a:ext cx="9779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7" name="Rectangle 24" descr="Rectangl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48950" y="3873500"/>
            <a:ext cx="11049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8" name="Rectangle 24" descr="Rectangl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90200" y="4159250"/>
            <a:ext cx="12636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9" name="Rectangle 24" descr="Rectangl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47900" y="4159250"/>
            <a:ext cx="31051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0" name="Rectangle 24" descr="Rectangl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47900" y="5302250"/>
            <a:ext cx="31051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1" name="Rectangle 24" descr="Rectangl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8300" y="4159250"/>
            <a:ext cx="31051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2" name="Rectangle 24" descr="Rectangl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8300" y="5302250"/>
            <a:ext cx="31051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3" name="Rectangle 24" descr="Rectangl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48700" y="5302250"/>
            <a:ext cx="31051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4" name="Rectangle 3" descr="Rectangle 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0" y="2063750"/>
            <a:ext cx="66675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5" name="Rectangle 3" descr="Rectangle 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0" y="3175000"/>
            <a:ext cx="66675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6" name="Rectangle 3" descr="Rectangle 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500" y="3873500"/>
            <a:ext cx="666750" cy="193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7" name="Rectangle 4" descr="Rectangle 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500" y="2762250"/>
            <a:ext cx="6667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8" name="Rectangle 4" descr="Rectangle 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500" y="6000750"/>
            <a:ext cx="66675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9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415925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0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206375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1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234950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2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276225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3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317500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4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346075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5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387350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6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444500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7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473075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8" name="Rectangle 57" descr="Rectangl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501650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9" name="Rectangle 57" descr="Rectangl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530225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0" name="Rectangle 57" descr="Rectangle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5588000"/>
            <a:ext cx="927100" cy="222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1" name="Rectangle 56" descr="Rectangl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500" y="6000750"/>
            <a:ext cx="927100" cy="222250"/>
          </a:xfrm>
          <a:prstGeom prst="rect">
            <a:avLst/>
          </a:prstGeom>
          <a:ln w="12700">
            <a:miter lim="400000"/>
          </a:ln>
        </p:spPr>
      </p:pic>
      <p:sp>
        <p:nvSpPr>
          <p:cNvPr id="4952" name="IP ROADMAP"/>
          <p:cNvSpPr txBox="1"/>
          <p:nvPr/>
        </p:nvSpPr>
        <p:spPr>
          <a:xfrm>
            <a:off x="2857500" y="617141"/>
            <a:ext cx="6477000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32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lang="en-US" altLang="zh-CN" sz="2667" dirty="0">
                <a:solidFill>
                  <a:srgbClr val="191919"/>
                </a:solidFill>
              </a:rPr>
              <a:t>2026 </a:t>
            </a:r>
            <a:r>
              <a:rPr lang="zh-CN" altLang="en-US" sz="2667" dirty="0">
                <a:solidFill>
                  <a:srgbClr val="0BB77E"/>
                </a:solidFill>
              </a:rPr>
              <a:t>交通出行行业</a:t>
            </a:r>
            <a:r>
              <a:rPr sz="2667" dirty="0">
                <a:solidFill>
                  <a:srgbClr val="0BB77E"/>
                </a:solidFill>
              </a:rPr>
              <a:t> </a:t>
            </a:r>
            <a:r>
              <a:rPr sz="2667" dirty="0">
                <a:solidFill>
                  <a:srgbClr val="191919"/>
                </a:solidFill>
              </a:rPr>
              <a:t>IP </a:t>
            </a:r>
            <a:r>
              <a:rPr lang="en-US" altLang="zh-CN" sz="2667" dirty="0">
                <a:solidFill>
                  <a:srgbClr val="191919"/>
                </a:solidFill>
              </a:rPr>
              <a:t>Roadmap</a:t>
            </a:r>
            <a:endParaRPr sz="2667" dirty="0">
              <a:solidFill>
                <a:srgbClr val="191919"/>
              </a:solidFill>
            </a:endParaRPr>
          </a:p>
        </p:txBody>
      </p:sp>
      <p:sp>
        <p:nvSpPr>
          <p:cNvPr id="4953" name="default_name"/>
          <p:cNvSpPr txBox="1"/>
          <p:nvPr/>
        </p:nvSpPr>
        <p:spPr>
          <a:xfrm>
            <a:off x="316806" y="286490"/>
            <a:ext cx="15113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4954" name="default_name"/>
          <p:cNvSpPr txBox="1"/>
          <p:nvPr/>
        </p:nvSpPr>
        <p:spPr>
          <a:xfrm>
            <a:off x="1110556" y="521440"/>
            <a:ext cx="11811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4955" name="name_1"/>
          <p:cNvSpPr txBox="1"/>
          <p:nvPr/>
        </p:nvSpPr>
        <p:spPr>
          <a:xfrm>
            <a:off x="22479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1月</a:t>
            </a:r>
          </a:p>
        </p:txBody>
      </p:sp>
      <p:sp>
        <p:nvSpPr>
          <p:cNvPr id="4956" name="default_name"/>
          <p:cNvSpPr txBox="1"/>
          <p:nvPr/>
        </p:nvSpPr>
        <p:spPr>
          <a:xfrm>
            <a:off x="438150" y="1470173"/>
            <a:ext cx="1700997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营销方向</a:t>
            </a:r>
          </a:p>
        </p:txBody>
      </p:sp>
      <p:sp>
        <p:nvSpPr>
          <p:cNvPr id="4957" name="name_2"/>
          <p:cNvSpPr txBox="1"/>
          <p:nvPr/>
        </p:nvSpPr>
        <p:spPr>
          <a:xfrm>
            <a:off x="30480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2月</a:t>
            </a:r>
          </a:p>
        </p:txBody>
      </p:sp>
      <p:sp>
        <p:nvSpPr>
          <p:cNvPr id="4958" name="name_3"/>
          <p:cNvSpPr txBox="1"/>
          <p:nvPr/>
        </p:nvSpPr>
        <p:spPr>
          <a:xfrm>
            <a:off x="38481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3月</a:t>
            </a:r>
          </a:p>
        </p:txBody>
      </p:sp>
      <p:sp>
        <p:nvSpPr>
          <p:cNvPr id="4959" name="name_4"/>
          <p:cNvSpPr txBox="1"/>
          <p:nvPr/>
        </p:nvSpPr>
        <p:spPr>
          <a:xfrm>
            <a:off x="4654550" y="147017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4月</a:t>
            </a:r>
          </a:p>
        </p:txBody>
      </p:sp>
      <p:sp>
        <p:nvSpPr>
          <p:cNvPr id="4960" name="name_5"/>
          <p:cNvSpPr txBox="1"/>
          <p:nvPr/>
        </p:nvSpPr>
        <p:spPr>
          <a:xfrm>
            <a:off x="54483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5月</a:t>
            </a:r>
          </a:p>
        </p:txBody>
      </p:sp>
      <p:sp>
        <p:nvSpPr>
          <p:cNvPr id="4961" name="name_6"/>
          <p:cNvSpPr txBox="1"/>
          <p:nvPr/>
        </p:nvSpPr>
        <p:spPr>
          <a:xfrm>
            <a:off x="6267450" y="147017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6月</a:t>
            </a:r>
          </a:p>
        </p:txBody>
      </p:sp>
      <p:sp>
        <p:nvSpPr>
          <p:cNvPr id="4962" name="name_7"/>
          <p:cNvSpPr txBox="1"/>
          <p:nvPr/>
        </p:nvSpPr>
        <p:spPr>
          <a:xfrm>
            <a:off x="70485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7月</a:t>
            </a:r>
          </a:p>
        </p:txBody>
      </p:sp>
      <p:sp>
        <p:nvSpPr>
          <p:cNvPr id="4963" name="name_8"/>
          <p:cNvSpPr txBox="1"/>
          <p:nvPr/>
        </p:nvSpPr>
        <p:spPr>
          <a:xfrm>
            <a:off x="7854950" y="147017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8月</a:t>
            </a:r>
          </a:p>
        </p:txBody>
      </p:sp>
      <p:sp>
        <p:nvSpPr>
          <p:cNvPr id="4964" name="name_9"/>
          <p:cNvSpPr txBox="1"/>
          <p:nvPr/>
        </p:nvSpPr>
        <p:spPr>
          <a:xfrm>
            <a:off x="8655050" y="147017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9月</a:t>
            </a:r>
          </a:p>
        </p:txBody>
      </p:sp>
      <p:sp>
        <p:nvSpPr>
          <p:cNvPr id="4965" name="name_10"/>
          <p:cNvSpPr txBox="1"/>
          <p:nvPr/>
        </p:nvSpPr>
        <p:spPr>
          <a:xfrm>
            <a:off x="94488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10月</a:t>
            </a:r>
          </a:p>
        </p:txBody>
      </p:sp>
      <p:sp>
        <p:nvSpPr>
          <p:cNvPr id="4966" name="name_11"/>
          <p:cNvSpPr txBox="1"/>
          <p:nvPr/>
        </p:nvSpPr>
        <p:spPr>
          <a:xfrm>
            <a:off x="10248900" y="1470173"/>
            <a:ext cx="711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11月</a:t>
            </a:r>
          </a:p>
        </p:txBody>
      </p:sp>
      <p:sp>
        <p:nvSpPr>
          <p:cNvPr id="4967" name="name_12"/>
          <p:cNvSpPr txBox="1"/>
          <p:nvPr/>
        </p:nvSpPr>
        <p:spPr>
          <a:xfrm>
            <a:off x="11042650" y="1470173"/>
            <a:ext cx="7239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12月</a:t>
            </a:r>
          </a:p>
        </p:txBody>
      </p:sp>
      <p:sp>
        <p:nvSpPr>
          <p:cNvPr id="4968" name="Always on"/>
          <p:cNvSpPr txBox="1"/>
          <p:nvPr/>
        </p:nvSpPr>
        <p:spPr>
          <a:xfrm>
            <a:off x="2832100" y="2103669"/>
            <a:ext cx="8503969" cy="136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067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67"/>
              <a:t>宝藏新车 </a:t>
            </a:r>
            <a:r>
              <a:rPr sz="867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69" name="default_name"/>
          <p:cNvSpPr txBox="1"/>
          <p:nvPr/>
        </p:nvSpPr>
        <p:spPr>
          <a:xfrm>
            <a:off x="5086350" y="2365374"/>
            <a:ext cx="642313" cy="184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600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67"/>
              <a:t>北京车展</a:t>
            </a:r>
          </a:p>
        </p:txBody>
      </p:sp>
      <p:sp>
        <p:nvSpPr>
          <p:cNvPr id="4970" name="Text 18"/>
          <p:cNvSpPr txBox="1"/>
          <p:nvPr/>
        </p:nvSpPr>
        <p:spPr>
          <a:xfrm>
            <a:off x="2247900" y="5593359"/>
            <a:ext cx="71755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过年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就来小红书</a:t>
            </a:r>
          </a:p>
        </p:txBody>
      </p:sp>
      <p:sp>
        <p:nvSpPr>
          <p:cNvPr id="4971" name="Text 19"/>
          <p:cNvSpPr txBox="1"/>
          <p:nvPr/>
        </p:nvSpPr>
        <p:spPr>
          <a:xfrm>
            <a:off x="11049000" y="50218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雪人节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72" name="Text 20"/>
          <p:cNvSpPr txBox="1"/>
          <p:nvPr/>
        </p:nvSpPr>
        <p:spPr>
          <a:xfrm>
            <a:off x="6254750" y="50218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慢人节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73" name="Text 21"/>
          <p:cNvSpPr txBox="1"/>
          <p:nvPr/>
        </p:nvSpPr>
        <p:spPr>
          <a:xfrm>
            <a:off x="11049000" y="55933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双旦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心愿派对</a:t>
            </a:r>
          </a:p>
        </p:txBody>
      </p:sp>
      <p:sp>
        <p:nvSpPr>
          <p:cNvPr id="4974" name="default_name"/>
          <p:cNvSpPr txBox="1"/>
          <p:nvPr/>
        </p:nvSpPr>
        <p:spPr>
          <a:xfrm>
            <a:off x="9442450" y="5614678"/>
            <a:ext cx="71120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圆来是中秋</a:t>
            </a:r>
          </a:p>
        </p:txBody>
      </p:sp>
      <p:sp>
        <p:nvSpPr>
          <p:cNvPr id="4975" name="Text 23"/>
          <p:cNvSpPr txBox="1"/>
          <p:nvPr/>
        </p:nvSpPr>
        <p:spPr>
          <a:xfrm>
            <a:off x="7842250" y="55933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七夕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爱是动词</a:t>
            </a:r>
          </a:p>
        </p:txBody>
      </p:sp>
      <p:sp>
        <p:nvSpPr>
          <p:cNvPr id="4976" name="default_name"/>
          <p:cNvSpPr txBox="1"/>
          <p:nvPr/>
        </p:nvSpPr>
        <p:spPr>
          <a:xfrm>
            <a:off x="6254750" y="5614678"/>
            <a:ext cx="71120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大小儿童节</a:t>
            </a:r>
          </a:p>
        </p:txBody>
      </p:sp>
      <p:sp>
        <p:nvSpPr>
          <p:cNvPr id="4977" name="Text 25"/>
          <p:cNvSpPr txBox="1"/>
          <p:nvPr/>
        </p:nvSpPr>
        <p:spPr>
          <a:xfrm>
            <a:off x="544195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五一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放假计划</a:t>
            </a:r>
          </a:p>
        </p:txBody>
      </p:sp>
      <p:sp>
        <p:nvSpPr>
          <p:cNvPr id="4978" name="Text 26"/>
          <p:cNvSpPr txBox="1"/>
          <p:nvPr/>
        </p:nvSpPr>
        <p:spPr>
          <a:xfrm>
            <a:off x="944245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十一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放假计划</a:t>
            </a:r>
          </a:p>
        </p:txBody>
      </p:sp>
      <p:sp>
        <p:nvSpPr>
          <p:cNvPr id="4979" name="Text 27"/>
          <p:cNvSpPr txBox="1"/>
          <p:nvPr/>
        </p:nvSpPr>
        <p:spPr>
          <a:xfrm>
            <a:off x="464185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溜溜生活 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80" name="Text 28"/>
          <p:cNvSpPr txBox="1"/>
          <p:nvPr/>
        </p:nvSpPr>
        <p:spPr>
          <a:xfrm>
            <a:off x="873760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溜溜生活 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81" name="Text 29"/>
          <p:cNvSpPr txBox="1"/>
          <p:nvPr/>
        </p:nvSpPr>
        <p:spPr>
          <a:xfrm>
            <a:off x="704215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溜溜生活 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82" name="Text 30"/>
          <p:cNvSpPr txBox="1"/>
          <p:nvPr/>
        </p:nvSpPr>
        <p:spPr>
          <a:xfrm>
            <a:off x="774700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马路生活节 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83" name="Text 31"/>
          <p:cNvSpPr txBox="1"/>
          <p:nvPr/>
        </p:nvSpPr>
        <p:spPr>
          <a:xfrm>
            <a:off x="10147300" y="4742459"/>
            <a:ext cx="7112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溜溜生活 </a:t>
            </a:r>
          </a:p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4984" name="default_name"/>
          <p:cNvSpPr txBox="1"/>
          <p:nvPr/>
        </p:nvSpPr>
        <p:spPr>
          <a:xfrm>
            <a:off x="8286750" y="2365374"/>
            <a:ext cx="642313" cy="184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600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67"/>
              <a:t>成都车展</a:t>
            </a:r>
          </a:p>
        </p:txBody>
      </p:sp>
      <p:sp>
        <p:nvSpPr>
          <p:cNvPr id="4985" name="default_name"/>
          <p:cNvSpPr txBox="1"/>
          <p:nvPr/>
        </p:nvSpPr>
        <p:spPr>
          <a:xfrm>
            <a:off x="10687050" y="2365374"/>
            <a:ext cx="642313" cy="184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600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67"/>
              <a:t>广州车展</a:t>
            </a:r>
          </a:p>
        </p:txBody>
      </p:sp>
      <p:sp>
        <p:nvSpPr>
          <p:cNvPr id="4986" name="Always on"/>
          <p:cNvSpPr txBox="1"/>
          <p:nvPr/>
        </p:nvSpPr>
        <p:spPr>
          <a:xfrm>
            <a:off x="2832100" y="2802169"/>
            <a:ext cx="8503970" cy="136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067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67"/>
              <a:t>万人口碑计划 </a:t>
            </a:r>
            <a:r>
              <a:rPr sz="867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87" name="Always on"/>
          <p:cNvSpPr txBox="1"/>
          <p:nvPr/>
        </p:nvSpPr>
        <p:spPr>
          <a:xfrm>
            <a:off x="2381250" y="4495242"/>
            <a:ext cx="2071706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灵感地图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88" name="POI"/>
          <p:cNvSpPr txBox="1"/>
          <p:nvPr/>
        </p:nvSpPr>
        <p:spPr>
          <a:xfrm>
            <a:off x="2381250" y="6021078"/>
            <a:ext cx="2071706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到店【核销、POI打卡瓜分】</a:t>
            </a:r>
          </a:p>
        </p:txBody>
      </p:sp>
      <p:sp>
        <p:nvSpPr>
          <p:cNvPr id="4989" name="Always on"/>
          <p:cNvSpPr txBox="1"/>
          <p:nvPr/>
        </p:nvSpPr>
        <p:spPr>
          <a:xfrm>
            <a:off x="4781550" y="4495242"/>
            <a:ext cx="2071706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城市漫游计划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0" name="default_name"/>
          <p:cNvSpPr txBox="1"/>
          <p:nvPr/>
        </p:nvSpPr>
        <p:spPr>
          <a:xfrm>
            <a:off x="4781550" y="6024253"/>
            <a:ext cx="2071706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内循环【直播&amp;晒单】</a:t>
            </a:r>
          </a:p>
        </p:txBody>
      </p:sp>
      <p:sp>
        <p:nvSpPr>
          <p:cNvPr id="4991" name="Always on"/>
          <p:cNvSpPr txBox="1"/>
          <p:nvPr/>
        </p:nvSpPr>
        <p:spPr>
          <a:xfrm>
            <a:off x="7181850" y="4495242"/>
            <a:ext cx="2071706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宝藏目的地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2" name="KOS"/>
          <p:cNvSpPr txBox="1"/>
          <p:nvPr/>
        </p:nvSpPr>
        <p:spPr>
          <a:xfrm>
            <a:off x="7181850" y="6024253"/>
            <a:ext cx="2071706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线索【KOS、群聊&amp;私域】</a:t>
            </a:r>
          </a:p>
        </p:txBody>
      </p:sp>
      <p:sp>
        <p:nvSpPr>
          <p:cNvPr id="4993" name="Always on"/>
          <p:cNvSpPr txBox="1"/>
          <p:nvPr/>
        </p:nvSpPr>
        <p:spPr>
          <a:xfrm>
            <a:off x="9582150" y="4495242"/>
            <a:ext cx="2071706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世界慢慢游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4" name="IFS"/>
          <p:cNvSpPr txBox="1"/>
          <p:nvPr/>
        </p:nvSpPr>
        <p:spPr>
          <a:xfrm>
            <a:off x="9582150" y="6024253"/>
            <a:ext cx="2071706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IFS【兴趣&amp;品牌人群资产】</a:t>
            </a:r>
          </a:p>
        </p:txBody>
      </p:sp>
      <p:sp>
        <p:nvSpPr>
          <p:cNvPr id="4995" name="Always on"/>
          <p:cNvSpPr txBox="1"/>
          <p:nvPr/>
        </p:nvSpPr>
        <p:spPr>
          <a:xfrm>
            <a:off x="2832100" y="3214919"/>
            <a:ext cx="8503970" cy="136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067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67"/>
              <a:t>路书计划 </a:t>
            </a:r>
            <a:r>
              <a:rPr sz="867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6" name="Citydrive Always on"/>
          <p:cNvSpPr txBox="1"/>
          <p:nvPr/>
        </p:nvSpPr>
        <p:spPr>
          <a:xfrm>
            <a:off x="2832100" y="3500669"/>
            <a:ext cx="8503970" cy="136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067"/>
              </a:lnSpc>
              <a:defRPr sz="13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67"/>
              <a:t>一刻半径 </a:t>
            </a:r>
            <a:r>
              <a:rPr sz="867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7" name="Always on"/>
          <p:cNvSpPr txBox="1"/>
          <p:nvPr/>
        </p:nvSpPr>
        <p:spPr>
          <a:xfrm>
            <a:off x="2241550" y="3923742"/>
            <a:ext cx="151765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周末玩车俱乐部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8" name="Always on"/>
          <p:cNvSpPr txBox="1"/>
          <p:nvPr/>
        </p:nvSpPr>
        <p:spPr>
          <a:xfrm>
            <a:off x="2241550" y="4787405"/>
            <a:ext cx="1129873" cy="102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万物有时节 </a:t>
            </a:r>
            <a:r>
              <a:rPr sz="667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4999" name="name_42  Always on"/>
          <p:cNvSpPr txBox="1"/>
          <p:nvPr/>
        </p:nvSpPr>
        <p:spPr>
          <a:xfrm>
            <a:off x="2241550" y="5066742"/>
            <a:ext cx="151765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4+2 骑行友好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0" name="Always on"/>
          <p:cNvSpPr txBox="1"/>
          <p:nvPr/>
        </p:nvSpPr>
        <p:spPr>
          <a:xfrm>
            <a:off x="3841750" y="3923742"/>
            <a:ext cx="151765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出行改造家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1" name="Lifestyle Always on"/>
          <p:cNvSpPr txBox="1"/>
          <p:nvPr/>
        </p:nvSpPr>
        <p:spPr>
          <a:xfrm>
            <a:off x="3429000" y="4787405"/>
            <a:ext cx="1129873" cy="102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667"/>
              <a:t>Lifestyle  </a:t>
            </a:r>
            <a:r>
              <a:rPr sz="667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2" name="Always on"/>
          <p:cNvSpPr txBox="1"/>
          <p:nvPr/>
        </p:nvSpPr>
        <p:spPr>
          <a:xfrm>
            <a:off x="3841750" y="5066742"/>
            <a:ext cx="151765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户外集结计划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3" name="Always on"/>
          <p:cNvSpPr txBox="1"/>
          <p:nvPr/>
        </p:nvSpPr>
        <p:spPr>
          <a:xfrm>
            <a:off x="7842250" y="3923742"/>
            <a:ext cx="151765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车聚友好计划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4" name="wowland"/>
          <p:cNvSpPr txBox="1"/>
          <p:nvPr/>
        </p:nvSpPr>
        <p:spPr>
          <a:xfrm>
            <a:off x="9442450" y="3923742"/>
            <a:ext cx="118110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wowland玩车节 </a:t>
            </a:r>
            <a:r>
              <a:rPr sz="800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5005" name="Text 53"/>
          <p:cNvSpPr txBox="1"/>
          <p:nvPr/>
        </p:nvSpPr>
        <p:spPr>
          <a:xfrm>
            <a:off x="9442450" y="4209492"/>
            <a:ext cx="99060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小美说 </a:t>
            </a:r>
            <a:r>
              <a:rPr sz="800">
                <a:solidFill>
                  <a:srgbClr val="0BB77E"/>
                </a:solidFill>
              </a:rPr>
              <a:t>大事件</a:t>
            </a:r>
          </a:p>
        </p:txBody>
      </p:sp>
      <p:sp>
        <p:nvSpPr>
          <p:cNvPr id="5006" name="Always on"/>
          <p:cNvSpPr txBox="1"/>
          <p:nvPr/>
        </p:nvSpPr>
        <p:spPr>
          <a:xfrm>
            <a:off x="10642600" y="3923742"/>
            <a:ext cx="111760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车载好物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7" name="Always on"/>
          <p:cNvSpPr txBox="1"/>
          <p:nvPr/>
        </p:nvSpPr>
        <p:spPr>
          <a:xfrm>
            <a:off x="10483850" y="4209492"/>
            <a:ext cx="127635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大单定制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8" name="Always on"/>
          <p:cNvSpPr txBox="1"/>
          <p:nvPr/>
        </p:nvSpPr>
        <p:spPr>
          <a:xfrm>
            <a:off x="2432050" y="4209492"/>
            <a:ext cx="2786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人生奢享指南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09" name="Always on"/>
          <p:cNvSpPr txBox="1"/>
          <p:nvPr/>
        </p:nvSpPr>
        <p:spPr>
          <a:xfrm>
            <a:off x="2432050" y="5352492"/>
            <a:ext cx="2786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跟着明星出去玩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10" name="Always on"/>
          <p:cNvSpPr txBox="1"/>
          <p:nvPr/>
        </p:nvSpPr>
        <p:spPr>
          <a:xfrm>
            <a:off x="5632450" y="4209492"/>
            <a:ext cx="2786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奢派生活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11" name="Always on"/>
          <p:cNvSpPr txBox="1"/>
          <p:nvPr/>
        </p:nvSpPr>
        <p:spPr>
          <a:xfrm>
            <a:off x="5632450" y="5352492"/>
            <a:ext cx="2786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娱乐星薯地 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12" name="Always on"/>
          <p:cNvSpPr txBox="1"/>
          <p:nvPr/>
        </p:nvSpPr>
        <p:spPr>
          <a:xfrm>
            <a:off x="8832850" y="5352492"/>
            <a:ext cx="2786402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800"/>
              <a:t>星官宣计划 </a:t>
            </a:r>
            <a:r>
              <a:rPr sz="800">
                <a:solidFill>
                  <a:srgbClr val="0BB77E"/>
                </a:solidFill>
              </a:rPr>
              <a:t>Always on</a:t>
            </a:r>
          </a:p>
        </p:txBody>
      </p:sp>
      <p:sp>
        <p:nvSpPr>
          <p:cNvPr id="5013" name="default_name"/>
          <p:cNvSpPr txBox="1"/>
          <p:nvPr/>
        </p:nvSpPr>
        <p:spPr>
          <a:xfrm>
            <a:off x="622300" y="2101679"/>
            <a:ext cx="317500" cy="438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新品引爆</a:t>
            </a:r>
          </a:p>
        </p:txBody>
      </p:sp>
      <p:sp>
        <p:nvSpPr>
          <p:cNvPr id="5014" name="Text 62"/>
          <p:cNvSpPr txBox="1"/>
          <p:nvPr/>
        </p:nvSpPr>
        <p:spPr>
          <a:xfrm>
            <a:off x="622300" y="3278492"/>
            <a:ext cx="3175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场景</a:t>
            </a:r>
          </a:p>
          <a:p>
            <a:pPr algn="ctr">
              <a:lnSpc>
                <a:spcPts val="12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转化</a:t>
            </a:r>
          </a:p>
        </p:txBody>
      </p:sp>
      <p:sp>
        <p:nvSpPr>
          <p:cNvPr id="5015" name="default_name"/>
          <p:cNvSpPr txBox="1"/>
          <p:nvPr/>
        </p:nvSpPr>
        <p:spPr>
          <a:xfrm>
            <a:off x="622300" y="4635330"/>
            <a:ext cx="317500" cy="438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人群破圈</a:t>
            </a:r>
          </a:p>
        </p:txBody>
      </p:sp>
      <p:sp>
        <p:nvSpPr>
          <p:cNvPr id="5016" name="default_name"/>
          <p:cNvSpPr txBox="1"/>
          <p:nvPr/>
        </p:nvSpPr>
        <p:spPr>
          <a:xfrm>
            <a:off x="444500" y="2795811"/>
            <a:ext cx="672431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口碑沉淀</a:t>
            </a:r>
          </a:p>
        </p:txBody>
      </p:sp>
      <p:sp>
        <p:nvSpPr>
          <p:cNvPr id="5017" name="default_name"/>
          <p:cNvSpPr txBox="1"/>
          <p:nvPr/>
        </p:nvSpPr>
        <p:spPr>
          <a:xfrm>
            <a:off x="488950" y="6009326"/>
            <a:ext cx="5842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全链路</a:t>
            </a:r>
          </a:p>
        </p:txBody>
      </p:sp>
      <p:sp>
        <p:nvSpPr>
          <p:cNvPr id="5018" name="default_name"/>
          <p:cNvSpPr txBox="1"/>
          <p:nvPr/>
        </p:nvSpPr>
        <p:spPr>
          <a:xfrm>
            <a:off x="1244600" y="4211104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奢享族</a:t>
            </a:r>
          </a:p>
        </p:txBody>
      </p:sp>
      <p:sp>
        <p:nvSpPr>
          <p:cNvPr id="5019" name="default_name"/>
          <p:cNvSpPr txBox="1"/>
          <p:nvPr/>
        </p:nvSpPr>
        <p:spPr>
          <a:xfrm>
            <a:off x="1244600" y="2093707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 dirty="0" err="1"/>
              <a:t>新品专项</a:t>
            </a:r>
            <a:endParaRPr sz="800" dirty="0"/>
          </a:p>
        </p:txBody>
      </p:sp>
      <p:sp>
        <p:nvSpPr>
          <p:cNvPr id="5020" name="default_name"/>
          <p:cNvSpPr txBox="1"/>
          <p:nvPr/>
        </p:nvSpPr>
        <p:spPr>
          <a:xfrm>
            <a:off x="1244600" y="2401354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车展专项</a:t>
            </a:r>
          </a:p>
        </p:txBody>
      </p:sp>
      <p:sp>
        <p:nvSpPr>
          <p:cNvPr id="5021" name="default_name"/>
          <p:cNvSpPr txBox="1"/>
          <p:nvPr/>
        </p:nvSpPr>
        <p:spPr>
          <a:xfrm>
            <a:off x="1244600" y="2814104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口碑专项</a:t>
            </a:r>
          </a:p>
        </p:txBody>
      </p:sp>
      <p:sp>
        <p:nvSpPr>
          <p:cNvPr id="5022" name="default_name"/>
          <p:cNvSpPr txBox="1"/>
          <p:nvPr/>
        </p:nvSpPr>
        <p:spPr>
          <a:xfrm>
            <a:off x="1244600" y="3226854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自驾专项</a:t>
            </a:r>
          </a:p>
        </p:txBody>
      </p:sp>
      <p:sp>
        <p:nvSpPr>
          <p:cNvPr id="5023" name="default_name"/>
          <p:cNvSpPr txBox="1"/>
          <p:nvPr/>
        </p:nvSpPr>
        <p:spPr>
          <a:xfrm>
            <a:off x="1244600" y="3512604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城市专项</a:t>
            </a:r>
          </a:p>
        </p:txBody>
      </p:sp>
      <p:sp>
        <p:nvSpPr>
          <p:cNvPr id="5024" name="default_name"/>
          <p:cNvSpPr txBox="1"/>
          <p:nvPr/>
        </p:nvSpPr>
        <p:spPr>
          <a:xfrm>
            <a:off x="1244600" y="3925354"/>
            <a:ext cx="85529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玩车族</a:t>
            </a:r>
          </a:p>
        </p:txBody>
      </p:sp>
      <p:sp>
        <p:nvSpPr>
          <p:cNvPr id="5025" name="default_name"/>
          <p:cNvSpPr txBox="1"/>
          <p:nvPr/>
        </p:nvSpPr>
        <p:spPr>
          <a:xfrm>
            <a:off x="1244600" y="4496855"/>
            <a:ext cx="855289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探索家</a:t>
            </a:r>
          </a:p>
        </p:txBody>
      </p:sp>
      <p:sp>
        <p:nvSpPr>
          <p:cNvPr id="5026" name="default_name"/>
          <p:cNvSpPr txBox="1"/>
          <p:nvPr/>
        </p:nvSpPr>
        <p:spPr>
          <a:xfrm>
            <a:off x="1244600" y="4782605"/>
            <a:ext cx="855289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乐活派</a:t>
            </a:r>
          </a:p>
        </p:txBody>
      </p:sp>
      <p:sp>
        <p:nvSpPr>
          <p:cNvPr id="5027" name="default_name"/>
          <p:cNvSpPr txBox="1"/>
          <p:nvPr/>
        </p:nvSpPr>
        <p:spPr>
          <a:xfrm>
            <a:off x="1244600" y="5068355"/>
            <a:ext cx="855289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户外党</a:t>
            </a:r>
          </a:p>
        </p:txBody>
      </p:sp>
      <p:sp>
        <p:nvSpPr>
          <p:cNvPr id="5028" name="default_name"/>
          <p:cNvSpPr txBox="1"/>
          <p:nvPr/>
        </p:nvSpPr>
        <p:spPr>
          <a:xfrm>
            <a:off x="1244600" y="5354105"/>
            <a:ext cx="855289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追星族</a:t>
            </a:r>
          </a:p>
        </p:txBody>
      </p:sp>
      <p:sp>
        <p:nvSpPr>
          <p:cNvPr id="5029" name="default_name"/>
          <p:cNvSpPr txBox="1"/>
          <p:nvPr/>
        </p:nvSpPr>
        <p:spPr>
          <a:xfrm>
            <a:off x="1244600" y="5639855"/>
            <a:ext cx="855289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家庭党</a:t>
            </a:r>
          </a:p>
        </p:txBody>
      </p:sp>
      <p:sp>
        <p:nvSpPr>
          <p:cNvPr id="5030" name="default_name"/>
          <p:cNvSpPr txBox="1"/>
          <p:nvPr/>
        </p:nvSpPr>
        <p:spPr>
          <a:xfrm>
            <a:off x="1244600" y="6052605"/>
            <a:ext cx="855289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线下引流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93AE7C-F5A7-6AD4-AEB0-3683C847B3BB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66DCEF77-C6D4-6C15-CDA4-D5C078C25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02708C21-21DE-E758-8319-5942B7A68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FBFE9D86-4062-BCA2-44B7-EED4FC541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F8A22F5B-42E3-DFFA-152A-51CCE7200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748150DE-082D-B06A-E528-ADDCB5DDC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FBD29F7A-C202-2D6F-FC07-D1F36077E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06EA9266-D1A1-A5D7-4583-994DBC3C9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C3F13E96-37FB-AD82-0116-C1C0BE69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DFC1E5D7-86F3-8E56-78DC-875372851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1413243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2" name="Rectangle 2" descr="Rectangl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3" name="Group 189" descr="Group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4" name="Rectangle 42" descr="Rectangl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841500"/>
            <a:ext cx="10922000" cy="4381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5" name="Vector" descr="Vec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1" y="3004441"/>
            <a:ext cx="350921" cy="27850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6" name="Vector 46" descr="Vector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950" y="3340100"/>
            <a:ext cx="1701800" cy="144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7" name="Vector 34" descr="Vector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8732" y="3993282"/>
            <a:ext cx="96935" cy="84287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8" name="Vector 47" descr="Vector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650" y="3155950"/>
            <a:ext cx="1708150" cy="1631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9" name="Vector 48" descr="Vector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0835" y="3981326"/>
            <a:ext cx="97627" cy="82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0" name="Rectangle 52" descr="Rectangle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00" y="5340350"/>
            <a:ext cx="184785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1" name="Line 16" descr="Lin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500" y="2396194"/>
            <a:ext cx="10356850" cy="93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2" name="Rectangle 3" descr="Rectangl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3750" y="2051050"/>
            <a:ext cx="10731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3" name="Ellipse 39" descr="Ellipse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1750" y="24130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4" name="Rectangle 3" descr="Rectangl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9100" y="2051050"/>
            <a:ext cx="10731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5" name="Ellipse 39" descr="Ellipse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7100" y="24130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6" name="Rectangle 3" descr="Rectangl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7850" y="2051050"/>
            <a:ext cx="107315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7" name="Ellipse 39" descr="Ellipse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5850" y="24130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9" name="Line 18" descr="Lin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5419" y="399826"/>
            <a:ext cx="1674091" cy="19623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0" name="Rectangle 56" descr="Rectangle 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6328" y="1225550"/>
            <a:ext cx="10293351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1" name="Rectangle 52" descr="Rectangle 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000" y="1225550"/>
            <a:ext cx="3657600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2" name="image 91" descr="image 9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9900" y="2647950"/>
            <a:ext cx="2863850" cy="142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3" name="Rectangle 3" descr="Rectangl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68800" y="4032250"/>
            <a:ext cx="3206750" cy="266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4" name="Rectangle 43" descr="Rectangle 4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13600" y="2698750"/>
            <a:ext cx="1073150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5" name="Rectangle 43" descr="Rectangle 4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59000" y="3848100"/>
            <a:ext cx="1073150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6" name="Rectangle 44" descr="Rectangle 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13600" y="3327400"/>
            <a:ext cx="1073150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7" name="Rectangle 44" descr="Rectangle 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5750" y="3549650"/>
            <a:ext cx="1073150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8" name="Rectangle 44" descr="Rectangle 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59000" y="4514850"/>
            <a:ext cx="1073150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9" name="image 93" descr="image 9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96500" y="4527550"/>
            <a:ext cx="1092200" cy="146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0" name="image 92" descr="image 9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36050" y="4210050"/>
            <a:ext cx="1092200" cy="146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1" name="Rectangle 53" descr="Rectangle 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6700" y="5340350"/>
            <a:ext cx="184785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2" name="Rectangle 54" descr="Rectangle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900" y="5340350"/>
            <a:ext cx="184785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3" name="Rectangle 55" descr="Rectangle 5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100" y="5340350"/>
            <a:ext cx="184785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AE4CF4B-450D-5F62-C624-854ECC345D1D}"/>
              </a:ext>
            </a:extLst>
          </p:cNvPr>
          <p:cNvGrpSpPr/>
          <p:nvPr/>
        </p:nvGrpSpPr>
        <p:grpSpPr>
          <a:xfrm>
            <a:off x="9080500" y="3101600"/>
            <a:ext cx="387350" cy="224821"/>
            <a:chOff x="13620750" y="4563945"/>
            <a:chExt cx="733425" cy="425685"/>
          </a:xfrm>
        </p:grpSpPr>
        <p:pic>
          <p:nvPicPr>
            <p:cNvPr id="5064" name="Ellipse 67" descr="Ellipse 67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652989" y="4789604"/>
              <a:ext cx="200026" cy="2000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065" name="Subtract" descr="Subtract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620750" y="4563945"/>
              <a:ext cx="733425" cy="3524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066" name="Ellipse 68" descr="Ellipse 6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4080145" y="4789604"/>
              <a:ext cx="200026" cy="200026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5067" name="Vector" descr="Vector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58050" y="4584700"/>
            <a:ext cx="215900" cy="107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8" name="Vector" descr="Vector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61200" y="4546600"/>
            <a:ext cx="184150" cy="368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9" name="image 180" descr="image 18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5400" y="3556000"/>
            <a:ext cx="679450" cy="1479550"/>
          </a:xfrm>
          <a:prstGeom prst="rect">
            <a:avLst/>
          </a:prstGeom>
          <a:ln w="12700">
            <a:miter lim="400000"/>
          </a:ln>
        </p:spPr>
      </p:pic>
      <p:sp>
        <p:nvSpPr>
          <p:cNvPr id="5070" name="Text 0"/>
          <p:cNvSpPr txBox="1"/>
          <p:nvPr/>
        </p:nvSpPr>
        <p:spPr>
          <a:xfrm>
            <a:off x="1022350" y="5473700"/>
            <a:ext cx="1381705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行业盛事</a:t>
            </a:r>
          </a:p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聚焦业内目光</a:t>
            </a:r>
          </a:p>
        </p:txBody>
      </p:sp>
      <p:sp>
        <p:nvSpPr>
          <p:cNvPr id="5071" name="Text 1"/>
          <p:cNvSpPr txBox="1"/>
          <p:nvPr/>
        </p:nvSpPr>
        <p:spPr>
          <a:xfrm>
            <a:off x="730250" y="2941489"/>
            <a:ext cx="2000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线上社区汽车种草超前引流</a:t>
            </a:r>
          </a:p>
          <a:p>
            <a:pPr algn="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引发用户无限好奇心</a:t>
            </a:r>
          </a:p>
        </p:txBody>
      </p:sp>
      <p:sp>
        <p:nvSpPr>
          <p:cNvPr id="5072" name="vlog"/>
          <p:cNvSpPr txBox="1"/>
          <p:nvPr/>
        </p:nvSpPr>
        <p:spPr>
          <a:xfrm>
            <a:off x="5073650" y="4499574"/>
            <a:ext cx="2114550" cy="51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线下红薯官方展台创意联动，博主vlog、各类红薯看车团</a:t>
            </a:r>
          </a:p>
        </p:txBody>
      </p:sp>
      <p:sp>
        <p:nvSpPr>
          <p:cNvPr id="5073" name="Text 3"/>
          <p:cNvSpPr txBox="1"/>
          <p:nvPr/>
        </p:nvSpPr>
        <p:spPr>
          <a:xfrm>
            <a:off x="9664700" y="2973239"/>
            <a:ext cx="2000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4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各类博主种草品牌内容</a:t>
            </a:r>
          </a:p>
          <a:p>
            <a:pPr>
              <a:lnSpc>
                <a:spcPts val="14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红薯打卡内容持续发酵</a:t>
            </a:r>
          </a:p>
        </p:txBody>
      </p:sp>
      <p:sp>
        <p:nvSpPr>
          <p:cNvPr id="5074" name="default_name"/>
          <p:cNvSpPr txBox="1"/>
          <p:nvPr/>
        </p:nvSpPr>
        <p:spPr>
          <a:xfrm>
            <a:off x="2120900" y="2054373"/>
            <a:ext cx="965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北京车展</a:t>
            </a:r>
          </a:p>
        </p:txBody>
      </p:sp>
      <p:sp>
        <p:nvSpPr>
          <p:cNvPr id="5075" name="default_name"/>
          <p:cNvSpPr txBox="1"/>
          <p:nvPr/>
        </p:nvSpPr>
        <p:spPr>
          <a:xfrm>
            <a:off x="2254250" y="253062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四月</a:t>
            </a:r>
          </a:p>
        </p:txBody>
      </p:sp>
      <p:sp>
        <p:nvSpPr>
          <p:cNvPr id="5076" name="default_name"/>
          <p:cNvSpPr txBox="1"/>
          <p:nvPr/>
        </p:nvSpPr>
        <p:spPr>
          <a:xfrm>
            <a:off x="5556250" y="2054373"/>
            <a:ext cx="965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成都车展</a:t>
            </a:r>
          </a:p>
        </p:txBody>
      </p:sp>
      <p:sp>
        <p:nvSpPr>
          <p:cNvPr id="5077" name="default_name"/>
          <p:cNvSpPr txBox="1"/>
          <p:nvPr/>
        </p:nvSpPr>
        <p:spPr>
          <a:xfrm>
            <a:off x="5689600" y="253062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八月</a:t>
            </a:r>
          </a:p>
        </p:txBody>
      </p:sp>
      <p:sp>
        <p:nvSpPr>
          <p:cNvPr id="5078" name="default_name"/>
          <p:cNvSpPr txBox="1"/>
          <p:nvPr/>
        </p:nvSpPr>
        <p:spPr>
          <a:xfrm>
            <a:off x="9525000" y="2054373"/>
            <a:ext cx="9652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广州车展</a:t>
            </a:r>
          </a:p>
        </p:txBody>
      </p:sp>
      <p:sp>
        <p:nvSpPr>
          <p:cNvPr id="5079" name="default_name"/>
          <p:cNvSpPr txBox="1"/>
          <p:nvPr/>
        </p:nvSpPr>
        <p:spPr>
          <a:xfrm>
            <a:off x="9658350" y="2530623"/>
            <a:ext cx="7048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十一月</a:t>
            </a:r>
          </a:p>
        </p:txBody>
      </p:sp>
      <p:sp>
        <p:nvSpPr>
          <p:cNvPr id="5080" name="RCC"/>
          <p:cNvSpPr txBox="1"/>
          <p:nvPr/>
        </p:nvSpPr>
        <p:spPr>
          <a:xfrm>
            <a:off x="5149850" y="544942"/>
            <a:ext cx="1892300" cy="5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8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667"/>
              <a:t>RCC看车节</a:t>
            </a:r>
          </a:p>
        </p:txBody>
      </p:sp>
      <p:sp>
        <p:nvSpPr>
          <p:cNvPr id="5081" name="default_name"/>
          <p:cNvSpPr txBox="1"/>
          <p:nvPr/>
        </p:nvSpPr>
        <p:spPr>
          <a:xfrm>
            <a:off x="316806" y="286490"/>
            <a:ext cx="15113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5082" name="default_name"/>
          <p:cNvSpPr txBox="1"/>
          <p:nvPr/>
        </p:nvSpPr>
        <p:spPr>
          <a:xfrm>
            <a:off x="1110556" y="521440"/>
            <a:ext cx="11811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5083" name="20264811"/>
          <p:cNvSpPr txBox="1"/>
          <p:nvPr/>
        </p:nvSpPr>
        <p:spPr>
          <a:xfrm>
            <a:off x="650380" y="1329272"/>
            <a:ext cx="3486150" cy="22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800"/>
              </a:lnSpc>
              <a:defRPr sz="2200" spc="113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467" dirty="0" err="1"/>
              <a:t>项目上线时间</a:t>
            </a:r>
            <a:r>
              <a:rPr sz="1467" dirty="0"/>
              <a:t>  </a:t>
            </a:r>
            <a:r>
              <a:rPr sz="1467" dirty="0"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rPr>
              <a:t>4月/8月/11月</a:t>
            </a:r>
          </a:p>
        </p:txBody>
      </p:sp>
      <p:sp>
        <p:nvSpPr>
          <p:cNvPr id="5084" name="default_name"/>
          <p:cNvSpPr txBox="1"/>
          <p:nvPr/>
        </p:nvSpPr>
        <p:spPr>
          <a:xfrm>
            <a:off x="4387850" y="1279641"/>
            <a:ext cx="7153771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13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依托种草平台优势，线上热议引流线下创意联动，对车展期间内集中进行讨论</a:t>
            </a:r>
          </a:p>
        </p:txBody>
      </p:sp>
      <p:sp>
        <p:nvSpPr>
          <p:cNvPr id="5085" name="8"/>
          <p:cNvSpPr txBox="1"/>
          <p:nvPr/>
        </p:nvSpPr>
        <p:spPr>
          <a:xfrm>
            <a:off x="4464050" y="4058390"/>
            <a:ext cx="3022600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明星红薯看车团陪你沉浸式逛车展 连续8小时不停播</a:t>
            </a:r>
          </a:p>
        </p:txBody>
      </p:sp>
      <p:sp>
        <p:nvSpPr>
          <p:cNvPr id="5086" name="Text 16"/>
          <p:cNvSpPr txBox="1"/>
          <p:nvPr/>
        </p:nvSpPr>
        <p:spPr>
          <a:xfrm>
            <a:off x="7258050" y="2952750"/>
            <a:ext cx="14478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67"/>
              <a:t>小红书官方展台，与品牌线下联动，</a:t>
            </a:r>
          </a:p>
          <a:p>
            <a:pPr>
              <a:lnSpc>
                <a:spcPts val="8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67"/>
              <a:t>吸引用户打卡瓜分礼品奖金</a:t>
            </a:r>
          </a:p>
        </p:txBody>
      </p:sp>
      <p:sp>
        <p:nvSpPr>
          <p:cNvPr id="5087" name="default_name"/>
          <p:cNvSpPr txBox="1"/>
          <p:nvPr/>
        </p:nvSpPr>
        <p:spPr>
          <a:xfrm>
            <a:off x="2209800" y="4121150"/>
            <a:ext cx="1587500" cy="29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 dirty="0" err="1"/>
              <a:t>线上引流，品牌可参与共建直播选题</a:t>
            </a:r>
            <a:r>
              <a:rPr sz="667" dirty="0"/>
              <a:t>，</a:t>
            </a:r>
            <a:endParaRPr lang="en-US" sz="667" dirty="0"/>
          </a:p>
          <a:p>
            <a:r>
              <a:rPr sz="667" dirty="0" err="1"/>
              <a:t>共同探讨车展新话题</a:t>
            </a:r>
            <a:endParaRPr sz="667" dirty="0"/>
          </a:p>
        </p:txBody>
      </p:sp>
      <p:sp>
        <p:nvSpPr>
          <p:cNvPr id="5088" name="default_name"/>
          <p:cNvSpPr txBox="1"/>
          <p:nvPr/>
        </p:nvSpPr>
        <p:spPr>
          <a:xfrm>
            <a:off x="7258050" y="3575050"/>
            <a:ext cx="1358900" cy="29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 dirty="0" err="1"/>
              <a:t>展台设立采访间，邀请品牌大咖探讨车展上出现的新趋势</a:t>
            </a:r>
            <a:endParaRPr sz="667" dirty="0"/>
          </a:p>
        </p:txBody>
      </p:sp>
      <p:sp>
        <p:nvSpPr>
          <p:cNvPr id="5089" name="default_name"/>
          <p:cNvSpPr txBox="1"/>
          <p:nvPr/>
        </p:nvSpPr>
        <p:spPr>
          <a:xfrm>
            <a:off x="9182100" y="3860800"/>
            <a:ext cx="2070100" cy="29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 dirty="0" err="1"/>
              <a:t>根据车展内容提出相关问题，邀请汽车品牌来回答</a:t>
            </a:r>
            <a:r>
              <a:rPr sz="667" dirty="0"/>
              <a:t>，</a:t>
            </a:r>
            <a:endParaRPr lang="en-US" sz="667" dirty="0"/>
          </a:p>
          <a:p>
            <a:r>
              <a:rPr sz="667" dirty="0" err="1"/>
              <a:t>给予汽车品牌一定的流量扶持和曝光权益</a:t>
            </a:r>
            <a:endParaRPr sz="667" dirty="0"/>
          </a:p>
        </p:txBody>
      </p:sp>
      <p:sp>
        <p:nvSpPr>
          <p:cNvPr id="5090" name="a"/>
          <p:cNvSpPr txBox="1"/>
          <p:nvPr/>
        </p:nvSpPr>
        <p:spPr>
          <a:xfrm>
            <a:off x="2209800" y="4781550"/>
            <a:ext cx="1587500" cy="29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 dirty="0" err="1"/>
              <a:t>邀请数十位达人博主组成特邀报道团</a:t>
            </a:r>
            <a:r>
              <a:rPr sz="667" dirty="0"/>
              <a:t>，</a:t>
            </a:r>
            <a:endParaRPr lang="en-US" sz="667" dirty="0"/>
          </a:p>
          <a:p>
            <a:r>
              <a:rPr sz="667" dirty="0" err="1"/>
              <a:t>提升内容专业，带动粉丝关注车展</a:t>
            </a:r>
            <a:endParaRPr sz="667" dirty="0"/>
          </a:p>
        </p:txBody>
      </p:sp>
      <p:sp>
        <p:nvSpPr>
          <p:cNvPr id="5091" name="default_name"/>
          <p:cNvSpPr txBox="1"/>
          <p:nvPr/>
        </p:nvSpPr>
        <p:spPr>
          <a:xfrm>
            <a:off x="7213600" y="2738096"/>
            <a:ext cx="1079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打卡小红书展台</a:t>
            </a:r>
          </a:p>
        </p:txBody>
      </p:sp>
      <p:sp>
        <p:nvSpPr>
          <p:cNvPr id="5092" name="default_name"/>
          <p:cNvSpPr txBox="1"/>
          <p:nvPr/>
        </p:nvSpPr>
        <p:spPr>
          <a:xfrm>
            <a:off x="2159000" y="3887446"/>
            <a:ext cx="1079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红书车展专题页</a:t>
            </a:r>
          </a:p>
        </p:txBody>
      </p:sp>
      <p:sp>
        <p:nvSpPr>
          <p:cNvPr id="5093" name="default_name"/>
          <p:cNvSpPr txBox="1"/>
          <p:nvPr/>
        </p:nvSpPr>
        <p:spPr>
          <a:xfrm>
            <a:off x="7213600" y="3354046"/>
            <a:ext cx="1079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小红书展台采访间</a:t>
            </a:r>
          </a:p>
        </p:txBody>
      </p:sp>
      <p:sp>
        <p:nvSpPr>
          <p:cNvPr id="5094" name="default_name"/>
          <p:cNvSpPr txBox="1"/>
          <p:nvPr/>
        </p:nvSpPr>
        <p:spPr>
          <a:xfrm>
            <a:off x="9175750" y="3576296"/>
            <a:ext cx="1079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品牌笔记</a:t>
            </a:r>
          </a:p>
        </p:txBody>
      </p:sp>
      <p:sp>
        <p:nvSpPr>
          <p:cNvPr id="5095" name="default_name"/>
          <p:cNvSpPr txBox="1"/>
          <p:nvPr/>
        </p:nvSpPr>
        <p:spPr>
          <a:xfrm>
            <a:off x="2159000" y="4541496"/>
            <a:ext cx="1079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特邀车展报道团</a:t>
            </a:r>
          </a:p>
        </p:txBody>
      </p:sp>
      <p:sp>
        <p:nvSpPr>
          <p:cNvPr id="5096" name="Text 26"/>
          <p:cNvSpPr txBox="1"/>
          <p:nvPr/>
        </p:nvSpPr>
        <p:spPr>
          <a:xfrm>
            <a:off x="3048000" y="5473700"/>
            <a:ext cx="1375567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车圈大佬</a:t>
            </a:r>
          </a:p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视频笔记发布</a:t>
            </a:r>
          </a:p>
        </p:txBody>
      </p:sp>
      <p:sp>
        <p:nvSpPr>
          <p:cNvPr id="5097" name="Text 27"/>
          <p:cNvSpPr txBox="1"/>
          <p:nvPr/>
        </p:nvSpPr>
        <p:spPr>
          <a:xfrm>
            <a:off x="5029200" y="5473700"/>
            <a:ext cx="1375567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下展台</a:t>
            </a:r>
          </a:p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品牌创意联动</a:t>
            </a:r>
          </a:p>
        </p:txBody>
      </p:sp>
      <p:sp>
        <p:nvSpPr>
          <p:cNvPr id="5098" name="Text 28"/>
          <p:cNvSpPr txBox="1"/>
          <p:nvPr/>
        </p:nvSpPr>
        <p:spPr>
          <a:xfrm>
            <a:off x="7010400" y="5473700"/>
            <a:ext cx="1375567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红薯热议</a:t>
            </a:r>
          </a:p>
          <a:p>
            <a:pPr algn="ctr">
              <a:lnSpc>
                <a:spcPts val="14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品牌互动讨论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1A65A9E-B8DC-FECD-0424-AEE621B0AF39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F5679D1A-3BC2-7CE6-0D7D-3CAB39C88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1D5CA420-EA8F-50C1-E71E-71B3D7548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B0909004-5574-B3FE-EF36-2FC6DEB3E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35B30526-E02A-61AE-AFF6-0CE93DEF8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B92B5441-A167-36BE-FAC5-0D34A440E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CA1DAE42-3C83-90EF-501C-03D859541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1514AF2D-573F-9AD2-93EA-623481BC0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BB94331B-0F9E-F4A9-BF26-F426828F6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2" name="Vector" descr="Vector">
              <a:extLst>
                <a:ext uri="{FF2B5EF4-FFF2-40B4-BE49-F238E27FC236}">
                  <a16:creationId xmlns:a16="http://schemas.microsoft.com/office/drawing/2014/main" id="{DDC6A1E4-58D7-73C7-D1A0-E7149B396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920605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0" name="Rectangle 2" descr="Rectangl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1" name="Group 189" descr="Group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2" name="Rectangle 42" descr="Rectangl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752600"/>
            <a:ext cx="10922000" cy="447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4" name="Line 18" descr="Lin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19" y="399826"/>
            <a:ext cx="1674091" cy="19623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5" name="Rectangle 56" descr="Rectangl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328" y="1143000"/>
            <a:ext cx="10293351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6" name="Rectangle 52" descr="Rectangl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1143000"/>
            <a:ext cx="2197100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7" name="Rectangle 3" descr="Rectangl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4889500"/>
            <a:ext cx="1333500" cy="1149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8" name="Rectangle 52" descr="Rectangle 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4889500"/>
            <a:ext cx="2984500" cy="1149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9" name="Rectangle 52" descr="Rectangle 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4889500"/>
            <a:ext cx="2984500" cy="1149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0" name="Rectangle 52" descr="Rectangle 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4889500"/>
            <a:ext cx="2984500" cy="1149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1" name="Rectangle 3" descr="Rectangl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500" y="3556000"/>
            <a:ext cx="1333500" cy="1206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2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4445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3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350" y="4445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4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0700" y="4445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5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3050" y="4445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6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4064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7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350" y="4064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8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0700" y="4064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9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3050" y="40640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0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1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835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2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070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3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305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4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530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5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765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6" name="Rectangle 52" descr="Rectangle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0" y="3556000"/>
            <a:ext cx="14541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235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8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460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9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695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0" name="Rectangle 52" descr="Rectangl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1650" y="3556000"/>
            <a:ext cx="7048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1" name="Rectangle 3" descr="Rectangl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500" y="3111500"/>
            <a:ext cx="133350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2" name="Rectangle 52" descr="Rectangl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0" y="31115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3" name="Rectangle 52" descr="Rectangl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8350" y="31115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4" name="Rectangle 52" descr="Rectangl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0700" y="31115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5" name="Rectangle 52" descr="Rectangle 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3050" y="3111500"/>
            <a:ext cx="22034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6" name="Rectangle 3" descr="Rectangle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500" y="2413000"/>
            <a:ext cx="1333500" cy="571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7" name="Rectangle 3" descr="Rectangl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500" y="1968500"/>
            <a:ext cx="133350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8" name="Rectangle 56" descr="Rectangle 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0" y="1968500"/>
            <a:ext cx="22923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9" name="Rectangle 61" descr="Rectangle 6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6600" y="1968500"/>
            <a:ext cx="23812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0" name="Rectangle 63" descr="Rectangl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96100" y="1968500"/>
            <a:ext cx="230505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1" name="Rectangle 64" descr="Rectangl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9400" y="1968500"/>
            <a:ext cx="220980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2" name="image 95" descr="image 9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13000" y="5175250"/>
            <a:ext cx="1333500" cy="717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Rectangle 54" descr="Rectangl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93950" y="5791200"/>
            <a:ext cx="13716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4" name="Mask group" descr="Mask group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61000" y="5175250"/>
            <a:ext cx="1333500" cy="717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Rectangle 54" descr="Rectangle 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41950" y="5791200"/>
            <a:ext cx="13716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image 95" descr="image 9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09000" y="5175250"/>
            <a:ext cx="1333500" cy="717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Rectangle 54" descr="Rectangle 5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950" y="5791200"/>
            <a:ext cx="13716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image 96" descr="image 9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10000" y="5175250"/>
            <a:ext cx="1333500" cy="717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9" name="Rectangle 54" descr="Rectangle 5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90950" y="5791200"/>
            <a:ext cx="13716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image 96" descr="image 9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0" y="5175250"/>
            <a:ext cx="1333500" cy="717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1" name="Rectangle 54" descr="Rectangle 5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38950" y="5791200"/>
            <a:ext cx="13716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image 96" descr="image 9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906000" y="5175250"/>
            <a:ext cx="1333500" cy="717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Rectangle 54" descr="Rectangle 5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86950" y="5791200"/>
            <a:ext cx="1371600" cy="152400"/>
          </a:xfrm>
          <a:prstGeom prst="rect">
            <a:avLst/>
          </a:prstGeom>
          <a:ln w="12700">
            <a:miter lim="400000"/>
          </a:ln>
        </p:spPr>
      </p:pic>
      <p:sp>
        <p:nvSpPr>
          <p:cNvPr id="5154" name="Text 0"/>
          <p:cNvSpPr txBox="1"/>
          <p:nvPr/>
        </p:nvSpPr>
        <p:spPr>
          <a:xfrm>
            <a:off x="2622550" y="2533650"/>
            <a:ext cx="15367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抢占注意力高地</a:t>
            </a:r>
          </a:p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唤醒潜在用户购车需求</a:t>
            </a:r>
          </a:p>
        </p:txBody>
      </p:sp>
      <p:sp>
        <p:nvSpPr>
          <p:cNvPr id="5155" name="Text 1"/>
          <p:cNvSpPr txBox="1"/>
          <p:nvPr/>
        </p:nvSpPr>
        <p:spPr>
          <a:xfrm>
            <a:off x="4914900" y="2533650"/>
            <a:ext cx="15367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借助小红书内容生态</a:t>
            </a:r>
          </a:p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品牌高频、多元化露出</a:t>
            </a:r>
          </a:p>
        </p:txBody>
      </p:sp>
      <p:sp>
        <p:nvSpPr>
          <p:cNvPr id="5156" name="Text 2"/>
          <p:cNvSpPr txBox="1"/>
          <p:nvPr/>
        </p:nvSpPr>
        <p:spPr>
          <a:xfrm>
            <a:off x="7359650" y="2533650"/>
            <a:ext cx="12319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构建高记忆锚点</a:t>
            </a:r>
          </a:p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撬动全域内容共振</a:t>
            </a:r>
          </a:p>
        </p:txBody>
      </p:sp>
      <p:sp>
        <p:nvSpPr>
          <p:cNvPr id="5157" name="Text 3"/>
          <p:cNvSpPr txBox="1"/>
          <p:nvPr/>
        </p:nvSpPr>
        <p:spPr>
          <a:xfrm>
            <a:off x="9575800" y="2533650"/>
            <a:ext cx="13843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用时间沉淀质感</a:t>
            </a:r>
          </a:p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塑造可复利的认同力</a:t>
            </a:r>
          </a:p>
        </p:txBody>
      </p:sp>
      <p:sp>
        <p:nvSpPr>
          <p:cNvPr id="5158" name="default_name"/>
          <p:cNvSpPr txBox="1"/>
          <p:nvPr/>
        </p:nvSpPr>
        <p:spPr>
          <a:xfrm>
            <a:off x="5400675" y="563992"/>
            <a:ext cx="1390651" cy="5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8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667"/>
              <a:t>宝藏新车</a:t>
            </a:r>
          </a:p>
        </p:txBody>
      </p:sp>
      <p:sp>
        <p:nvSpPr>
          <p:cNvPr id="5159" name="default_name"/>
          <p:cNvSpPr txBox="1"/>
          <p:nvPr/>
        </p:nvSpPr>
        <p:spPr>
          <a:xfrm>
            <a:off x="316806" y="286490"/>
            <a:ext cx="15113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5160" name="default_name"/>
          <p:cNvSpPr txBox="1"/>
          <p:nvPr/>
        </p:nvSpPr>
        <p:spPr>
          <a:xfrm>
            <a:off x="1110556" y="521440"/>
            <a:ext cx="11811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5161" name="Text 7"/>
          <p:cNvSpPr txBox="1"/>
          <p:nvPr/>
        </p:nvSpPr>
        <p:spPr>
          <a:xfrm>
            <a:off x="863600" y="1246722"/>
            <a:ext cx="1720850" cy="22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2200" spc="113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467"/>
              <a:t>项目上线时间  </a:t>
            </a:r>
            <a:r>
              <a:rPr sz="1467"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rPr>
              <a:t>全年</a:t>
            </a:r>
          </a:p>
        </p:txBody>
      </p:sp>
      <p:sp>
        <p:nvSpPr>
          <p:cNvPr id="5162" name="default_name"/>
          <p:cNvSpPr txBox="1"/>
          <p:nvPr/>
        </p:nvSpPr>
        <p:spPr>
          <a:xfrm>
            <a:off x="2808817" y="1197091"/>
            <a:ext cx="869315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 dirty="0"/>
              <a:t>「</a:t>
            </a:r>
            <a:r>
              <a:rPr sz="1467" dirty="0" err="1"/>
              <a:t>新车上市」整合营销全链路，定制化品牌共创策略，覆盖上市全周期，打造新车现象级出圈轨迹</a:t>
            </a:r>
            <a:endParaRPr sz="1467" dirty="0"/>
          </a:p>
        </p:txBody>
      </p:sp>
      <p:sp>
        <p:nvSpPr>
          <p:cNvPr id="5163" name="default_name"/>
          <p:cNvSpPr txBox="1"/>
          <p:nvPr/>
        </p:nvSpPr>
        <p:spPr>
          <a:xfrm>
            <a:off x="990600" y="5307326"/>
            <a:ext cx="10160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共创方向</a:t>
            </a:r>
          </a:p>
        </p:txBody>
      </p:sp>
      <p:sp>
        <p:nvSpPr>
          <p:cNvPr id="5164" name="default_name"/>
          <p:cNvSpPr txBox="1"/>
          <p:nvPr/>
        </p:nvSpPr>
        <p:spPr>
          <a:xfrm>
            <a:off x="2279650" y="4932676"/>
            <a:ext cx="29972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新灵感</a:t>
            </a:r>
          </a:p>
        </p:txBody>
      </p:sp>
      <p:sp>
        <p:nvSpPr>
          <p:cNvPr id="5165" name="default_name"/>
          <p:cNvSpPr txBox="1"/>
          <p:nvPr/>
        </p:nvSpPr>
        <p:spPr>
          <a:xfrm>
            <a:off x="5327650" y="4931893"/>
            <a:ext cx="29972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新场景</a:t>
            </a:r>
          </a:p>
        </p:txBody>
      </p:sp>
      <p:sp>
        <p:nvSpPr>
          <p:cNvPr id="5166" name="default_name"/>
          <p:cNvSpPr txBox="1"/>
          <p:nvPr/>
        </p:nvSpPr>
        <p:spPr>
          <a:xfrm>
            <a:off x="8375650" y="4931893"/>
            <a:ext cx="29972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新互动</a:t>
            </a:r>
          </a:p>
        </p:txBody>
      </p:sp>
      <p:sp>
        <p:nvSpPr>
          <p:cNvPr id="5167" name="IP"/>
          <p:cNvSpPr txBox="1"/>
          <p:nvPr/>
        </p:nvSpPr>
        <p:spPr>
          <a:xfrm>
            <a:off x="1079500" y="3979913"/>
            <a:ext cx="8382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IP</a:t>
            </a:r>
          </a:p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核心动作</a:t>
            </a:r>
          </a:p>
        </p:txBody>
      </p:sp>
      <p:sp>
        <p:nvSpPr>
          <p:cNvPr id="5168" name="default_name"/>
          <p:cNvSpPr txBox="1"/>
          <p:nvPr/>
        </p:nvSpPr>
        <p:spPr>
          <a:xfrm>
            <a:off x="2565400" y="4485001"/>
            <a:ext cx="16446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灵感故事预埋</a:t>
            </a:r>
          </a:p>
        </p:txBody>
      </p:sp>
      <p:sp>
        <p:nvSpPr>
          <p:cNvPr id="5169" name="default_name"/>
          <p:cNvSpPr txBox="1"/>
          <p:nvPr/>
        </p:nvSpPr>
        <p:spPr>
          <a:xfrm>
            <a:off x="4857750" y="4483414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宝藏车友会成团</a:t>
            </a:r>
          </a:p>
        </p:txBody>
      </p:sp>
      <p:sp>
        <p:nvSpPr>
          <p:cNvPr id="5170" name="default_name"/>
          <p:cNvSpPr txBox="1"/>
          <p:nvPr/>
        </p:nvSpPr>
        <p:spPr>
          <a:xfrm>
            <a:off x="7150100" y="4483414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宝藏直播</a:t>
            </a:r>
          </a:p>
        </p:txBody>
      </p:sp>
      <p:sp>
        <p:nvSpPr>
          <p:cNvPr id="5171" name="default_name"/>
          <p:cNvSpPr txBox="1"/>
          <p:nvPr/>
        </p:nvSpPr>
        <p:spPr>
          <a:xfrm>
            <a:off x="9442450" y="4483414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官号滚动联播</a:t>
            </a:r>
          </a:p>
        </p:txBody>
      </p:sp>
      <p:sp>
        <p:nvSpPr>
          <p:cNvPr id="5172" name="default_name"/>
          <p:cNvSpPr txBox="1"/>
          <p:nvPr/>
        </p:nvSpPr>
        <p:spPr>
          <a:xfrm>
            <a:off x="2565400" y="41034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品牌内容定调</a:t>
            </a:r>
          </a:p>
        </p:txBody>
      </p:sp>
      <p:sp>
        <p:nvSpPr>
          <p:cNvPr id="5173" name="default_name"/>
          <p:cNvSpPr txBox="1"/>
          <p:nvPr/>
        </p:nvSpPr>
        <p:spPr>
          <a:xfrm>
            <a:off x="4857750" y="41034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线上线下大事件</a:t>
            </a:r>
          </a:p>
        </p:txBody>
      </p:sp>
      <p:sp>
        <p:nvSpPr>
          <p:cNvPr id="5174" name="default_name"/>
          <p:cNvSpPr txBox="1"/>
          <p:nvPr/>
        </p:nvSpPr>
        <p:spPr>
          <a:xfrm>
            <a:off x="7150100" y="41034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百人户外试驾</a:t>
            </a:r>
          </a:p>
        </p:txBody>
      </p:sp>
      <p:sp>
        <p:nvSpPr>
          <p:cNvPr id="5175" name="IP"/>
          <p:cNvSpPr txBox="1"/>
          <p:nvPr/>
        </p:nvSpPr>
        <p:spPr>
          <a:xfrm>
            <a:off x="9442450" y="41034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IP联名周边</a:t>
            </a:r>
          </a:p>
        </p:txBody>
      </p:sp>
      <p:sp>
        <p:nvSpPr>
          <p:cNvPr id="5176" name="Text 22"/>
          <p:cNvSpPr txBox="1"/>
          <p:nvPr/>
        </p:nvSpPr>
        <p:spPr>
          <a:xfrm>
            <a:off x="236855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多方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共创</a:t>
            </a:r>
          </a:p>
        </p:txBody>
      </p:sp>
      <p:sp>
        <p:nvSpPr>
          <p:cNvPr id="5177" name="Text 23"/>
          <p:cNvSpPr txBox="1"/>
          <p:nvPr/>
        </p:nvSpPr>
        <p:spPr>
          <a:xfrm>
            <a:off x="466090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多场域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覆盖</a:t>
            </a:r>
          </a:p>
        </p:txBody>
      </p:sp>
      <p:sp>
        <p:nvSpPr>
          <p:cNvPr id="5178" name="Text 24"/>
          <p:cNvSpPr txBox="1"/>
          <p:nvPr/>
        </p:nvSpPr>
        <p:spPr>
          <a:xfrm>
            <a:off x="695325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百人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试驾</a:t>
            </a:r>
          </a:p>
        </p:txBody>
      </p:sp>
      <p:sp>
        <p:nvSpPr>
          <p:cNvPr id="5179" name="Text 25"/>
          <p:cNvSpPr txBox="1"/>
          <p:nvPr/>
        </p:nvSpPr>
        <p:spPr>
          <a:xfrm>
            <a:off x="924560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实体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周边</a:t>
            </a:r>
          </a:p>
        </p:txBody>
      </p:sp>
      <p:sp>
        <p:nvSpPr>
          <p:cNvPr id="5180" name="Text 26"/>
          <p:cNvSpPr txBox="1"/>
          <p:nvPr/>
        </p:nvSpPr>
        <p:spPr>
          <a:xfrm>
            <a:off x="311785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概念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曝光</a:t>
            </a:r>
          </a:p>
        </p:txBody>
      </p:sp>
      <p:sp>
        <p:nvSpPr>
          <p:cNvPr id="5181" name="Text 27"/>
          <p:cNvSpPr txBox="1"/>
          <p:nvPr/>
        </p:nvSpPr>
        <p:spPr>
          <a:xfrm>
            <a:off x="541020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定制化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玩法</a:t>
            </a:r>
          </a:p>
        </p:txBody>
      </p:sp>
      <p:sp>
        <p:nvSpPr>
          <p:cNvPr id="5182" name="Text 28"/>
          <p:cNvSpPr txBox="1"/>
          <p:nvPr/>
        </p:nvSpPr>
        <p:spPr>
          <a:xfrm>
            <a:off x="7804150" y="3627537"/>
            <a:ext cx="108585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打造多形式的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内容场/互动场</a:t>
            </a:r>
          </a:p>
        </p:txBody>
      </p:sp>
      <p:sp>
        <p:nvSpPr>
          <p:cNvPr id="5183" name="Text 29"/>
          <p:cNvSpPr txBox="1"/>
          <p:nvPr/>
        </p:nvSpPr>
        <p:spPr>
          <a:xfrm>
            <a:off x="999490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常态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上新</a:t>
            </a:r>
          </a:p>
        </p:txBody>
      </p:sp>
      <p:sp>
        <p:nvSpPr>
          <p:cNvPr id="5184" name="Text 30"/>
          <p:cNvSpPr txBox="1"/>
          <p:nvPr/>
        </p:nvSpPr>
        <p:spPr>
          <a:xfrm>
            <a:off x="386715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风格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定调</a:t>
            </a:r>
          </a:p>
        </p:txBody>
      </p:sp>
      <p:sp>
        <p:nvSpPr>
          <p:cNvPr id="5185" name="K"/>
          <p:cNvSpPr txBox="1"/>
          <p:nvPr/>
        </p:nvSpPr>
        <p:spPr>
          <a:xfrm>
            <a:off x="615950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头K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影响力</a:t>
            </a:r>
          </a:p>
        </p:txBody>
      </p:sp>
      <p:sp>
        <p:nvSpPr>
          <p:cNvPr id="5186" name="Text 32"/>
          <p:cNvSpPr txBox="1"/>
          <p:nvPr/>
        </p:nvSpPr>
        <p:spPr>
          <a:xfrm>
            <a:off x="10744200" y="3628058"/>
            <a:ext cx="5348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动态</a:t>
            </a:r>
          </a:p>
          <a:p>
            <a:pPr algn="ctr">
              <a:lnSpc>
                <a:spcPts val="1200"/>
              </a:lnSpc>
              <a:defRPr sz="15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运营</a:t>
            </a:r>
          </a:p>
        </p:txBody>
      </p:sp>
      <p:sp>
        <p:nvSpPr>
          <p:cNvPr id="5187" name="default_name"/>
          <p:cNvSpPr txBox="1"/>
          <p:nvPr/>
        </p:nvSpPr>
        <p:spPr>
          <a:xfrm>
            <a:off x="2565400" y="31509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提冷启关注</a:t>
            </a:r>
          </a:p>
        </p:txBody>
      </p:sp>
      <p:sp>
        <p:nvSpPr>
          <p:cNvPr id="5188" name="default_name"/>
          <p:cNvSpPr txBox="1"/>
          <p:nvPr/>
        </p:nvSpPr>
        <p:spPr>
          <a:xfrm>
            <a:off x="4857750" y="31509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沉淀真口碑</a:t>
            </a:r>
          </a:p>
        </p:txBody>
      </p:sp>
      <p:sp>
        <p:nvSpPr>
          <p:cNvPr id="5189" name="default_name"/>
          <p:cNvSpPr txBox="1"/>
          <p:nvPr/>
        </p:nvSpPr>
        <p:spPr>
          <a:xfrm>
            <a:off x="7150100" y="31509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造高点声量</a:t>
            </a:r>
          </a:p>
        </p:txBody>
      </p:sp>
      <p:sp>
        <p:nvSpPr>
          <p:cNvPr id="5190" name="default_name"/>
          <p:cNvSpPr txBox="1"/>
          <p:nvPr/>
        </p:nvSpPr>
        <p:spPr>
          <a:xfrm>
            <a:off x="9442450" y="3150968"/>
            <a:ext cx="1645157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持续稳热度</a:t>
            </a:r>
          </a:p>
        </p:txBody>
      </p:sp>
      <p:sp>
        <p:nvSpPr>
          <p:cNvPr id="5191" name="default_name"/>
          <p:cNvSpPr txBox="1"/>
          <p:nvPr/>
        </p:nvSpPr>
        <p:spPr>
          <a:xfrm>
            <a:off x="1231900" y="3150575"/>
            <a:ext cx="5334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目标</a:t>
            </a:r>
          </a:p>
        </p:txBody>
      </p:sp>
      <p:sp>
        <p:nvSpPr>
          <p:cNvPr id="5192" name="Text 38"/>
          <p:cNvSpPr txBox="1"/>
          <p:nvPr/>
        </p:nvSpPr>
        <p:spPr>
          <a:xfrm>
            <a:off x="704850" y="2577304"/>
            <a:ext cx="15811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客户痛点&amp; 需求</a:t>
            </a:r>
          </a:p>
        </p:txBody>
      </p:sp>
      <p:sp>
        <p:nvSpPr>
          <p:cNvPr id="5193" name="default_name"/>
          <p:cNvSpPr txBox="1"/>
          <p:nvPr/>
        </p:nvSpPr>
        <p:spPr>
          <a:xfrm>
            <a:off x="2616200" y="2007973"/>
            <a:ext cx="15494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上市预热</a:t>
            </a:r>
          </a:p>
        </p:txBody>
      </p:sp>
      <p:sp>
        <p:nvSpPr>
          <p:cNvPr id="5194" name="default_name"/>
          <p:cNvSpPr txBox="1"/>
          <p:nvPr/>
        </p:nvSpPr>
        <p:spPr>
          <a:xfrm>
            <a:off x="4908550" y="2007973"/>
            <a:ext cx="15494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口碑造势</a:t>
            </a:r>
          </a:p>
        </p:txBody>
      </p:sp>
      <p:sp>
        <p:nvSpPr>
          <p:cNvPr id="5195" name="default_name"/>
          <p:cNvSpPr txBox="1"/>
          <p:nvPr/>
        </p:nvSpPr>
        <p:spPr>
          <a:xfrm>
            <a:off x="7200900" y="2007973"/>
            <a:ext cx="15494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高点爆发</a:t>
            </a:r>
          </a:p>
        </p:txBody>
      </p:sp>
      <p:sp>
        <p:nvSpPr>
          <p:cNvPr id="5196" name="default_name"/>
          <p:cNvSpPr txBox="1"/>
          <p:nvPr/>
        </p:nvSpPr>
        <p:spPr>
          <a:xfrm>
            <a:off x="9613900" y="2007973"/>
            <a:ext cx="13017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长线种草</a:t>
            </a:r>
          </a:p>
        </p:txBody>
      </p:sp>
      <p:sp>
        <p:nvSpPr>
          <p:cNvPr id="5197" name="default_name"/>
          <p:cNvSpPr txBox="1"/>
          <p:nvPr/>
        </p:nvSpPr>
        <p:spPr>
          <a:xfrm>
            <a:off x="1225550" y="2004925"/>
            <a:ext cx="5397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阶段</a:t>
            </a:r>
          </a:p>
        </p:txBody>
      </p:sp>
      <p:sp>
        <p:nvSpPr>
          <p:cNvPr id="5198" name="default_name"/>
          <p:cNvSpPr txBox="1"/>
          <p:nvPr/>
        </p:nvSpPr>
        <p:spPr>
          <a:xfrm>
            <a:off x="2387600" y="5786096"/>
            <a:ext cx="1384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800"/>
              <a:t>共创改装车</a:t>
            </a:r>
          </a:p>
        </p:txBody>
      </p:sp>
      <p:sp>
        <p:nvSpPr>
          <p:cNvPr id="5199" name="default_name"/>
          <p:cNvSpPr txBox="1"/>
          <p:nvPr/>
        </p:nvSpPr>
        <p:spPr>
          <a:xfrm>
            <a:off x="5435600" y="5786096"/>
            <a:ext cx="1384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800"/>
              <a:t>花车巡游</a:t>
            </a:r>
          </a:p>
        </p:txBody>
      </p:sp>
      <p:sp>
        <p:nvSpPr>
          <p:cNvPr id="5200" name="default_name"/>
          <p:cNvSpPr txBox="1"/>
          <p:nvPr/>
        </p:nvSpPr>
        <p:spPr>
          <a:xfrm>
            <a:off x="8483600" y="5786096"/>
            <a:ext cx="1384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800"/>
              <a:t>百人俱乐部试驾</a:t>
            </a:r>
          </a:p>
        </p:txBody>
      </p:sp>
      <p:sp>
        <p:nvSpPr>
          <p:cNvPr id="5201" name="default_name"/>
          <p:cNvSpPr txBox="1"/>
          <p:nvPr/>
        </p:nvSpPr>
        <p:spPr>
          <a:xfrm>
            <a:off x="3784600" y="5786096"/>
            <a:ext cx="1384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800"/>
              <a:t>星粉联动</a:t>
            </a:r>
          </a:p>
        </p:txBody>
      </p:sp>
      <p:sp>
        <p:nvSpPr>
          <p:cNvPr id="5202" name="default_name"/>
          <p:cNvSpPr txBox="1"/>
          <p:nvPr/>
        </p:nvSpPr>
        <p:spPr>
          <a:xfrm>
            <a:off x="6832600" y="5786096"/>
            <a:ext cx="1384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800"/>
              <a:t>城市快闪</a:t>
            </a:r>
          </a:p>
        </p:txBody>
      </p:sp>
      <p:sp>
        <p:nvSpPr>
          <p:cNvPr id="5203" name="default_name"/>
          <p:cNvSpPr txBox="1"/>
          <p:nvPr/>
        </p:nvSpPr>
        <p:spPr>
          <a:xfrm>
            <a:off x="9880600" y="5786096"/>
            <a:ext cx="1384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800"/>
              <a:t>共创联名周边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C5FC2D-2D80-A1C2-2237-7F5E3844A0AA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221F218C-0C9D-2517-098B-3C5156F00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EA99A157-B874-E543-173F-A151865A7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843E79B3-E0F2-EA5C-CDE6-B315AE9AB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249C868C-16BF-7669-7307-794655EA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96A3BF38-8B3F-9C5C-9F60-709832BCA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E4BCCB91-70C7-71D7-67AC-9E703614D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CB967253-057B-A241-76A0-E70389866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D2614011-4BDF-2FFE-B443-40B5B3AC1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37B1CEA6-379A-0AD8-431E-A9FB6E2A0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79745224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5" name="Rectangle 2" descr="Rectangl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6" name="Group 189" descr="Group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7" name="Rectangle 221" descr="Rectangle 2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2654300"/>
            <a:ext cx="10922000" cy="3568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8" name="Rectangle 43" descr="Rectangl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752600"/>
            <a:ext cx="10922000" cy="3346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0" name="Line 18" descr="Lin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19" y="399826"/>
            <a:ext cx="1674091" cy="19624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1" name="Rectangle 56" descr="Rectangl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6378" y="1143000"/>
            <a:ext cx="9486901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2" name="Rectangle 52" descr="Rectangle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050" y="1143000"/>
            <a:ext cx="2197100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3" name="Rectangle 3" descr="Rectangl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50" y="2203450"/>
            <a:ext cx="294640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4" name="Rectangle 3" descr="Rectangl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1850" y="2203450"/>
            <a:ext cx="294640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5" name="Rectangle 3" descr="Rectangl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4050" y="2203450"/>
            <a:ext cx="2946400" cy="317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6" name="Rectangle 42" descr="Rectangl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2520950"/>
            <a:ext cx="3625850" cy="338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7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250" y="4210050"/>
            <a:ext cx="3435350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8" name="image 95" descr="image 9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000" y="4584700"/>
            <a:ext cx="81280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9" name="image 144" descr="image 1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4933950"/>
            <a:ext cx="431800" cy="431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0" name="Rectangle 54" descr="Rectangl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000" y="5537200"/>
            <a:ext cx="8128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1" name="image 95" descr="image 9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4700" y="4584700"/>
            <a:ext cx="81280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2" name="Rectangle 54" descr="Rectangl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4700" y="5537200"/>
            <a:ext cx="8128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3" name="image 95" descr="image 9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73400" y="4584700"/>
            <a:ext cx="81280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4" name="Rectangle 54" descr="Rectangl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73400" y="5537200"/>
            <a:ext cx="8128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5" name="Group 1136" descr="Group 113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0750" y="2654300"/>
            <a:ext cx="30734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6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8400" y="323850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7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20900" y="344805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8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1650" y="323850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9" name="image 98" descr="image 9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81200" y="5016500"/>
            <a:ext cx="9334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0" name="Rectangle 42" descr="Rectangl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0" y="2520950"/>
            <a:ext cx="3625850" cy="338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1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4210050"/>
            <a:ext cx="3435350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2" name="image 95" descr="image 9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23000" y="4584700"/>
            <a:ext cx="71755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3" name="image 96" descr="image 9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04050" y="4584700"/>
            <a:ext cx="71755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4" name="Rectangle 54" descr="Rectangl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23000" y="5537200"/>
            <a:ext cx="14986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5" name="Group 1137" descr="Group 11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2654300"/>
            <a:ext cx="30734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6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19650" y="323850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7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72150" y="344805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8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92900" y="323850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9" name="Rectangle 42" descr="Rectangl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1150" y="2520950"/>
            <a:ext cx="3625850" cy="338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0" name="Rectangle 52" descr="Rectangl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6400" y="4210050"/>
            <a:ext cx="3435350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1" name="image 95" descr="image 9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2150" y="4584700"/>
            <a:ext cx="81280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2" name="Rectangle 54" descr="Rectangl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2150" y="5537200"/>
            <a:ext cx="8128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3" name="image 95" descr="image 9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40850" y="4584700"/>
            <a:ext cx="81280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4" name="Rectangle 54" descr="Rectangl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40850" y="5537200"/>
            <a:ext cx="8128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5" name="image 95" descr="image 9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69550" y="4584700"/>
            <a:ext cx="812800" cy="1130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6" name="Rectangle 54" descr="Rectangl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9550" y="5537200"/>
            <a:ext cx="8128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7" name="Group 1138" descr="Group 11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16900" y="2654300"/>
            <a:ext cx="30734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8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4550" y="323850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9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7050" y="344805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0" name="Ellipse 31" descr="Ellips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37800" y="3238500"/>
            <a:ext cx="6731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1" name="image 99" descr="image 9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08500" y="4387850"/>
            <a:ext cx="1536700" cy="142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2" name="image 101" descr="image 10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54650" y="4527550"/>
            <a:ext cx="552450" cy="984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3" name="image 102" descr="image 10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78450" y="4889500"/>
            <a:ext cx="635000" cy="920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4" name="image 100" descr="image 10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19600" y="4616450"/>
            <a:ext cx="882650" cy="882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5" name="image 103" descr="image 10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08500" y="4819650"/>
            <a:ext cx="755650" cy="990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6" name="image 104" descr="image 10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965700" y="4991100"/>
            <a:ext cx="565150" cy="819150"/>
          </a:xfrm>
          <a:prstGeom prst="rect">
            <a:avLst/>
          </a:prstGeom>
          <a:ln w="12700">
            <a:miter lim="400000"/>
          </a:ln>
        </p:spPr>
      </p:pic>
      <p:sp>
        <p:nvSpPr>
          <p:cNvPr id="5257" name="Text 0"/>
          <p:cNvSpPr txBox="1"/>
          <p:nvPr/>
        </p:nvSpPr>
        <p:spPr>
          <a:xfrm>
            <a:off x="3270250" y="1766338"/>
            <a:ext cx="5657850" cy="455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800"/>
              </a:lnSpc>
              <a:defRPr sz="2200" spc="135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467"/>
              <a:t>品牌口碑 = (产品体验)ⁿ</a:t>
            </a:r>
            <a:r>
              <a:rPr sz="1467">
                <a:solidFill>
                  <a:srgbClr val="191919"/>
                </a:solidFill>
              </a:rPr>
              <a:t> ：我们把好车的评价权交还给真实用户</a:t>
            </a:r>
          </a:p>
        </p:txBody>
      </p:sp>
      <p:sp>
        <p:nvSpPr>
          <p:cNvPr id="5258" name="--"/>
          <p:cNvSpPr txBox="1"/>
          <p:nvPr/>
        </p:nvSpPr>
        <p:spPr>
          <a:xfrm>
            <a:off x="3924300" y="5798148"/>
            <a:ext cx="4349750" cy="51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 spc="108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贯穿品牌-平台-真实用户三步走策略·打造千万级品牌曝光</a:t>
            </a:r>
          </a:p>
        </p:txBody>
      </p:sp>
      <p:sp>
        <p:nvSpPr>
          <p:cNvPr id="5259" name="default_name"/>
          <p:cNvSpPr txBox="1"/>
          <p:nvPr/>
        </p:nvSpPr>
        <p:spPr>
          <a:xfrm>
            <a:off x="316806" y="286490"/>
            <a:ext cx="15113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5260" name="default_name"/>
          <p:cNvSpPr txBox="1"/>
          <p:nvPr/>
        </p:nvSpPr>
        <p:spPr>
          <a:xfrm>
            <a:off x="1110556" y="521440"/>
            <a:ext cx="11811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5261" name="Text 5"/>
          <p:cNvSpPr txBox="1"/>
          <p:nvPr/>
        </p:nvSpPr>
        <p:spPr>
          <a:xfrm>
            <a:off x="1263650" y="1246722"/>
            <a:ext cx="1720850" cy="22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2200" spc="113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467" dirty="0" err="1"/>
              <a:t>项目上线时间</a:t>
            </a:r>
            <a:r>
              <a:rPr sz="1467" dirty="0"/>
              <a:t>  </a:t>
            </a:r>
            <a:r>
              <a:rPr sz="1467" dirty="0" err="1"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rPr>
              <a:t>全年</a:t>
            </a:r>
            <a:endParaRPr sz="1467" dirty="0">
              <a:latin typeface="FZVariable-LanTingHeiK Medium"/>
              <a:ea typeface="FZVariable-LanTingHeiK Medium"/>
              <a:cs typeface="FZVariable-LanTingHeiK Medium"/>
              <a:sym typeface="FZVariable-LanTingHeiK Medium"/>
            </a:endParaRPr>
          </a:p>
        </p:txBody>
      </p:sp>
      <p:sp>
        <p:nvSpPr>
          <p:cNvPr id="5262" name="KOLKOL"/>
          <p:cNvSpPr txBox="1"/>
          <p:nvPr/>
        </p:nvSpPr>
        <p:spPr>
          <a:xfrm>
            <a:off x="3124200" y="1197091"/>
            <a:ext cx="801370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聚合「头部KOL」+「针对性多象限KOL」+「核心用户代表」，对新车进行全方位评测</a:t>
            </a:r>
          </a:p>
        </p:txBody>
      </p:sp>
      <p:sp>
        <p:nvSpPr>
          <p:cNvPr id="5263" name="default_name"/>
          <p:cNvSpPr txBox="1"/>
          <p:nvPr/>
        </p:nvSpPr>
        <p:spPr>
          <a:xfrm>
            <a:off x="1206500" y="2240276"/>
            <a:ext cx="25209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官方招募「影响力」</a:t>
            </a:r>
          </a:p>
        </p:txBody>
      </p:sp>
      <p:sp>
        <p:nvSpPr>
          <p:cNvPr id="5264" name="default_name"/>
          <p:cNvSpPr txBox="1"/>
          <p:nvPr/>
        </p:nvSpPr>
        <p:spPr>
          <a:xfrm>
            <a:off x="4864100" y="2240276"/>
            <a:ext cx="25209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权威专业「种草力」</a:t>
            </a:r>
          </a:p>
        </p:txBody>
      </p:sp>
      <p:sp>
        <p:nvSpPr>
          <p:cNvPr id="5265" name="default_name"/>
          <p:cNvSpPr txBox="1"/>
          <p:nvPr/>
        </p:nvSpPr>
        <p:spPr>
          <a:xfrm>
            <a:off x="8496300" y="2240276"/>
            <a:ext cx="252095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200"/>
              <a:t>真诚内容「品牌力」</a:t>
            </a:r>
          </a:p>
        </p:txBody>
      </p:sp>
      <p:sp>
        <p:nvSpPr>
          <p:cNvPr id="5266" name="X"/>
          <p:cNvSpPr txBox="1"/>
          <p:nvPr/>
        </p:nvSpPr>
        <p:spPr>
          <a:xfrm>
            <a:off x="755650" y="4294907"/>
            <a:ext cx="3397250" cy="17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 dirty="0" err="1"/>
              <a:t>官方招募</a:t>
            </a:r>
            <a:r>
              <a:rPr sz="1200" dirty="0"/>
              <a:t> </a:t>
            </a:r>
            <a:r>
              <a:rPr lang="en-US" altLang="zh-CN" sz="1200" dirty="0">
                <a:solidFill>
                  <a:srgbClr val="0BB77E"/>
                </a:solidFill>
              </a:rPr>
              <a:t>×</a:t>
            </a:r>
            <a:r>
              <a:rPr sz="1200" dirty="0">
                <a:solidFill>
                  <a:srgbClr val="0BB77E"/>
                </a:solidFill>
              </a:rPr>
              <a:t> </a:t>
            </a:r>
            <a:r>
              <a:rPr sz="1200" dirty="0" err="1"/>
              <a:t>全民任务</a:t>
            </a:r>
            <a:endParaRPr sz="1200" dirty="0"/>
          </a:p>
        </p:txBody>
      </p:sp>
      <p:sp>
        <p:nvSpPr>
          <p:cNvPr id="5267" name="default_name"/>
          <p:cNvSpPr txBox="1"/>
          <p:nvPr/>
        </p:nvSpPr>
        <p:spPr>
          <a:xfrm>
            <a:off x="1009650" y="5544796"/>
            <a:ext cx="825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全民任务</a:t>
            </a:r>
          </a:p>
        </p:txBody>
      </p:sp>
      <p:sp>
        <p:nvSpPr>
          <p:cNvPr id="5268" name="default_name"/>
          <p:cNvSpPr txBox="1"/>
          <p:nvPr/>
        </p:nvSpPr>
        <p:spPr>
          <a:xfrm>
            <a:off x="2038350" y="5544796"/>
            <a:ext cx="825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流量瓜分</a:t>
            </a:r>
          </a:p>
        </p:txBody>
      </p:sp>
      <p:sp>
        <p:nvSpPr>
          <p:cNvPr id="5269" name="nns"/>
          <p:cNvSpPr txBox="1"/>
          <p:nvPr/>
        </p:nvSpPr>
        <p:spPr>
          <a:xfrm>
            <a:off x="3067050" y="5544796"/>
            <a:ext cx="825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lang="en-US" sz="800" dirty="0" err="1"/>
              <a:t>红薯集结</a:t>
            </a:r>
            <a:endParaRPr sz="800" dirty="0"/>
          </a:p>
        </p:txBody>
      </p:sp>
      <p:sp>
        <p:nvSpPr>
          <p:cNvPr id="5270" name="Text 14"/>
          <p:cNvSpPr txBox="1"/>
          <p:nvPr/>
        </p:nvSpPr>
        <p:spPr>
          <a:xfrm>
            <a:off x="1263650" y="3305746"/>
            <a:ext cx="495300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试驾团</a:t>
            </a:r>
          </a:p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招募</a:t>
            </a:r>
          </a:p>
        </p:txBody>
      </p:sp>
      <p:sp>
        <p:nvSpPr>
          <p:cNvPr id="5271" name="Text 15"/>
          <p:cNvSpPr txBox="1"/>
          <p:nvPr/>
        </p:nvSpPr>
        <p:spPr>
          <a:xfrm>
            <a:off x="2292350" y="3605064"/>
            <a:ext cx="3365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流量</a:t>
            </a:r>
          </a:p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扶持</a:t>
            </a:r>
          </a:p>
        </p:txBody>
      </p:sp>
      <p:sp>
        <p:nvSpPr>
          <p:cNvPr id="5272" name="Text 16"/>
          <p:cNvSpPr txBox="1"/>
          <p:nvPr/>
        </p:nvSpPr>
        <p:spPr>
          <a:xfrm>
            <a:off x="3213100" y="3395514"/>
            <a:ext cx="3365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全民</a:t>
            </a:r>
          </a:p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打榜</a:t>
            </a:r>
          </a:p>
        </p:txBody>
      </p:sp>
      <p:sp>
        <p:nvSpPr>
          <p:cNvPr id="5273" name="default_name"/>
          <p:cNvSpPr txBox="1"/>
          <p:nvPr/>
        </p:nvSpPr>
        <p:spPr>
          <a:xfrm>
            <a:off x="2006600" y="3032273"/>
            <a:ext cx="8826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全民测评</a:t>
            </a:r>
          </a:p>
        </p:txBody>
      </p:sp>
      <p:sp>
        <p:nvSpPr>
          <p:cNvPr id="5274" name="X"/>
          <p:cNvSpPr txBox="1"/>
          <p:nvPr/>
        </p:nvSpPr>
        <p:spPr>
          <a:xfrm>
            <a:off x="4406900" y="4294907"/>
            <a:ext cx="3397250" cy="17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 dirty="0" err="1"/>
              <a:t>百人评测</a:t>
            </a:r>
            <a:r>
              <a:rPr sz="1200" dirty="0"/>
              <a:t> </a:t>
            </a:r>
            <a:r>
              <a:rPr lang="en-US" altLang="zh-CN" sz="1200" dirty="0">
                <a:solidFill>
                  <a:srgbClr val="0BB77E"/>
                </a:solidFill>
              </a:rPr>
              <a:t>×</a:t>
            </a:r>
            <a:r>
              <a:rPr sz="1200" dirty="0">
                <a:solidFill>
                  <a:srgbClr val="0BB77E"/>
                </a:solidFill>
              </a:rPr>
              <a:t> </a:t>
            </a:r>
            <a:r>
              <a:rPr sz="1200" dirty="0" err="1"/>
              <a:t>痛点直击</a:t>
            </a:r>
            <a:endParaRPr sz="1200" dirty="0"/>
          </a:p>
        </p:txBody>
      </p:sp>
      <p:sp>
        <p:nvSpPr>
          <p:cNvPr id="5275" name="default_name"/>
          <p:cNvSpPr txBox="1"/>
          <p:nvPr/>
        </p:nvSpPr>
        <p:spPr>
          <a:xfrm>
            <a:off x="6216650" y="5544796"/>
            <a:ext cx="15113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专业评测</a:t>
            </a:r>
          </a:p>
        </p:txBody>
      </p:sp>
      <p:sp>
        <p:nvSpPr>
          <p:cNvPr id="5276" name="default_name"/>
          <p:cNvSpPr txBox="1"/>
          <p:nvPr/>
        </p:nvSpPr>
        <p:spPr>
          <a:xfrm>
            <a:off x="5657850" y="3032273"/>
            <a:ext cx="8826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专业解析</a:t>
            </a:r>
          </a:p>
        </p:txBody>
      </p:sp>
      <p:sp>
        <p:nvSpPr>
          <p:cNvPr id="5277" name="name_1 K"/>
          <p:cNvSpPr txBox="1"/>
          <p:nvPr/>
        </p:nvSpPr>
        <p:spPr>
          <a:xfrm>
            <a:off x="4895850" y="3381433"/>
            <a:ext cx="527050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1位</a:t>
            </a:r>
          </a:p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 spc="60">
                <a:solidFill>
                  <a:srgbClr val="0BB77E"/>
                </a:solidFill>
              </a:rPr>
              <a:t>行业大K</a:t>
            </a:r>
          </a:p>
        </p:txBody>
      </p:sp>
      <p:sp>
        <p:nvSpPr>
          <p:cNvPr id="5278" name="name_2"/>
          <p:cNvSpPr txBox="1"/>
          <p:nvPr/>
        </p:nvSpPr>
        <p:spPr>
          <a:xfrm>
            <a:off x="5835650" y="3590983"/>
            <a:ext cx="552450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2位</a:t>
            </a:r>
          </a:p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 spc="60">
                <a:solidFill>
                  <a:srgbClr val="0BB77E"/>
                </a:solidFill>
              </a:rPr>
              <a:t>用户代表</a:t>
            </a:r>
          </a:p>
        </p:txBody>
      </p:sp>
      <p:sp>
        <p:nvSpPr>
          <p:cNvPr id="5279" name="N"/>
          <p:cNvSpPr txBox="1"/>
          <p:nvPr/>
        </p:nvSpPr>
        <p:spPr>
          <a:xfrm>
            <a:off x="6756400" y="3381433"/>
            <a:ext cx="552450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200"/>
              <a:t>N位</a:t>
            </a:r>
          </a:p>
          <a:p>
            <a:pPr algn="ctr">
              <a:lnSpc>
                <a:spcPts val="1400"/>
              </a:lnSpc>
              <a:defRPr spc="108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 spc="60">
                <a:solidFill>
                  <a:srgbClr val="0BB77E"/>
                </a:solidFill>
              </a:rPr>
              <a:t>跨界达人</a:t>
            </a:r>
          </a:p>
        </p:txBody>
      </p:sp>
      <p:sp>
        <p:nvSpPr>
          <p:cNvPr id="5280" name="X"/>
          <p:cNvSpPr txBox="1"/>
          <p:nvPr/>
        </p:nvSpPr>
        <p:spPr>
          <a:xfrm>
            <a:off x="8051800" y="4294907"/>
            <a:ext cx="3397250" cy="17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 dirty="0" err="1"/>
              <a:t>真实口碑</a:t>
            </a:r>
            <a:r>
              <a:rPr sz="1200" dirty="0"/>
              <a:t> </a:t>
            </a:r>
            <a:r>
              <a:rPr lang="en-US" altLang="zh-CN" sz="1200" dirty="0">
                <a:solidFill>
                  <a:srgbClr val="0BB77E"/>
                </a:solidFill>
              </a:rPr>
              <a:t>×</a:t>
            </a:r>
            <a:r>
              <a:rPr sz="1200" dirty="0">
                <a:solidFill>
                  <a:srgbClr val="0BB77E"/>
                </a:solidFill>
              </a:rPr>
              <a:t> </a:t>
            </a:r>
            <a:r>
              <a:rPr sz="1200" dirty="0" err="1"/>
              <a:t>人群促转</a:t>
            </a:r>
            <a:endParaRPr sz="1200" dirty="0"/>
          </a:p>
        </p:txBody>
      </p:sp>
      <p:sp>
        <p:nvSpPr>
          <p:cNvPr id="5281" name="default_name"/>
          <p:cNvSpPr txBox="1"/>
          <p:nvPr/>
        </p:nvSpPr>
        <p:spPr>
          <a:xfrm>
            <a:off x="8305800" y="5544796"/>
            <a:ext cx="825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品牌主阵</a:t>
            </a:r>
          </a:p>
        </p:txBody>
      </p:sp>
      <p:sp>
        <p:nvSpPr>
          <p:cNvPr id="5282" name="default_name"/>
          <p:cNvSpPr txBox="1"/>
          <p:nvPr/>
        </p:nvSpPr>
        <p:spPr>
          <a:xfrm>
            <a:off x="9334500" y="5544796"/>
            <a:ext cx="825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试驾&amp;留咨</a:t>
            </a:r>
          </a:p>
        </p:txBody>
      </p:sp>
      <p:sp>
        <p:nvSpPr>
          <p:cNvPr id="5283" name="default_name"/>
          <p:cNvSpPr txBox="1"/>
          <p:nvPr/>
        </p:nvSpPr>
        <p:spPr>
          <a:xfrm>
            <a:off x="10363200" y="5544796"/>
            <a:ext cx="8255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72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引流资源</a:t>
            </a:r>
          </a:p>
        </p:txBody>
      </p:sp>
      <p:sp>
        <p:nvSpPr>
          <p:cNvPr id="5284" name="default_name"/>
          <p:cNvSpPr txBox="1"/>
          <p:nvPr/>
        </p:nvSpPr>
        <p:spPr>
          <a:xfrm>
            <a:off x="9302750" y="3032273"/>
            <a:ext cx="8826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口碑破圈</a:t>
            </a:r>
          </a:p>
        </p:txBody>
      </p:sp>
      <p:sp>
        <p:nvSpPr>
          <p:cNvPr id="5285" name="Text 29"/>
          <p:cNvSpPr txBox="1"/>
          <p:nvPr/>
        </p:nvSpPr>
        <p:spPr>
          <a:xfrm>
            <a:off x="8597900" y="3414812"/>
            <a:ext cx="4191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 spc="90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/>
              <a:t>站内</a:t>
            </a:r>
          </a:p>
          <a:p>
            <a:pPr algn="ctr">
              <a:lnSpc>
                <a:spcPts val="1200"/>
              </a:lnSpc>
              <a:defRPr sz="1500" spc="90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/>
              <a:t>主阵地</a:t>
            </a:r>
          </a:p>
        </p:txBody>
      </p:sp>
      <p:sp>
        <p:nvSpPr>
          <p:cNvPr id="5286" name="Text 30"/>
          <p:cNvSpPr txBox="1"/>
          <p:nvPr/>
        </p:nvSpPr>
        <p:spPr>
          <a:xfrm>
            <a:off x="9480550" y="3541068"/>
            <a:ext cx="55245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 spc="90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/>
              <a:t>线下</a:t>
            </a:r>
          </a:p>
          <a:p>
            <a:pPr algn="ctr">
              <a:lnSpc>
                <a:spcPts val="1200"/>
              </a:lnSpc>
              <a:defRPr sz="1500" spc="90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/>
              <a:t>试驾引导</a:t>
            </a:r>
          </a:p>
        </p:txBody>
      </p:sp>
      <p:sp>
        <p:nvSpPr>
          <p:cNvPr id="5287" name="Text 31"/>
          <p:cNvSpPr txBox="1"/>
          <p:nvPr/>
        </p:nvSpPr>
        <p:spPr>
          <a:xfrm>
            <a:off x="10401300" y="3331518"/>
            <a:ext cx="55245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 spc="90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/>
              <a:t>黄金</a:t>
            </a:r>
          </a:p>
          <a:p>
            <a:pPr algn="ctr">
              <a:lnSpc>
                <a:spcPts val="1200"/>
              </a:lnSpc>
              <a:defRPr sz="1500" spc="90">
                <a:solidFill>
                  <a:srgbClr val="191919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pPr>
            <a:r>
              <a:rPr sz="1000"/>
              <a:t>资源矩阵</a:t>
            </a:r>
          </a:p>
        </p:txBody>
      </p:sp>
      <p:sp>
        <p:nvSpPr>
          <p:cNvPr id="5288" name="default_name"/>
          <p:cNvSpPr txBox="1"/>
          <p:nvPr/>
        </p:nvSpPr>
        <p:spPr>
          <a:xfrm>
            <a:off x="5054600" y="544942"/>
            <a:ext cx="2082800" cy="5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8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667"/>
              <a:t>万人口碑计划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3B8285-7055-64B3-4CA9-79F7B60A87D4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82DF5BF1-8398-060F-54E3-4BD4D10E7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DF17D23F-7B79-78E9-405E-C4027C559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DD5B1389-F78B-1C6B-65B9-D9EA2BE9C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0D2D66A7-B8F8-55AD-681D-5962D9508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8B4FBF06-DD3E-0F30-AE8C-F218E2279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950233BF-BFD5-9DAF-CCC8-E228EA0D0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01021226-6490-1127-8586-0532531EA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22388DF5-39E3-75A7-8C3A-B731BD93A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2B243997-6AD9-9DA2-C0F1-1D841C6D7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3780509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0" name="Group 189" descr="Group 1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2" name="Line 18" descr="Lin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19" y="399826"/>
            <a:ext cx="1674091" cy="19623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3" name="Rectangle 56" descr="Rectangl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1143000"/>
            <a:ext cx="993775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4" name="Rectangle 52" descr="Rectangl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1143000"/>
            <a:ext cx="2216150" cy="539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5" name="Rectangle 3" descr="Rectangl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50" y="1816100"/>
            <a:ext cx="614045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6" name="Rectangle 3" descr="Rectangl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5500" y="1816100"/>
            <a:ext cx="27559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7" name="Rectangle 42" descr="Rectangl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00" y="2197100"/>
            <a:ext cx="7194550" cy="3003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8" name="Polygon 5" descr="Polygon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9126" y="3406775"/>
            <a:ext cx="165101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9" name="image 96" descr="image 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800" y="3244850"/>
            <a:ext cx="1301750" cy="889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0" name="image 98" descr="image 9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3800" y="4165600"/>
            <a:ext cx="635000" cy="84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1" name="image 99" descr="image 9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0550" y="4165600"/>
            <a:ext cx="635000" cy="84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2" name="image 100" descr="image 1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7300" y="4165600"/>
            <a:ext cx="635000" cy="84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3" name="image 101" descr="image 10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4050" y="4165600"/>
            <a:ext cx="635000" cy="84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4" name="image 97" descr="image 9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7300" y="3244850"/>
            <a:ext cx="1301750" cy="889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5" name="Rectangle 52" descr="Rectangle 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94300" y="2324100"/>
            <a:ext cx="22542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6" name="Rectangle 52" descr="Rectangle 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228" y="2520950"/>
            <a:ext cx="1682751" cy="55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7" name="Rectangle 52" descr="Rectangle 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228" y="3282950"/>
            <a:ext cx="1682751" cy="55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8" name="Rectangle 52" descr="Rectangle 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228" y="4044950"/>
            <a:ext cx="1682751" cy="55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9" name="Rectangle 42" descr="Rectangle 4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3550" y="2197100"/>
            <a:ext cx="3473450" cy="3003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0" name="Rectangle 52" descr="Rectangle 5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28050" y="2324100"/>
            <a:ext cx="258445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1" name="image 95" descr="image 9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37550" y="3270250"/>
            <a:ext cx="1308100" cy="173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2" name="image 95" descr="image 9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79000" y="4197350"/>
            <a:ext cx="1524000" cy="81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3" name="image 95" descr="image 9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79000" y="3270250"/>
            <a:ext cx="1524000" cy="800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4" name="Rectangle 4" descr="Rectangle 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03650" y="5365750"/>
            <a:ext cx="46228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5" name="Rectangle 42" descr="Rectangle 4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1250" y="5746750"/>
            <a:ext cx="9969500" cy="793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6" name="image 105" descr="image 10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14450" y="5981700"/>
            <a:ext cx="9563100" cy="520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7" name="Ellipse 73" descr="Ellipse 7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52700" y="5361831"/>
            <a:ext cx="7232650" cy="359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8" name="Group 451" descr="Group 45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40200" y="3892550"/>
            <a:ext cx="996950" cy="1193800"/>
          </a:xfrm>
          <a:prstGeom prst="rect">
            <a:avLst/>
          </a:prstGeom>
          <a:ln w="12700">
            <a:miter lim="400000"/>
          </a:ln>
        </p:spPr>
      </p:pic>
      <p:sp>
        <p:nvSpPr>
          <p:cNvPr id="5319" name="default_name"/>
          <p:cNvSpPr txBox="1"/>
          <p:nvPr/>
        </p:nvSpPr>
        <p:spPr>
          <a:xfrm>
            <a:off x="5400675" y="544942"/>
            <a:ext cx="1390651" cy="5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8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667"/>
              <a:t>路书计划</a:t>
            </a:r>
          </a:p>
        </p:txBody>
      </p:sp>
      <p:sp>
        <p:nvSpPr>
          <p:cNvPr id="5320" name="default_name"/>
          <p:cNvSpPr txBox="1"/>
          <p:nvPr/>
        </p:nvSpPr>
        <p:spPr>
          <a:xfrm>
            <a:off x="316806" y="286490"/>
            <a:ext cx="15113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1A1A1A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行业解决方案</a:t>
            </a:r>
          </a:p>
        </p:txBody>
      </p:sp>
      <p:sp>
        <p:nvSpPr>
          <p:cNvPr id="5321" name="default_name"/>
          <p:cNvSpPr txBox="1"/>
          <p:nvPr/>
        </p:nvSpPr>
        <p:spPr>
          <a:xfrm>
            <a:off x="1110556" y="521440"/>
            <a:ext cx="1181101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 spc="300">
                <a:solidFill>
                  <a:srgbClr val="0BB77E"/>
                </a:solidFill>
                <a:latin typeface="FZVariable-LanTingHeiK Regular"/>
                <a:ea typeface="FZVariable-LanTingHeiK Regular"/>
                <a:cs typeface="FZVariable-LanTingHeiK Regular"/>
                <a:sym typeface="FZVariable-LanTingHeiK Regular"/>
              </a:defRPr>
            </a:lvl1pPr>
          </a:lstStyle>
          <a:p>
            <a:r>
              <a:rPr sz="1000"/>
              <a:t>交通出行行业</a:t>
            </a:r>
          </a:p>
        </p:txBody>
      </p:sp>
      <p:sp>
        <p:nvSpPr>
          <p:cNvPr id="5322" name="Q4"/>
          <p:cNvSpPr txBox="1"/>
          <p:nvPr/>
        </p:nvSpPr>
        <p:spPr>
          <a:xfrm>
            <a:off x="796477" y="1225550"/>
            <a:ext cx="2000251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533"/>
              </a:lnSpc>
              <a:defRPr sz="1900" spc="98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67"/>
              <a:t>项目上线时间 </a:t>
            </a:r>
          </a:p>
          <a:p>
            <a:pPr algn="ctr">
              <a:lnSpc>
                <a:spcPts val="1533"/>
              </a:lnSpc>
              <a:defRPr sz="1900" spc="98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67"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rPr>
              <a:t>全年，大事件时间Q4</a:t>
            </a:r>
          </a:p>
        </p:txBody>
      </p:sp>
      <p:sp>
        <p:nvSpPr>
          <p:cNvPr id="5323" name="WOW"/>
          <p:cNvSpPr txBox="1"/>
          <p:nvPr/>
        </p:nvSpPr>
        <p:spPr>
          <a:xfrm>
            <a:off x="3168650" y="1316218"/>
            <a:ext cx="8312150" cy="212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667"/>
              </a:lnSpc>
              <a:defRPr sz="21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400"/>
              <a:t>提供极具向往感的“车轮上的全套解决方案”，从城市近郊到野外，打开每一程都很WOW的车生活想象</a:t>
            </a:r>
          </a:p>
        </p:txBody>
      </p:sp>
      <p:sp>
        <p:nvSpPr>
          <p:cNvPr id="5324" name="default_name"/>
          <p:cNvSpPr txBox="1"/>
          <p:nvPr/>
        </p:nvSpPr>
        <p:spPr>
          <a:xfrm>
            <a:off x="2794000" y="1851173"/>
            <a:ext cx="2518023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全年路线·持续共创</a:t>
            </a:r>
          </a:p>
        </p:txBody>
      </p:sp>
      <p:sp>
        <p:nvSpPr>
          <p:cNvPr id="5325" name="default_name"/>
          <p:cNvSpPr txBox="1"/>
          <p:nvPr/>
        </p:nvSpPr>
        <p:spPr>
          <a:xfrm>
            <a:off x="8655050" y="1851173"/>
            <a:ext cx="2356041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年度车圈·大事件</a:t>
            </a:r>
          </a:p>
        </p:txBody>
      </p:sp>
      <p:sp>
        <p:nvSpPr>
          <p:cNvPr id="5326" name="name_6N"/>
          <p:cNvSpPr txBox="1"/>
          <p:nvPr/>
        </p:nvSpPr>
        <p:spPr>
          <a:xfrm>
            <a:off x="5054600" y="2385025"/>
            <a:ext cx="2533650" cy="32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333"/>
              </a:lnSpc>
              <a:defRPr sz="16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67"/>
              <a:t>构建6+N条路线</a:t>
            </a:r>
          </a:p>
          <a:p>
            <a:pPr algn="ctr">
              <a:lnSpc>
                <a:spcPts val="1333"/>
              </a:lnSpc>
              <a:defRPr sz="16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67"/>
              <a:t>书写在路上的情绪故事</a:t>
            </a:r>
          </a:p>
        </p:txBody>
      </p:sp>
      <p:sp>
        <p:nvSpPr>
          <p:cNvPr id="5327" name="name_1"/>
          <p:cNvSpPr txBox="1"/>
          <p:nvPr/>
        </p:nvSpPr>
        <p:spPr>
          <a:xfrm>
            <a:off x="946150" y="2624799"/>
            <a:ext cx="17018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 dirty="0">
                <a:latin typeface="FZVariable-LanTingHeiK Regular" panose="02000600000000000000" pitchFamily="2" charset="-122"/>
                <a:ea typeface="FZVariable-LanTingHeiK Regular" panose="02000600000000000000" pitchFamily="2" charset="-122"/>
              </a:rPr>
              <a:t>1个官方对话阵地</a:t>
            </a:r>
          </a:p>
          <a:p>
            <a:pPr algn="ct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 dirty="0">
                <a:solidFill>
                  <a:srgbClr val="191919"/>
                </a:solidFill>
              </a:rPr>
              <a:t>「</a:t>
            </a:r>
            <a:r>
              <a:rPr sz="1200" dirty="0" err="1">
                <a:solidFill>
                  <a:srgbClr val="191919"/>
                </a:solidFill>
              </a:rPr>
              <a:t>路书薯官号</a:t>
            </a:r>
            <a:r>
              <a:rPr sz="1200" dirty="0">
                <a:solidFill>
                  <a:srgbClr val="191919"/>
                </a:solidFill>
              </a:rPr>
              <a:t>」</a:t>
            </a:r>
          </a:p>
        </p:txBody>
      </p:sp>
      <p:sp>
        <p:nvSpPr>
          <p:cNvPr id="5328" name="name_1"/>
          <p:cNvSpPr txBox="1"/>
          <p:nvPr/>
        </p:nvSpPr>
        <p:spPr>
          <a:xfrm>
            <a:off x="946150" y="3386799"/>
            <a:ext cx="17018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 dirty="0">
                <a:latin typeface="FZVariable-LanTingHeiK Regular" panose="02000600000000000000" pitchFamily="2" charset="-122"/>
                <a:ea typeface="FZVariable-LanTingHeiK Regular" panose="02000600000000000000" pitchFamily="2" charset="-122"/>
              </a:rPr>
              <a:t>1个内容共创中心</a:t>
            </a:r>
          </a:p>
          <a:p>
            <a:pPr algn="ct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 dirty="0">
                <a:solidFill>
                  <a:srgbClr val="191919"/>
                </a:solidFill>
              </a:rPr>
              <a:t>「</a:t>
            </a:r>
            <a:r>
              <a:rPr sz="1200" dirty="0" err="1">
                <a:solidFill>
                  <a:srgbClr val="191919"/>
                </a:solidFill>
              </a:rPr>
              <a:t>自驾探索编辑部</a:t>
            </a:r>
            <a:r>
              <a:rPr sz="1200" dirty="0">
                <a:solidFill>
                  <a:srgbClr val="191919"/>
                </a:solidFill>
              </a:rPr>
              <a:t>」</a:t>
            </a:r>
          </a:p>
        </p:txBody>
      </p:sp>
      <p:sp>
        <p:nvSpPr>
          <p:cNvPr id="5329" name="name_30"/>
          <p:cNvSpPr txBox="1"/>
          <p:nvPr/>
        </p:nvSpPr>
        <p:spPr>
          <a:xfrm>
            <a:off x="946150" y="4148799"/>
            <a:ext cx="17018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 dirty="0">
                <a:latin typeface="FZVariable-LanTingHeiK Regular" panose="02000600000000000000" pitchFamily="2" charset="-122"/>
                <a:ea typeface="FZVariable-LanTingHeiK Regular" panose="02000600000000000000" pitchFamily="2" charset="-122"/>
              </a:rPr>
              <a:t>30+本地文旅背书</a:t>
            </a:r>
          </a:p>
          <a:p>
            <a:pPr algn="ctr">
              <a:lnSpc>
                <a:spcPts val="1400"/>
              </a:lnSpc>
              <a:defRPr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 dirty="0">
                <a:solidFill>
                  <a:srgbClr val="191919"/>
                </a:solidFill>
              </a:rPr>
              <a:t>「</a:t>
            </a:r>
            <a:r>
              <a:rPr sz="1200" dirty="0" err="1">
                <a:solidFill>
                  <a:srgbClr val="191919"/>
                </a:solidFill>
              </a:rPr>
              <a:t>在地主理人</a:t>
            </a:r>
            <a:r>
              <a:rPr sz="1200" dirty="0">
                <a:solidFill>
                  <a:srgbClr val="191919"/>
                </a:solidFill>
              </a:rPr>
              <a:t>」</a:t>
            </a:r>
          </a:p>
        </p:txBody>
      </p:sp>
      <p:sp>
        <p:nvSpPr>
          <p:cNvPr id="5330" name="name_6tvc  N"/>
          <p:cNvSpPr txBox="1"/>
          <p:nvPr/>
        </p:nvSpPr>
        <p:spPr>
          <a:xfrm>
            <a:off x="5054600" y="2849662"/>
            <a:ext cx="253365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6大官方热点路线tvc &amp; N个品牌自驾范本</a:t>
            </a:r>
          </a:p>
          <a:p>
            <a:pPr algn="ctr"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人感路书独特呈现</a:t>
            </a:r>
          </a:p>
        </p:txBody>
      </p:sp>
      <p:sp>
        <p:nvSpPr>
          <p:cNvPr id="5331" name="Text 12"/>
          <p:cNvSpPr txBox="1"/>
          <p:nvPr/>
        </p:nvSpPr>
        <p:spPr>
          <a:xfrm>
            <a:off x="2800350" y="2646462"/>
            <a:ext cx="126365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内容运营，激活互动</a:t>
            </a:r>
          </a:p>
          <a:p>
            <a:pPr>
              <a:lnSpc>
                <a:spcPts val="12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社群沉淀，私域转化</a:t>
            </a:r>
          </a:p>
        </p:txBody>
      </p:sp>
      <p:sp>
        <p:nvSpPr>
          <p:cNvPr id="5332" name="KOL"/>
          <p:cNvSpPr txBox="1"/>
          <p:nvPr/>
        </p:nvSpPr>
        <p:spPr>
          <a:xfrm>
            <a:off x="2800350" y="3342899"/>
            <a:ext cx="1263650" cy="438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000"/>
              <a:t>KOL路线主理人天团长期深度内容策划</a:t>
            </a:r>
          </a:p>
        </p:txBody>
      </p:sp>
      <p:sp>
        <p:nvSpPr>
          <p:cNvPr id="5333" name="Text 14"/>
          <p:cNvSpPr txBox="1"/>
          <p:nvPr/>
        </p:nvSpPr>
        <p:spPr>
          <a:xfrm>
            <a:off x="2800350" y="4170462"/>
            <a:ext cx="139065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2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稀缺秘境资源支持</a:t>
            </a:r>
          </a:p>
          <a:p>
            <a:pPr>
              <a:lnSpc>
                <a:spcPts val="12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解锁更地道的自驾体验</a:t>
            </a:r>
          </a:p>
        </p:txBody>
      </p:sp>
      <p:sp>
        <p:nvSpPr>
          <p:cNvPr id="5334" name="WOWLAND"/>
          <p:cNvSpPr txBox="1"/>
          <p:nvPr/>
        </p:nvSpPr>
        <p:spPr>
          <a:xfrm>
            <a:off x="8553450" y="2385025"/>
            <a:ext cx="2533650" cy="32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333"/>
              </a:lnSpc>
              <a:defRPr sz="16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67"/>
              <a:t>WOWLAND线下玩车乐园</a:t>
            </a:r>
          </a:p>
          <a:p>
            <a:pPr algn="ctr">
              <a:lnSpc>
                <a:spcPts val="1333"/>
              </a:lnSpc>
              <a:defRPr sz="16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67"/>
              <a:t>沉浸式体验向往的车生活</a:t>
            </a:r>
          </a:p>
        </p:txBody>
      </p:sp>
      <p:sp>
        <p:nvSpPr>
          <p:cNvPr id="5335" name="WOWLAND"/>
          <p:cNvSpPr txBox="1"/>
          <p:nvPr/>
        </p:nvSpPr>
        <p:spPr>
          <a:xfrm>
            <a:off x="8407400" y="2786162"/>
            <a:ext cx="282575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汽车界的火人节【WOWLAND】</a:t>
            </a:r>
          </a:p>
          <a:p>
            <a:pPr algn="ctr"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携手品牌场景，为车友打造绝佳社交场域</a:t>
            </a:r>
          </a:p>
        </p:txBody>
      </p:sp>
      <p:sp>
        <p:nvSpPr>
          <p:cNvPr id="5336" name="name_200"/>
          <p:cNvSpPr txBox="1"/>
          <p:nvPr/>
        </p:nvSpPr>
        <p:spPr>
          <a:xfrm>
            <a:off x="4171950" y="5400823"/>
            <a:ext cx="39052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全国200+车聚友好门店·区域经销赋能</a:t>
            </a:r>
          </a:p>
        </p:txBody>
      </p:sp>
      <p:sp>
        <p:nvSpPr>
          <p:cNvPr id="5337" name="Text 18"/>
          <p:cNvSpPr txBox="1"/>
          <p:nvPr/>
        </p:nvSpPr>
        <p:spPr>
          <a:xfrm>
            <a:off x="3244850" y="5793631"/>
            <a:ext cx="56578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车友兴趣高浓度据点 </a:t>
            </a:r>
            <a:r>
              <a:rPr sz="1000">
                <a:solidFill>
                  <a:srgbClr val="0BB77E"/>
                </a:solidFill>
              </a:rPr>
              <a:t>｜ </a:t>
            </a:r>
            <a:r>
              <a:rPr sz="1000"/>
              <a:t>小红书公路文化枢纽 </a:t>
            </a:r>
            <a:r>
              <a:rPr sz="1000">
                <a:solidFill>
                  <a:srgbClr val="0BB77E"/>
                </a:solidFill>
              </a:rPr>
              <a:t>｜ </a:t>
            </a:r>
            <a:r>
              <a:rPr sz="1000"/>
              <a:t>品牌城市活动支持</a:t>
            </a:r>
          </a:p>
        </p:txBody>
      </p:sp>
      <p:pic>
        <p:nvPicPr>
          <p:cNvPr id="5338" name="Polygon 5" descr="Polygon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0" y="3478282"/>
            <a:ext cx="165100" cy="2476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9360AA0-A320-DEF9-8D1B-8D64338AA020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6FD317AB-1501-193D-0A87-B8280381C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2CEBD4A1-344C-D6AD-8603-FDB275F4A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65317096-5E80-4177-BF89-1D0A72301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13D1BE4C-5AAD-E4D4-3727-505C75602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24E5AAC3-CBA7-69D3-7C68-BCCBFCB3C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7F887F3F-8A5B-EDE9-2338-F3DC0807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9905298F-86D4-AE8D-70B4-95CF662CE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5818844C-B085-BF10-2AE9-9D52AA0B2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9049470A-6F24-8BC7-DFF9-14AEB7BD4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348323690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0" name="Group 189" descr="Group 1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1" name="Rectangle 43" descr="Rectangl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752600"/>
            <a:ext cx="10922000" cy="447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2" name="Intersect" descr="Interse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1752600"/>
            <a:ext cx="10922000" cy="447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3" name="Rectangle 24" descr="Rectangl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3117850"/>
            <a:ext cx="1016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4" name="Rectangle 24" descr="Rectangl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3898900"/>
            <a:ext cx="1016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5" name="Rectangle 24" descr="Rectangl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00" y="4679950"/>
            <a:ext cx="1016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6" name="Rectangle 24" descr="Rectangl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800" y="3117850"/>
            <a:ext cx="1016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7" name="Rectangle 24" descr="Rectangl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300" y="3898900"/>
            <a:ext cx="1016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8" name="Rectangle 24" descr="Rectangl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300" y="4679950"/>
            <a:ext cx="101600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9" name="Rectangle 22" descr="Rectangl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0100" y="5562600"/>
            <a:ext cx="412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0" name="Ellipse 61" descr="Ellipse 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0872" y="5679641"/>
            <a:ext cx="19051" cy="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1" name="Ellipse 62" descr="Ellips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2904" y="5679641"/>
            <a:ext cx="19051" cy="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2" name="Ellipse 63" descr="Ellipse 6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4947" y="5679641"/>
            <a:ext cx="19051" cy="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3" name="Ellipse 64" descr="Ellips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980" y="5679641"/>
            <a:ext cx="19051" cy="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4" name="Ellipse 65" descr="Ellipse 6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9023" y="5679641"/>
            <a:ext cx="19051" cy="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5" name="Ellipse 66" descr="Ellipse 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1055" y="5679641"/>
            <a:ext cx="19051" cy="19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6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30226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7" name="Rectangle 22" descr="Rectangl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150" y="3340100"/>
            <a:ext cx="6413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8" name="Rectangle 22" descr="Rectangl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6250" y="3340100"/>
            <a:ext cx="7175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9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4550" y="30226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0" name="Rectangle 22" descr="Rectangl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5800" y="3022600"/>
            <a:ext cx="730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1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2300" y="33401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2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250" y="36576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3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00" y="39751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4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9600" y="39751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5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250" y="428625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6" name="Rectangle 22" descr="Rectangl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650" y="4610100"/>
            <a:ext cx="1047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7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9950" y="365760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8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7850" y="397510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9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7750" y="493395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0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4500" y="524510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1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5550" y="428625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2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7600" y="461010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3" name="Rectangle 22" descr="Rectangl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150" y="4933950"/>
            <a:ext cx="12382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4" name="Rectangle 52" descr="Rectangle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9150" y="5994400"/>
            <a:ext cx="1606554" cy="374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5" name="Rectangle 53" descr="Rectangl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5700" y="5994400"/>
            <a:ext cx="1606554" cy="374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6" name="Rectangle 53" descr="Rectangl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02250" y="5994400"/>
            <a:ext cx="1606554" cy="374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7" name="Rectangle 53" descr="Rectangl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08800" y="5994400"/>
            <a:ext cx="1606554" cy="374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8" name="Rectangle 53" descr="Rectangl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5350" y="5994400"/>
            <a:ext cx="1606554" cy="374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79" name="Intersect" descr="Intersec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0" y="1752600"/>
            <a:ext cx="10922000" cy="450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2" name="Rectangle 56" descr="Rectangle 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6328" y="1143000"/>
            <a:ext cx="10293351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3" name="Rectangle 52" descr="Rectangle 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000" y="1143000"/>
            <a:ext cx="2197100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4" name="Ellipse 76" descr="Ellipse 7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19774" y="4741714"/>
            <a:ext cx="1972634" cy="3790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5" name="Ellipse 78" descr="Ellipse 7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51334" y="2240049"/>
            <a:ext cx="1001561" cy="13965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6" name="Ellipse 79" descr="Ellipse 7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2633" y="2216597"/>
            <a:ext cx="965204" cy="1413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7" name="Ellipse 75" descr="Ellipse 7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34533" y="2269282"/>
            <a:ext cx="2743201" cy="2717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8" name="Ellipse 77" descr="Ellipse 7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8183" y="2262932"/>
            <a:ext cx="2755901" cy="273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9" name="Ellipse 35" descr="Ellipse 3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73700" y="2997200"/>
            <a:ext cx="1263650" cy="1263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0" name="Ellipse 31" descr="Ellipse 3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44902" y="2000250"/>
            <a:ext cx="723901" cy="72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1" name="Ellipse 40" descr="Ellipse 4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44902" y="4547096"/>
            <a:ext cx="723901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2" name="Ellipse 34" descr="Ellipse 3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74843" y="3889462"/>
            <a:ext cx="723901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3" name="Ellipse 39" descr="Ellipse 3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74843" y="2717676"/>
            <a:ext cx="723901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4" name="Ellipse 33" descr="Ellips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91050" y="3889462"/>
            <a:ext cx="723900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5" name="Ellipse 38" descr="Ellipse 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91050" y="2717676"/>
            <a:ext cx="723900" cy="723901"/>
          </a:xfrm>
          <a:prstGeom prst="rect">
            <a:avLst/>
          </a:prstGeom>
          <a:ln w="12700">
            <a:miter lim="400000"/>
          </a:ln>
        </p:spPr>
      </p:pic>
      <p:sp>
        <p:nvSpPr>
          <p:cNvPr id="5396" name="default_name"/>
          <p:cNvSpPr txBox="1"/>
          <p:nvPr/>
        </p:nvSpPr>
        <p:spPr>
          <a:xfrm>
            <a:off x="8362950" y="3122926"/>
            <a:ext cx="1028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都市松弛场</a:t>
            </a:r>
          </a:p>
        </p:txBody>
      </p:sp>
      <p:sp>
        <p:nvSpPr>
          <p:cNvPr id="5397" name="Text 1"/>
          <p:cNvSpPr txBox="1"/>
          <p:nvPr/>
        </p:nvSpPr>
        <p:spPr>
          <a:xfrm>
            <a:off x="8261350" y="3315110"/>
            <a:ext cx="1238250" cy="342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早高峰飞驰  打工人自留地</a:t>
            </a:r>
          </a:p>
        </p:txBody>
      </p:sp>
      <p:sp>
        <p:nvSpPr>
          <p:cNvPr id="5398" name="default_name"/>
          <p:cNvSpPr txBox="1"/>
          <p:nvPr/>
        </p:nvSpPr>
        <p:spPr>
          <a:xfrm>
            <a:off x="8197850" y="3550896"/>
            <a:ext cx="13716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最小化疲劳驾驶/优化身体承托</a:t>
            </a:r>
          </a:p>
        </p:txBody>
      </p:sp>
      <p:sp>
        <p:nvSpPr>
          <p:cNvPr id="5399" name="default_name"/>
          <p:cNvSpPr txBox="1"/>
          <p:nvPr/>
        </p:nvSpPr>
        <p:spPr>
          <a:xfrm>
            <a:off x="8489950" y="3903976"/>
            <a:ext cx="1028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浪漫关系场</a:t>
            </a:r>
          </a:p>
        </p:txBody>
      </p:sp>
      <p:sp>
        <p:nvSpPr>
          <p:cNvPr id="5400" name="Text 4"/>
          <p:cNvSpPr txBox="1"/>
          <p:nvPr/>
        </p:nvSpPr>
        <p:spPr>
          <a:xfrm>
            <a:off x="8388350" y="4096160"/>
            <a:ext cx="1238250" cy="342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移动约会地  你一杯我一杯</a:t>
            </a:r>
          </a:p>
        </p:txBody>
      </p:sp>
      <p:sp>
        <p:nvSpPr>
          <p:cNvPr id="5401" name="default_name"/>
          <p:cNvSpPr txBox="1"/>
          <p:nvPr/>
        </p:nvSpPr>
        <p:spPr>
          <a:xfrm>
            <a:off x="8274050" y="4331946"/>
            <a:ext cx="14732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影院级影音系统/全方位隐私保护</a:t>
            </a:r>
          </a:p>
        </p:txBody>
      </p:sp>
      <p:sp>
        <p:nvSpPr>
          <p:cNvPr id="5402" name="default_name"/>
          <p:cNvSpPr txBox="1"/>
          <p:nvPr/>
        </p:nvSpPr>
        <p:spPr>
          <a:xfrm>
            <a:off x="8553450" y="4685026"/>
            <a:ext cx="1028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悦己独处场</a:t>
            </a:r>
          </a:p>
        </p:txBody>
      </p:sp>
      <p:sp>
        <p:nvSpPr>
          <p:cNvPr id="5403" name="Text 7"/>
          <p:cNvSpPr txBox="1"/>
          <p:nvPr/>
        </p:nvSpPr>
        <p:spPr>
          <a:xfrm>
            <a:off x="8502650" y="4877210"/>
            <a:ext cx="1130300" cy="342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随行美容舱  随行美容舱</a:t>
            </a:r>
          </a:p>
        </p:txBody>
      </p:sp>
      <p:sp>
        <p:nvSpPr>
          <p:cNvPr id="5404" name="default_name"/>
          <p:cNvSpPr txBox="1"/>
          <p:nvPr/>
        </p:nvSpPr>
        <p:spPr>
          <a:xfrm>
            <a:off x="8267700" y="5112996"/>
            <a:ext cx="160655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美妆冰箱/疗愈系嗅觉体验/一键躺平</a:t>
            </a:r>
          </a:p>
        </p:txBody>
      </p:sp>
      <p:sp>
        <p:nvSpPr>
          <p:cNvPr id="5405" name="default_name"/>
          <p:cNvSpPr txBox="1"/>
          <p:nvPr/>
        </p:nvSpPr>
        <p:spPr>
          <a:xfrm>
            <a:off x="10077450" y="3122926"/>
            <a:ext cx="1028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家庭乐活场</a:t>
            </a:r>
          </a:p>
        </p:txBody>
      </p:sp>
      <p:sp>
        <p:nvSpPr>
          <p:cNvPr id="5406" name="Text 10"/>
          <p:cNvSpPr txBox="1"/>
          <p:nvPr/>
        </p:nvSpPr>
        <p:spPr>
          <a:xfrm>
            <a:off x="10026650" y="3315110"/>
            <a:ext cx="1136650" cy="342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家庭采购日  接娃上下学 </a:t>
            </a:r>
          </a:p>
        </p:txBody>
      </p:sp>
      <p:sp>
        <p:nvSpPr>
          <p:cNvPr id="5407" name="default_name"/>
          <p:cNvSpPr txBox="1"/>
          <p:nvPr/>
        </p:nvSpPr>
        <p:spPr>
          <a:xfrm>
            <a:off x="9740900" y="3550896"/>
            <a:ext cx="170815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高级别安全守护/儿童专属设计/大空间</a:t>
            </a:r>
          </a:p>
        </p:txBody>
      </p:sp>
      <p:sp>
        <p:nvSpPr>
          <p:cNvPr id="5408" name="default_name"/>
          <p:cNvSpPr txBox="1"/>
          <p:nvPr/>
        </p:nvSpPr>
        <p:spPr>
          <a:xfrm>
            <a:off x="10140950" y="3903976"/>
            <a:ext cx="1028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个性表达场</a:t>
            </a:r>
          </a:p>
        </p:txBody>
      </p:sp>
      <p:sp>
        <p:nvSpPr>
          <p:cNvPr id="5409" name="Text 13"/>
          <p:cNvSpPr txBox="1"/>
          <p:nvPr/>
        </p:nvSpPr>
        <p:spPr>
          <a:xfrm>
            <a:off x="9874250" y="4096160"/>
            <a:ext cx="1568450" cy="342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合法炸街的快乐  二次元痛车巡游</a:t>
            </a:r>
          </a:p>
        </p:txBody>
      </p:sp>
      <p:sp>
        <p:nvSpPr>
          <p:cNvPr id="5410" name="default_name"/>
          <p:cNvSpPr txBox="1"/>
          <p:nvPr/>
        </p:nvSpPr>
        <p:spPr>
          <a:xfrm>
            <a:off x="9975850" y="4331946"/>
            <a:ext cx="137160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驾驶数据可视化/瞩目外观设计</a:t>
            </a:r>
          </a:p>
        </p:txBody>
      </p:sp>
      <p:sp>
        <p:nvSpPr>
          <p:cNvPr id="5411" name="default_name"/>
          <p:cNvSpPr txBox="1"/>
          <p:nvPr/>
        </p:nvSpPr>
        <p:spPr>
          <a:xfrm>
            <a:off x="10140950" y="4685026"/>
            <a:ext cx="1028700" cy="24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100"/>
              </a:lnSpc>
              <a:defRPr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200"/>
              <a:t>治愈滋养场</a:t>
            </a:r>
          </a:p>
        </p:txBody>
      </p:sp>
      <p:sp>
        <p:nvSpPr>
          <p:cNvPr id="5412" name="Text 16"/>
          <p:cNvSpPr txBox="1"/>
          <p:nvPr/>
        </p:nvSpPr>
        <p:spPr>
          <a:xfrm>
            <a:off x="9925050" y="4877210"/>
            <a:ext cx="1466850" cy="342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 spc="6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毛孩子幼儿园  爱的专属音陪伴  </a:t>
            </a:r>
          </a:p>
        </p:txBody>
      </p:sp>
      <p:sp>
        <p:nvSpPr>
          <p:cNvPr id="5413" name="default_name"/>
          <p:cNvSpPr txBox="1"/>
          <p:nvPr/>
        </p:nvSpPr>
        <p:spPr>
          <a:xfrm>
            <a:off x="9956800" y="5112996"/>
            <a:ext cx="1403350" cy="16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800"/>
              <a:t>爱宠模式/空气监测/能量补给站</a:t>
            </a:r>
          </a:p>
        </p:txBody>
      </p:sp>
      <p:sp>
        <p:nvSpPr>
          <p:cNvPr id="5414" name="Text 18"/>
          <p:cNvSpPr txBox="1"/>
          <p:nvPr/>
        </p:nvSpPr>
        <p:spPr>
          <a:xfrm>
            <a:off x="1098550" y="30726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191919"/>
                </a:solidFill>
              </a:rPr>
              <a:t>沉浸式开车</a:t>
            </a:r>
          </a:p>
        </p:txBody>
      </p:sp>
      <p:sp>
        <p:nvSpPr>
          <p:cNvPr id="5415" name="default_name"/>
          <p:cNvSpPr txBox="1"/>
          <p:nvPr/>
        </p:nvSpPr>
        <p:spPr>
          <a:xfrm>
            <a:off x="1263650" y="3390156"/>
            <a:ext cx="5143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</a:t>
            </a:r>
            <a:r>
              <a:rPr sz="1000">
                <a:solidFill>
                  <a:srgbClr val="191919"/>
                </a:solidFill>
              </a:rPr>
              <a:t>痛车</a:t>
            </a:r>
          </a:p>
        </p:txBody>
      </p:sp>
      <p:sp>
        <p:nvSpPr>
          <p:cNvPr id="5416" name="Text 20"/>
          <p:cNvSpPr txBox="1"/>
          <p:nvPr/>
        </p:nvSpPr>
        <p:spPr>
          <a:xfrm>
            <a:off x="3086100" y="3390156"/>
            <a:ext cx="5778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191919"/>
                </a:solidFill>
              </a:rPr>
              <a:t>买菜车 </a:t>
            </a:r>
          </a:p>
        </p:txBody>
      </p:sp>
      <p:sp>
        <p:nvSpPr>
          <p:cNvPr id="5417" name="Text 21"/>
          <p:cNvSpPr txBox="1"/>
          <p:nvPr/>
        </p:nvSpPr>
        <p:spPr>
          <a:xfrm>
            <a:off x="2222500" y="30726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副驾驶视角</a:t>
            </a:r>
          </a:p>
        </p:txBody>
      </p:sp>
      <p:sp>
        <p:nvSpPr>
          <p:cNvPr id="5418" name="Text 22"/>
          <p:cNvSpPr txBox="1"/>
          <p:nvPr/>
        </p:nvSpPr>
        <p:spPr>
          <a:xfrm>
            <a:off x="3289300" y="3072656"/>
            <a:ext cx="60325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奶爸车</a:t>
            </a:r>
          </a:p>
        </p:txBody>
      </p:sp>
      <p:sp>
        <p:nvSpPr>
          <p:cNvPr id="5419" name="Text 23"/>
          <p:cNvSpPr txBox="1"/>
          <p:nvPr/>
        </p:nvSpPr>
        <p:spPr>
          <a:xfrm>
            <a:off x="2000250" y="33901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汽车彩绘</a:t>
            </a:r>
          </a:p>
        </p:txBody>
      </p:sp>
      <p:sp>
        <p:nvSpPr>
          <p:cNvPr id="5420" name="Text 24"/>
          <p:cNvSpPr txBox="1"/>
          <p:nvPr/>
        </p:nvSpPr>
        <p:spPr>
          <a:xfrm>
            <a:off x="1092200" y="37076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汽车氛围感</a:t>
            </a:r>
          </a:p>
        </p:txBody>
      </p:sp>
      <p:sp>
        <p:nvSpPr>
          <p:cNvPr id="5421" name="Text 25"/>
          <p:cNvSpPr txBox="1"/>
          <p:nvPr/>
        </p:nvSpPr>
        <p:spPr>
          <a:xfrm>
            <a:off x="844550" y="40251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带着狗狗去</a:t>
            </a:r>
          </a:p>
        </p:txBody>
      </p:sp>
      <p:sp>
        <p:nvSpPr>
          <p:cNvPr id="5422" name="Text 26"/>
          <p:cNvSpPr txBox="1"/>
          <p:nvPr/>
        </p:nvSpPr>
        <p:spPr>
          <a:xfrm>
            <a:off x="3257550" y="40251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后备箱惊喜</a:t>
            </a:r>
          </a:p>
        </p:txBody>
      </p:sp>
      <p:sp>
        <p:nvSpPr>
          <p:cNvPr id="5423" name="Text 27"/>
          <p:cNvSpPr txBox="1"/>
          <p:nvPr/>
        </p:nvSpPr>
        <p:spPr>
          <a:xfrm>
            <a:off x="1473200" y="433630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191919"/>
                </a:solidFill>
              </a:rPr>
              <a:t>带宝宝出行 </a:t>
            </a:r>
          </a:p>
        </p:txBody>
      </p:sp>
      <p:sp>
        <p:nvSpPr>
          <p:cNvPr id="5424" name="Text 28"/>
          <p:cNvSpPr txBox="1"/>
          <p:nvPr/>
        </p:nvSpPr>
        <p:spPr>
          <a:xfrm>
            <a:off x="1371600" y="4660156"/>
            <a:ext cx="8359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191919"/>
                </a:solidFill>
              </a:rPr>
              <a:t>车内有宝宝</a:t>
            </a:r>
          </a:p>
        </p:txBody>
      </p:sp>
      <p:sp>
        <p:nvSpPr>
          <p:cNvPr id="5425" name="Text 29"/>
          <p:cNvSpPr txBox="1"/>
          <p:nvPr/>
        </p:nvSpPr>
        <p:spPr>
          <a:xfrm>
            <a:off x="2247900" y="370765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车内躺平计划 </a:t>
            </a:r>
          </a:p>
        </p:txBody>
      </p:sp>
      <p:sp>
        <p:nvSpPr>
          <p:cNvPr id="5426" name="Text 30"/>
          <p:cNvSpPr txBox="1"/>
          <p:nvPr/>
        </p:nvSpPr>
        <p:spPr>
          <a:xfrm>
            <a:off x="1955800" y="402515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上班路上不无聊</a:t>
            </a:r>
          </a:p>
        </p:txBody>
      </p:sp>
      <p:sp>
        <p:nvSpPr>
          <p:cNvPr id="5427" name="Text 31"/>
          <p:cNvSpPr txBox="1"/>
          <p:nvPr/>
        </p:nvSpPr>
        <p:spPr>
          <a:xfrm>
            <a:off x="2425700" y="498400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车里随地大小班</a:t>
            </a:r>
          </a:p>
        </p:txBody>
      </p:sp>
      <p:sp>
        <p:nvSpPr>
          <p:cNvPr id="5428" name="Text 32"/>
          <p:cNvSpPr txBox="1"/>
          <p:nvPr/>
        </p:nvSpPr>
        <p:spPr>
          <a:xfrm>
            <a:off x="1822450" y="529515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后备箱里的世界</a:t>
            </a:r>
          </a:p>
        </p:txBody>
      </p:sp>
      <p:sp>
        <p:nvSpPr>
          <p:cNvPr id="5429" name="Text 33"/>
          <p:cNvSpPr txBox="1"/>
          <p:nvPr/>
        </p:nvSpPr>
        <p:spPr>
          <a:xfrm>
            <a:off x="2603500" y="433630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女生车里有什么</a:t>
            </a:r>
          </a:p>
        </p:txBody>
      </p:sp>
      <p:sp>
        <p:nvSpPr>
          <p:cNvPr id="5430" name="Text 34"/>
          <p:cNvSpPr txBox="1"/>
          <p:nvPr/>
        </p:nvSpPr>
        <p:spPr>
          <a:xfrm>
            <a:off x="2495550" y="466015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自驾带猫回家</a:t>
            </a:r>
          </a:p>
        </p:txBody>
      </p:sp>
      <p:sp>
        <p:nvSpPr>
          <p:cNvPr id="5431" name="Text 35"/>
          <p:cNvSpPr txBox="1"/>
          <p:nvPr/>
        </p:nvSpPr>
        <p:spPr>
          <a:xfrm>
            <a:off x="1054100" y="4984006"/>
            <a:ext cx="1026432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000"/>
              <a:t># </a:t>
            </a:r>
            <a:r>
              <a:rPr sz="1000">
                <a:solidFill>
                  <a:srgbClr val="333333"/>
                </a:solidFill>
              </a:rPr>
              <a:t>坐车要有仪式感</a:t>
            </a:r>
          </a:p>
        </p:txBody>
      </p:sp>
      <p:sp>
        <p:nvSpPr>
          <p:cNvPr id="5432" name="default_name"/>
          <p:cNvSpPr txBox="1"/>
          <p:nvPr/>
        </p:nvSpPr>
        <p:spPr>
          <a:xfrm>
            <a:off x="2489199" y="6096000"/>
            <a:ext cx="808076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同城车友召集</a:t>
            </a:r>
          </a:p>
        </p:txBody>
      </p:sp>
      <p:sp>
        <p:nvSpPr>
          <p:cNvPr id="5433" name="default_name"/>
          <p:cNvSpPr txBox="1"/>
          <p:nvPr/>
        </p:nvSpPr>
        <p:spPr>
          <a:xfrm>
            <a:off x="4095749" y="6077690"/>
            <a:ext cx="808076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城市路线定制</a:t>
            </a:r>
          </a:p>
        </p:txBody>
      </p:sp>
      <p:sp>
        <p:nvSpPr>
          <p:cNvPr id="5434" name="default_name"/>
          <p:cNvSpPr txBox="1"/>
          <p:nvPr/>
        </p:nvSpPr>
        <p:spPr>
          <a:xfrm>
            <a:off x="5702299" y="6077691"/>
            <a:ext cx="808076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pPr hangingPunct="1"/>
            <a:r>
              <a:rPr lang="zh-CN" altLang="zh-CN" sz="1000" dirty="0"/>
              <a:t>当城活动打卡</a:t>
            </a:r>
          </a:p>
        </p:txBody>
      </p:sp>
      <p:sp>
        <p:nvSpPr>
          <p:cNvPr id="5435" name="default_name"/>
          <p:cNvSpPr txBox="1"/>
          <p:nvPr/>
        </p:nvSpPr>
        <p:spPr>
          <a:xfrm>
            <a:off x="7308849" y="6077690"/>
            <a:ext cx="808076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lang="zh-CN" altLang="en-US" sz="1000" dirty="0"/>
              <a:t>品牌站点补给</a:t>
            </a:r>
          </a:p>
        </p:txBody>
      </p:sp>
      <p:sp>
        <p:nvSpPr>
          <p:cNvPr id="5436" name="default_name"/>
          <p:cNvSpPr txBox="1"/>
          <p:nvPr/>
        </p:nvSpPr>
        <p:spPr>
          <a:xfrm>
            <a:off x="8915399" y="6077690"/>
            <a:ext cx="808076" cy="208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sz="15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000"/>
              <a:t>专属座驾体验</a:t>
            </a:r>
          </a:p>
        </p:txBody>
      </p:sp>
      <p:sp>
        <p:nvSpPr>
          <p:cNvPr id="5437" name="City"/>
          <p:cNvSpPr txBox="1"/>
          <p:nvPr/>
        </p:nvSpPr>
        <p:spPr>
          <a:xfrm>
            <a:off x="1624540" y="1814135"/>
            <a:ext cx="1651001" cy="334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2667"/>
              </a:lnSpc>
              <a:defRPr sz="3300" spc="169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133" dirty="0" err="1"/>
              <a:t>生活半径</a:t>
            </a:r>
            <a:r>
              <a:rPr sz="2133" dirty="0"/>
              <a:t>+</a:t>
            </a:r>
          </a:p>
        </p:txBody>
      </p:sp>
      <p:sp>
        <p:nvSpPr>
          <p:cNvPr id="5438" name="Citydrive"/>
          <p:cNvSpPr txBox="1"/>
          <p:nvPr/>
        </p:nvSpPr>
        <p:spPr>
          <a:xfrm>
            <a:off x="5276850" y="544942"/>
            <a:ext cx="1638300" cy="5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800"/>
              </a:lnSpc>
              <a:defRPr sz="4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2667" dirty="0" err="1"/>
              <a:t>一刻半径</a:t>
            </a:r>
            <a:endParaRPr sz="2667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B402CB-22E1-5550-52CF-1807C5E6C8C3}"/>
              </a:ext>
            </a:extLst>
          </p:cNvPr>
          <p:cNvGrpSpPr/>
          <p:nvPr/>
        </p:nvGrpSpPr>
        <p:grpSpPr>
          <a:xfrm>
            <a:off x="315420" y="286491"/>
            <a:ext cx="1976237" cy="443020"/>
            <a:chOff x="473129" y="429735"/>
            <a:chExt cx="2964355" cy="664530"/>
          </a:xfrm>
        </p:grpSpPr>
        <p:pic>
          <p:nvPicPr>
            <p:cNvPr id="5381" name="Line 18" descr="Line 18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73129" y="599739"/>
              <a:ext cx="2511136" cy="29434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439" name="default_name"/>
            <p:cNvSpPr txBox="1"/>
            <p:nvPr/>
          </p:nvSpPr>
          <p:spPr>
            <a:xfrm>
              <a:off x="475208" y="429735"/>
              <a:ext cx="2266951" cy="3121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ts val="1800"/>
                </a:lnSpc>
                <a:defRPr sz="1500" spc="300">
                  <a:solidFill>
                    <a:srgbClr val="1A1A1A"/>
                  </a:solidFill>
                  <a:latin typeface="FZVariable-LanTingHeiK Regular"/>
                  <a:ea typeface="FZVariable-LanTingHeiK Regular"/>
                  <a:cs typeface="FZVariable-LanTingHeiK Regular"/>
                  <a:sym typeface="FZVariable-LanTingHeiK Regular"/>
                </a:defRPr>
              </a:lvl1pPr>
            </a:lstStyle>
            <a:p>
              <a:r>
                <a:rPr sz="1000" dirty="0" err="1"/>
                <a:t>行业解决方案</a:t>
              </a:r>
              <a:endParaRPr sz="1000" dirty="0"/>
            </a:p>
          </p:txBody>
        </p:sp>
        <p:sp>
          <p:nvSpPr>
            <p:cNvPr id="5440" name="default_name"/>
            <p:cNvSpPr txBox="1"/>
            <p:nvPr/>
          </p:nvSpPr>
          <p:spPr>
            <a:xfrm>
              <a:off x="1665833" y="782160"/>
              <a:ext cx="1771651" cy="3121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ts val="1800"/>
                </a:lnSpc>
                <a:defRPr sz="1500" spc="300">
                  <a:solidFill>
                    <a:srgbClr val="0BB77E"/>
                  </a:solidFill>
                  <a:latin typeface="FZVariable-LanTingHeiK Regular"/>
                  <a:ea typeface="FZVariable-LanTingHeiK Regular"/>
                  <a:cs typeface="FZVariable-LanTingHeiK Regular"/>
                  <a:sym typeface="FZVariable-LanTingHeiK Regular"/>
                </a:defRPr>
              </a:lvl1pPr>
            </a:lstStyle>
            <a:p>
              <a:r>
                <a:rPr sz="1000" dirty="0" err="1"/>
                <a:t>交通出行行业</a:t>
              </a:r>
              <a:endParaRPr sz="1000" dirty="0"/>
            </a:p>
          </p:txBody>
        </p:sp>
      </p:grpSp>
      <p:sp>
        <p:nvSpPr>
          <p:cNvPr id="5441" name="Text 46"/>
          <p:cNvSpPr txBox="1"/>
          <p:nvPr/>
        </p:nvSpPr>
        <p:spPr>
          <a:xfrm>
            <a:off x="863600" y="1246722"/>
            <a:ext cx="1720850" cy="22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2200" spc="113">
                <a:solidFill>
                  <a:srgbClr val="FFFFFF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467"/>
              <a:t>项目上线时间  </a:t>
            </a:r>
            <a:r>
              <a:rPr sz="1467"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rPr>
              <a:t>全年</a:t>
            </a:r>
          </a:p>
        </p:txBody>
      </p:sp>
      <p:sp>
        <p:nvSpPr>
          <p:cNvPr id="5442" name="name_3"/>
          <p:cNvSpPr txBox="1"/>
          <p:nvPr/>
        </p:nvSpPr>
        <p:spPr>
          <a:xfrm>
            <a:off x="2851150" y="1197091"/>
            <a:ext cx="8693150" cy="310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1467"/>
              <a:t>深耕城市内出行场景，覆盖高频生活半径，打开最后3公里的出行想象，为品牌注入生活方式魅力</a:t>
            </a:r>
          </a:p>
        </p:txBody>
      </p:sp>
      <p:sp>
        <p:nvSpPr>
          <p:cNvPr id="5443" name="Text 48"/>
          <p:cNvSpPr txBox="1"/>
          <p:nvPr/>
        </p:nvSpPr>
        <p:spPr>
          <a:xfrm rot="21588488">
            <a:off x="5727809" y="3344471"/>
            <a:ext cx="747277" cy="633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533"/>
              </a:lnSpc>
              <a:defRPr sz="31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067"/>
              <a:t>城市</a:t>
            </a:r>
          </a:p>
          <a:p>
            <a:pPr algn="ctr">
              <a:lnSpc>
                <a:spcPts val="2533"/>
              </a:lnSpc>
              <a:defRPr sz="31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067"/>
              <a:t>人群</a:t>
            </a:r>
          </a:p>
        </p:txBody>
      </p:sp>
      <p:sp>
        <p:nvSpPr>
          <p:cNvPr id="5444" name="Text 49"/>
          <p:cNvSpPr txBox="1"/>
          <p:nvPr/>
        </p:nvSpPr>
        <p:spPr>
          <a:xfrm>
            <a:off x="5651500" y="2185839"/>
            <a:ext cx="9144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亲子</a:t>
            </a:r>
          </a:p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家庭</a:t>
            </a:r>
          </a:p>
        </p:txBody>
      </p:sp>
      <p:sp>
        <p:nvSpPr>
          <p:cNvPr id="5445" name="Text 50"/>
          <p:cNvSpPr txBox="1"/>
          <p:nvPr/>
        </p:nvSpPr>
        <p:spPr>
          <a:xfrm>
            <a:off x="5651500" y="4732189"/>
            <a:ext cx="9144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社交</a:t>
            </a:r>
          </a:p>
          <a:p>
            <a:pPr algn="ctr">
              <a:lnSpc>
                <a:spcPts val="14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男女</a:t>
            </a:r>
          </a:p>
        </p:txBody>
      </p:sp>
      <p:sp>
        <p:nvSpPr>
          <p:cNvPr id="5446" name="Text 51"/>
          <p:cNvSpPr txBox="1"/>
          <p:nvPr/>
        </p:nvSpPr>
        <p:spPr>
          <a:xfrm>
            <a:off x="6864350" y="4074964"/>
            <a:ext cx="7493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精致</a:t>
            </a:r>
          </a:p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女性</a:t>
            </a:r>
          </a:p>
        </p:txBody>
      </p:sp>
      <p:sp>
        <p:nvSpPr>
          <p:cNvPr id="5447" name="Text 52"/>
          <p:cNvSpPr txBox="1"/>
          <p:nvPr/>
        </p:nvSpPr>
        <p:spPr>
          <a:xfrm>
            <a:off x="6870700" y="2903389"/>
            <a:ext cx="73660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爱宠</a:t>
            </a:r>
          </a:p>
          <a:p>
            <a:pPr algn="ctr">
              <a:lnSpc>
                <a:spcPts val="14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青年</a:t>
            </a:r>
          </a:p>
        </p:txBody>
      </p:sp>
      <p:sp>
        <p:nvSpPr>
          <p:cNvPr id="5448" name="Text 53"/>
          <p:cNvSpPr txBox="1"/>
          <p:nvPr/>
        </p:nvSpPr>
        <p:spPr>
          <a:xfrm>
            <a:off x="4591050" y="4074964"/>
            <a:ext cx="730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次元</a:t>
            </a:r>
          </a:p>
          <a:p>
            <a:pPr algn="ctr">
              <a:lnSpc>
                <a:spcPts val="1400"/>
              </a:lnSpc>
              <a:defRPr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乐活</a:t>
            </a:r>
          </a:p>
        </p:txBody>
      </p:sp>
      <p:sp>
        <p:nvSpPr>
          <p:cNvPr id="5449" name="Text 54"/>
          <p:cNvSpPr txBox="1"/>
          <p:nvPr/>
        </p:nvSpPr>
        <p:spPr>
          <a:xfrm>
            <a:off x="4591050" y="2903389"/>
            <a:ext cx="730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职场</a:t>
            </a:r>
          </a:p>
          <a:p>
            <a:pPr algn="ctr">
              <a:lnSpc>
                <a:spcPts val="1400"/>
              </a:lnSpc>
              <a:defRPr>
                <a:solidFill>
                  <a:srgbClr val="424242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奋斗</a:t>
            </a:r>
          </a:p>
        </p:txBody>
      </p:sp>
      <p:sp>
        <p:nvSpPr>
          <p:cNvPr id="5450" name="name_6"/>
          <p:cNvSpPr txBox="1"/>
          <p:nvPr/>
        </p:nvSpPr>
        <p:spPr>
          <a:xfrm>
            <a:off x="4400550" y="5376714"/>
            <a:ext cx="3397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聚焦6大都市人群</a:t>
            </a:r>
          </a:p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00"/>
              <a:t>洞察出行场景和情绪诉求</a:t>
            </a:r>
          </a:p>
        </p:txBody>
      </p:sp>
      <p:sp>
        <p:nvSpPr>
          <p:cNvPr id="5451" name="city"/>
          <p:cNvSpPr txBox="1"/>
          <p:nvPr/>
        </p:nvSpPr>
        <p:spPr>
          <a:xfrm>
            <a:off x="787400" y="2430314"/>
            <a:ext cx="3143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在小红书上，city+的城市出行生活精彩纷呈</a:t>
            </a:r>
          </a:p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>
                <a:solidFill>
                  <a:srgbClr val="0BB77E"/>
                </a:solidFill>
              </a:rPr>
              <a:t>日常穿梭于通勤、家庭与个人生活</a:t>
            </a:r>
          </a:p>
        </p:txBody>
      </p:sp>
      <p:sp>
        <p:nvSpPr>
          <p:cNvPr id="5452" name="default_name"/>
          <p:cNvSpPr txBox="1"/>
          <p:nvPr/>
        </p:nvSpPr>
        <p:spPr>
          <a:xfrm>
            <a:off x="8610600" y="2417614"/>
            <a:ext cx="2635250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400"/>
              </a:lnSpc>
              <a:defRPr>
                <a:solidFill>
                  <a:srgbClr val="333333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00"/>
              <a:t>以</a:t>
            </a:r>
            <a:r>
              <a:rPr sz="1200">
                <a:solidFill>
                  <a:srgbClr val="0BB77E"/>
                </a:solidFill>
              </a:rPr>
              <a:t>「情绪共鸣+兴趣场景+解决方案」</a:t>
            </a:r>
            <a:r>
              <a:rPr sz="1200"/>
              <a:t>激活品牌增长新引擎</a:t>
            </a:r>
          </a:p>
        </p:txBody>
      </p:sp>
      <p:sp>
        <p:nvSpPr>
          <p:cNvPr id="5453" name="City"/>
          <p:cNvSpPr txBox="1"/>
          <p:nvPr/>
        </p:nvSpPr>
        <p:spPr>
          <a:xfrm>
            <a:off x="9069917" y="1751618"/>
            <a:ext cx="1651000" cy="45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lnSpc>
                <a:spcPts val="4000"/>
              </a:lnSpc>
              <a:defRPr sz="3200" spc="169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</a:defRPr>
            </a:lvl1pPr>
          </a:lstStyle>
          <a:p>
            <a:r>
              <a:rPr sz="2133" dirty="0" err="1"/>
              <a:t>驾驶</a:t>
            </a:r>
            <a:r>
              <a:rPr sz="2133" dirty="0"/>
              <a:t>+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9307058-F660-60A5-41B2-13517F6A474E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4" name="Vector" descr="Vector">
              <a:extLst>
                <a:ext uri="{FF2B5EF4-FFF2-40B4-BE49-F238E27FC236}">
                  <a16:creationId xmlns:a16="http://schemas.microsoft.com/office/drawing/2014/main" id="{FC38CE7E-6793-2D37-FDA4-F7375C889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Vector" descr="Vector">
              <a:extLst>
                <a:ext uri="{FF2B5EF4-FFF2-40B4-BE49-F238E27FC236}">
                  <a16:creationId xmlns:a16="http://schemas.microsoft.com/office/drawing/2014/main" id="{13FA27F0-4445-8EE0-84A1-490E02BFC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Vector" descr="Vector">
              <a:extLst>
                <a:ext uri="{FF2B5EF4-FFF2-40B4-BE49-F238E27FC236}">
                  <a16:creationId xmlns:a16="http://schemas.microsoft.com/office/drawing/2014/main" id="{1A509A45-3091-AFFF-C687-FA4FA8454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743E3DC6-D2CC-8D5A-C606-F2EF3777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6B113631-AA30-9CCC-477A-E68090E1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7106E8F2-FE25-CD08-7064-390F1F2A1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BFAAA282-648E-1E21-9450-A6293CA09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199DED1F-16FA-AA64-54D5-F56FC5F43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2" name="Vector" descr="Vector">
              <a:extLst>
                <a:ext uri="{FF2B5EF4-FFF2-40B4-BE49-F238E27FC236}">
                  <a16:creationId xmlns:a16="http://schemas.microsoft.com/office/drawing/2014/main" id="{81E536DA-3437-C09D-34C0-BDE9CB0E6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49780422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5" name="Group 189" descr="Group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8" name="Rectangle 205" descr="Rectangle 2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50" y="2482850"/>
            <a:ext cx="2762250" cy="3994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9" name="Rectangle 207" descr="Rectangle 2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0" y="2482850"/>
            <a:ext cx="2762250" cy="3994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0" name="Rectangle 209" descr="Rectangle 2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2482850"/>
            <a:ext cx="2762250" cy="3994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1" name="Rectangle 206" descr="Rectangle 2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2114550"/>
            <a:ext cx="233045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2" name="Rectangle 208" descr="Rectangle 2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2114550"/>
            <a:ext cx="23368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3" name="Rectangle 210" descr="Rectangle 2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350" y="2114550"/>
            <a:ext cx="23368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4" name="Line 16" descr="Lin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896" y="1928665"/>
            <a:ext cx="8366129" cy="140283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5" name="Ellipse 40" descr="Ellips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550" y="19685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6" name="Ellipse 41" descr="Ellips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19685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7" name="Ellipse 39" descr="Ellips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2100" y="1968500"/>
            <a:ext cx="63500" cy="6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8" name="image 107" descr="image 1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3600" y="3035300"/>
            <a:ext cx="1219200" cy="1625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9" name="image 109" descr="image 10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3600" y="4718050"/>
            <a:ext cx="1219200" cy="1625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0" name="image 108" descr="image 1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9950" y="3035300"/>
            <a:ext cx="1219200" cy="1625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1" name="image 110" descr="image 1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9950" y="4718050"/>
            <a:ext cx="1219200" cy="1625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2" name="image 107" descr="image 10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2850" y="3136900"/>
            <a:ext cx="1308100" cy="320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3" name="image 108" descr="image 10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1750" y="3136900"/>
            <a:ext cx="1136650" cy="152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4" name="image 110" descr="image 11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1750" y="4718050"/>
            <a:ext cx="1136650" cy="1625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5" name="image 107" descr="image 10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0" y="3136900"/>
            <a:ext cx="1822450" cy="299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6" name="image 108" descr="image 10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2150" y="3790950"/>
            <a:ext cx="876300" cy="116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7" name="image 110" descr="image 1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52150" y="5092700"/>
            <a:ext cx="876300" cy="1250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8" name="image 162" descr="image 16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728900" y="3638550"/>
            <a:ext cx="450850" cy="120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9" name="image 164" descr="image 16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719500" y="3448050"/>
            <a:ext cx="457200" cy="146050"/>
          </a:xfrm>
          <a:prstGeom prst="rect">
            <a:avLst/>
          </a:prstGeom>
          <a:ln w="12700">
            <a:miter lim="400000"/>
          </a:ln>
        </p:spPr>
      </p:pic>
      <p:sp>
        <p:nvSpPr>
          <p:cNvPr id="5480" name="IPtax"/>
          <p:cNvSpPr txBox="1"/>
          <p:nvPr/>
        </p:nvSpPr>
        <p:spPr>
          <a:xfrm>
            <a:off x="2079625" y="1104900"/>
            <a:ext cx="8032751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533"/>
              </a:lnSpc>
              <a:defRPr sz="1900" spc="98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67" dirty="0"/>
              <a:t>搭载“</a:t>
            </a:r>
            <a:r>
              <a:rPr sz="1267" dirty="0" err="1"/>
              <a:t>宝藏新车</a:t>
            </a:r>
            <a:r>
              <a:rPr sz="1267" dirty="0"/>
              <a:t>”，</a:t>
            </a:r>
            <a:r>
              <a:rPr sz="1267" dirty="0" err="1"/>
              <a:t>洞察ta用车需求</a:t>
            </a:r>
            <a:r>
              <a:rPr sz="1267" dirty="0"/>
              <a:t>/</a:t>
            </a:r>
            <a:r>
              <a:rPr sz="1267" dirty="0" err="1"/>
              <a:t>兴趣偏好，智己x小红书跨界共创限定座驾</a:t>
            </a:r>
            <a:r>
              <a:rPr sz="1267" dirty="0"/>
              <a:t>，</a:t>
            </a:r>
          </a:p>
          <a:p>
            <a:pPr algn="ctr">
              <a:lnSpc>
                <a:spcPts val="1533"/>
              </a:lnSpc>
              <a:defRPr sz="1900" spc="98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267" dirty="0" err="1"/>
              <a:t>打造新车上市全链路整合营销，人群资产</a:t>
            </a:r>
            <a:r>
              <a:rPr sz="1267" dirty="0"/>
              <a:t>/</a:t>
            </a:r>
            <a:r>
              <a:rPr sz="1267" dirty="0" err="1"/>
              <a:t>品牌美誉度正向沉淀</a:t>
            </a:r>
            <a:endParaRPr sz="1267" dirty="0"/>
          </a:p>
        </p:txBody>
      </p:sp>
      <p:grpSp>
        <p:nvGrpSpPr>
          <p:cNvPr id="5492" name="组合 86"/>
          <p:cNvGrpSpPr/>
          <p:nvPr/>
        </p:nvGrpSpPr>
        <p:grpSpPr>
          <a:xfrm>
            <a:off x="381000" y="1803181"/>
            <a:ext cx="2762250" cy="1028701"/>
            <a:chOff x="0" y="0"/>
            <a:chExt cx="4143375" cy="1543050"/>
          </a:xfrm>
        </p:grpSpPr>
        <p:pic>
          <p:nvPicPr>
            <p:cNvPr id="5483" name="Rectangle 204" descr="Rectangle 20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0" y="0"/>
              <a:ext cx="4143375" cy="15430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84" name="Rectangle 52" descr="Rectangle 5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0500" y="238124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85" name="Rectangle 3" descr="Rectangle 3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90499" y="238124"/>
              <a:ext cx="1152526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86" name="name_423"/>
            <p:cNvSpPr txBox="1"/>
            <p:nvPr/>
          </p:nvSpPr>
          <p:spPr>
            <a:xfrm>
              <a:off x="742949" y="790576"/>
              <a:ext cx="1066802" cy="3364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18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467"/>
                <a:t>4.23 </a:t>
              </a:r>
              <a:r>
                <a:rPr sz="1000"/>
                <a:t>亿+</a:t>
              </a:r>
            </a:p>
          </p:txBody>
        </p:sp>
        <p:sp>
          <p:nvSpPr>
            <p:cNvPr id="5487" name="default_name"/>
            <p:cNvSpPr txBox="1"/>
            <p:nvPr/>
          </p:nvSpPr>
          <p:spPr>
            <a:xfrm>
              <a:off x="904874" y="1162050"/>
              <a:ext cx="75247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总曝光</a:t>
              </a:r>
            </a:p>
          </p:txBody>
        </p:sp>
        <p:sp>
          <p:nvSpPr>
            <p:cNvPr id="5488" name="name_3776"/>
            <p:cNvSpPr txBox="1"/>
            <p:nvPr/>
          </p:nvSpPr>
          <p:spPr>
            <a:xfrm>
              <a:off x="2352675" y="790576"/>
              <a:ext cx="1162052" cy="3364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18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467"/>
                <a:t>3776 </a:t>
              </a:r>
              <a:r>
                <a:rPr sz="1000"/>
                <a:t>万+</a:t>
              </a:r>
            </a:p>
          </p:txBody>
        </p:sp>
        <p:sp>
          <p:nvSpPr>
            <p:cNvPr id="5489" name="default_name"/>
            <p:cNvSpPr txBox="1"/>
            <p:nvPr/>
          </p:nvSpPr>
          <p:spPr>
            <a:xfrm>
              <a:off x="2209800" y="1162050"/>
              <a:ext cx="145732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话题总浏览量</a:t>
              </a:r>
            </a:p>
          </p:txBody>
        </p:sp>
        <p:sp>
          <p:nvSpPr>
            <p:cNvPr id="5490" name="default_name"/>
            <p:cNvSpPr txBox="1"/>
            <p:nvPr/>
          </p:nvSpPr>
          <p:spPr>
            <a:xfrm>
              <a:off x="1438275" y="306669"/>
              <a:ext cx="2390777" cy="243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400"/>
                </a:lnSpc>
                <a:defRPr sz="12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800"/>
                <a:t>共创座驾新概念，上市即火遍全站</a:t>
              </a:r>
            </a:p>
          </p:txBody>
        </p:sp>
        <p:sp>
          <p:nvSpPr>
            <p:cNvPr id="5491" name="default_name"/>
            <p:cNvSpPr txBox="1"/>
            <p:nvPr/>
          </p:nvSpPr>
          <p:spPr>
            <a:xfrm>
              <a:off x="180974" y="272574"/>
              <a:ext cx="117157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传播声量</a:t>
              </a:r>
            </a:p>
          </p:txBody>
        </p:sp>
      </p:grpSp>
      <p:grpSp>
        <p:nvGrpSpPr>
          <p:cNvPr id="5504" name="组合 85"/>
          <p:cNvGrpSpPr/>
          <p:nvPr/>
        </p:nvGrpSpPr>
        <p:grpSpPr>
          <a:xfrm>
            <a:off x="381000" y="2965373"/>
            <a:ext cx="2762250" cy="1104901"/>
            <a:chOff x="0" y="0"/>
            <a:chExt cx="4143375" cy="1657350"/>
          </a:xfrm>
        </p:grpSpPr>
        <p:pic>
          <p:nvPicPr>
            <p:cNvPr id="5493" name="Rectangle 210" descr="Rectangle 210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0" y="0"/>
              <a:ext cx="4143375" cy="16573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94" name="Rectangle 52" descr="Rectangle 5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0500" y="238124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95" name="Rectangle 3" descr="Rectangle 3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90499" y="238124"/>
              <a:ext cx="1152526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96" name="NO1"/>
            <p:cNvSpPr txBox="1"/>
            <p:nvPr/>
          </p:nvSpPr>
          <p:spPr>
            <a:xfrm>
              <a:off x="438149" y="790574"/>
              <a:ext cx="657227" cy="338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200" dirty="0"/>
                <a:t>NO.</a:t>
              </a:r>
              <a:r>
                <a:rPr sz="1467" dirty="0"/>
                <a:t>1</a:t>
              </a:r>
            </a:p>
          </p:txBody>
        </p:sp>
        <p:sp>
          <p:nvSpPr>
            <p:cNvPr id="5497" name="Text 10"/>
            <p:cNvSpPr txBox="1"/>
            <p:nvPr/>
          </p:nvSpPr>
          <p:spPr>
            <a:xfrm>
              <a:off x="171449" y="1162050"/>
              <a:ext cx="1200152" cy="2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品牌认知人群</a:t>
              </a:r>
            </a:p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轿车赛道规模行业排名</a:t>
              </a:r>
            </a:p>
          </p:txBody>
        </p:sp>
        <p:sp>
          <p:nvSpPr>
            <p:cNvPr id="5498" name="NO1"/>
            <p:cNvSpPr txBox="1"/>
            <p:nvPr/>
          </p:nvSpPr>
          <p:spPr>
            <a:xfrm>
              <a:off x="1676399" y="790574"/>
              <a:ext cx="657227" cy="338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200" dirty="0"/>
                <a:t>NO.</a:t>
              </a:r>
              <a:r>
                <a:rPr sz="1467" dirty="0"/>
                <a:t>1</a:t>
              </a:r>
            </a:p>
          </p:txBody>
        </p:sp>
        <p:sp>
          <p:nvSpPr>
            <p:cNvPr id="5499" name="default_name"/>
            <p:cNvSpPr txBox="1"/>
            <p:nvPr/>
          </p:nvSpPr>
          <p:spPr>
            <a:xfrm>
              <a:off x="1523999" y="1162050"/>
              <a:ext cx="942977" cy="4017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车型认知人群规模行业排名</a:t>
              </a:r>
            </a:p>
          </p:txBody>
        </p:sp>
        <p:sp>
          <p:nvSpPr>
            <p:cNvPr id="5500" name="5815"/>
            <p:cNvSpPr txBox="1"/>
            <p:nvPr/>
          </p:nvSpPr>
          <p:spPr>
            <a:xfrm>
              <a:off x="2683400" y="790574"/>
              <a:ext cx="1266827" cy="338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15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000" dirty="0"/>
                <a:t>+ </a:t>
              </a:r>
              <a:r>
                <a:rPr sz="1467" dirty="0"/>
                <a:t>58.15</a:t>
              </a:r>
              <a:r>
                <a:rPr sz="1000" dirty="0"/>
                <a:t>%</a:t>
              </a:r>
            </a:p>
          </p:txBody>
        </p:sp>
        <p:sp>
          <p:nvSpPr>
            <p:cNvPr id="5501" name="Text 14"/>
            <p:cNvSpPr txBox="1"/>
            <p:nvPr/>
          </p:nvSpPr>
          <p:spPr>
            <a:xfrm>
              <a:off x="2867025" y="1162050"/>
              <a:ext cx="942977" cy="2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车型人群资产</a:t>
              </a:r>
            </a:p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整体增幅</a:t>
              </a:r>
            </a:p>
          </p:txBody>
        </p:sp>
        <p:sp>
          <p:nvSpPr>
            <p:cNvPr id="5502" name="AIPS"/>
            <p:cNvSpPr txBox="1"/>
            <p:nvPr/>
          </p:nvSpPr>
          <p:spPr>
            <a:xfrm>
              <a:off x="1438275" y="306669"/>
              <a:ext cx="2390777" cy="243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400"/>
                </a:lnSpc>
                <a:defRPr sz="12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800"/>
                <a:t>细分 AIPS排名处于行业领先地位</a:t>
              </a:r>
            </a:p>
          </p:txBody>
        </p:sp>
        <p:sp>
          <p:nvSpPr>
            <p:cNvPr id="5503" name="default_name"/>
            <p:cNvSpPr txBox="1"/>
            <p:nvPr/>
          </p:nvSpPr>
          <p:spPr>
            <a:xfrm>
              <a:off x="180974" y="272574"/>
              <a:ext cx="117157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人群渗透</a:t>
              </a:r>
            </a:p>
          </p:txBody>
        </p:sp>
      </p:grpSp>
      <p:grpSp>
        <p:nvGrpSpPr>
          <p:cNvPr id="5514" name="组合 84"/>
          <p:cNvGrpSpPr/>
          <p:nvPr/>
        </p:nvGrpSpPr>
        <p:grpSpPr>
          <a:xfrm>
            <a:off x="381000" y="4203765"/>
            <a:ext cx="2762250" cy="1022351"/>
            <a:chOff x="0" y="0"/>
            <a:chExt cx="4143375" cy="1533525"/>
          </a:xfrm>
        </p:grpSpPr>
        <p:pic>
          <p:nvPicPr>
            <p:cNvPr id="5505" name="Rectangle 211" descr="Rectangle 211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0" y="0"/>
              <a:ext cx="4143375" cy="1533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06" name="Rectangle 52" descr="Rectangle 5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0500" y="238124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07" name="Rectangle 3" descr="Rectangle 3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90499" y="238124"/>
              <a:ext cx="1057276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08" name="name_5484"/>
            <p:cNvSpPr txBox="1"/>
            <p:nvPr/>
          </p:nvSpPr>
          <p:spPr>
            <a:xfrm>
              <a:off x="828674" y="719360"/>
              <a:ext cx="895352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54.84</a:t>
              </a:r>
            </a:p>
          </p:txBody>
        </p:sp>
        <p:sp>
          <p:nvSpPr>
            <p:cNvPr id="5509" name="NPS"/>
            <p:cNvSpPr txBox="1"/>
            <p:nvPr/>
          </p:nvSpPr>
          <p:spPr>
            <a:xfrm>
              <a:off x="647699" y="1133651"/>
              <a:ext cx="1257302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活动期品牌NPS</a:t>
              </a:r>
            </a:p>
          </p:txBody>
        </p:sp>
        <p:sp>
          <p:nvSpPr>
            <p:cNvPr id="5510" name="name_79"/>
            <p:cNvSpPr txBox="1"/>
            <p:nvPr/>
          </p:nvSpPr>
          <p:spPr>
            <a:xfrm>
              <a:off x="2743200" y="719360"/>
              <a:ext cx="409577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79</a:t>
              </a:r>
            </a:p>
          </p:txBody>
        </p:sp>
        <p:sp>
          <p:nvSpPr>
            <p:cNvPr id="5511" name="NPS"/>
            <p:cNvSpPr txBox="1"/>
            <p:nvPr/>
          </p:nvSpPr>
          <p:spPr>
            <a:xfrm>
              <a:off x="2295525" y="1133651"/>
              <a:ext cx="1295402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活动期车型NPS</a:t>
              </a:r>
            </a:p>
          </p:txBody>
        </p:sp>
        <p:sp>
          <p:nvSpPr>
            <p:cNvPr id="5512" name="NPS"/>
            <p:cNvSpPr txBox="1"/>
            <p:nvPr/>
          </p:nvSpPr>
          <p:spPr>
            <a:xfrm>
              <a:off x="1323975" y="315661"/>
              <a:ext cx="2647952" cy="2259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300"/>
                </a:lnSpc>
                <a:defRPr sz="11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733"/>
                <a:t>NPS表现远超行业均值，口碑正向沉淀</a:t>
              </a:r>
            </a:p>
          </p:txBody>
        </p:sp>
        <p:sp>
          <p:nvSpPr>
            <p:cNvPr id="5513" name="default_name"/>
            <p:cNvSpPr txBox="1"/>
            <p:nvPr/>
          </p:nvSpPr>
          <p:spPr>
            <a:xfrm>
              <a:off x="180974" y="272574"/>
              <a:ext cx="107632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口碑激发</a:t>
              </a:r>
            </a:p>
          </p:txBody>
        </p:sp>
      </p:grpSp>
      <p:grpSp>
        <p:nvGrpSpPr>
          <p:cNvPr id="5526" name="组合 83"/>
          <p:cNvGrpSpPr/>
          <p:nvPr/>
        </p:nvGrpSpPr>
        <p:grpSpPr>
          <a:xfrm>
            <a:off x="381000" y="5359607"/>
            <a:ext cx="2762250" cy="1111251"/>
            <a:chOff x="0" y="0"/>
            <a:chExt cx="4143375" cy="1666875"/>
          </a:xfrm>
        </p:grpSpPr>
        <p:pic>
          <p:nvPicPr>
            <p:cNvPr id="5515" name="Rectangle 212" descr="Rectangle 21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0" y="0"/>
              <a:ext cx="4143375" cy="1666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16" name="Group 500" descr="Group 500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939509" y="790575"/>
              <a:ext cx="594016" cy="3238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17" name="Group 501" descr="Group 501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11160" y="790575"/>
              <a:ext cx="384466" cy="3238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18" name="Rectangle 52" descr="Rectangle 5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0500" y="238124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19" name="Rectangle 3" descr="Rectangle 3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90499" y="238124"/>
              <a:ext cx="1057276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20" name="name_29"/>
            <p:cNvSpPr txBox="1"/>
            <p:nvPr/>
          </p:nvSpPr>
          <p:spPr>
            <a:xfrm>
              <a:off x="1142999" y="719359"/>
              <a:ext cx="409577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29</a:t>
              </a:r>
            </a:p>
          </p:txBody>
        </p:sp>
        <p:sp>
          <p:nvSpPr>
            <p:cNvPr id="5521" name="Text 24"/>
            <p:cNvSpPr txBox="1"/>
            <p:nvPr/>
          </p:nvSpPr>
          <p:spPr>
            <a:xfrm>
              <a:off x="180974" y="1162050"/>
              <a:ext cx="2181227" cy="2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车型在汽车出行、乘用车赛道</a:t>
              </a:r>
            </a:p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阅读渗透率排名上升</a:t>
              </a:r>
            </a:p>
          </p:txBody>
        </p:sp>
        <p:sp>
          <p:nvSpPr>
            <p:cNvPr id="5522" name="name_9"/>
            <p:cNvSpPr txBox="1"/>
            <p:nvPr/>
          </p:nvSpPr>
          <p:spPr>
            <a:xfrm>
              <a:off x="2886075" y="719359"/>
              <a:ext cx="228602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9</a:t>
              </a:r>
            </a:p>
          </p:txBody>
        </p:sp>
        <p:sp>
          <p:nvSpPr>
            <p:cNvPr id="5523" name="Text 26"/>
            <p:cNvSpPr txBox="1"/>
            <p:nvPr/>
          </p:nvSpPr>
          <p:spPr>
            <a:xfrm>
              <a:off x="2114550" y="1162050"/>
              <a:ext cx="1647827" cy="2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品牌在轿车赛道</a:t>
              </a:r>
            </a:p>
            <a:p>
              <a:pPr algn="ctr">
                <a:lnSpc>
                  <a:spcPts val="733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阅读渗透率排名上升</a:t>
              </a:r>
            </a:p>
          </p:txBody>
        </p:sp>
        <p:sp>
          <p:nvSpPr>
            <p:cNvPr id="5524" name="SPU"/>
            <p:cNvSpPr txBox="1"/>
            <p:nvPr/>
          </p:nvSpPr>
          <p:spPr>
            <a:xfrm>
              <a:off x="1323975" y="315661"/>
              <a:ext cx="2581277" cy="2259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300"/>
                </a:lnSpc>
                <a:defRPr sz="11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733"/>
                <a:t>品牌及SPU在细分赛道的多项排名上升</a:t>
              </a:r>
            </a:p>
          </p:txBody>
        </p:sp>
        <p:sp>
          <p:nvSpPr>
            <p:cNvPr id="5525" name="default_name"/>
            <p:cNvSpPr txBox="1"/>
            <p:nvPr/>
          </p:nvSpPr>
          <p:spPr>
            <a:xfrm>
              <a:off x="180974" y="272574"/>
              <a:ext cx="107632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形象认知</a:t>
              </a:r>
            </a:p>
          </p:txBody>
        </p:sp>
      </p:grpSp>
      <p:sp>
        <p:nvSpPr>
          <p:cNvPr id="5527" name="ta --"/>
          <p:cNvSpPr txBox="1"/>
          <p:nvPr/>
        </p:nvSpPr>
        <p:spPr>
          <a:xfrm>
            <a:off x="3263900" y="2649607"/>
            <a:ext cx="2774950" cy="342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 dirty="0" err="1"/>
              <a:t>洞察ta兴趣偏好</a:t>
            </a:r>
            <a:r>
              <a:rPr sz="733" dirty="0"/>
              <a:t>/</a:t>
            </a:r>
            <a:r>
              <a:rPr sz="733" dirty="0" err="1"/>
              <a:t>锁单用户需求</a:t>
            </a:r>
            <a:r>
              <a:rPr sz="733" dirty="0"/>
              <a:t>/</a:t>
            </a:r>
            <a:r>
              <a:rPr sz="733" dirty="0" err="1"/>
              <a:t>高热度智己尾灯梗</a:t>
            </a:r>
            <a:r>
              <a:rPr sz="733" dirty="0"/>
              <a:t>，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 dirty="0" err="1"/>
              <a:t>从外观设计-车机主题-礼盒，全方位跨界改车</a:t>
            </a:r>
            <a:r>
              <a:rPr sz="733" dirty="0"/>
              <a:t>，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 dirty="0" err="1"/>
              <a:t>薯队长限定座驾火热吸睛</a:t>
            </a:r>
            <a:endParaRPr sz="733" dirty="0"/>
          </a:p>
        </p:txBody>
      </p:sp>
      <p:sp>
        <p:nvSpPr>
          <p:cNvPr id="5528" name="Text 30"/>
          <p:cNvSpPr txBox="1"/>
          <p:nvPr/>
        </p:nvSpPr>
        <p:spPr>
          <a:xfrm>
            <a:off x="3765550" y="2147083"/>
            <a:ext cx="17780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概念座驾 制造噱头</a:t>
            </a:r>
          </a:p>
        </p:txBody>
      </p:sp>
      <p:sp>
        <p:nvSpPr>
          <p:cNvPr id="5529" name="Text 31"/>
          <p:cNvSpPr txBox="1"/>
          <p:nvPr/>
        </p:nvSpPr>
        <p:spPr>
          <a:xfrm>
            <a:off x="6616700" y="2147083"/>
            <a:ext cx="18669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线下巡展 声量包围</a:t>
            </a:r>
          </a:p>
        </p:txBody>
      </p:sp>
      <p:sp>
        <p:nvSpPr>
          <p:cNvPr id="5530" name="Text 32"/>
          <p:cNvSpPr txBox="1"/>
          <p:nvPr/>
        </p:nvSpPr>
        <p:spPr>
          <a:xfrm>
            <a:off x="9575800" y="2147083"/>
            <a:ext cx="17526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 spc="135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全民互动 种草座驾</a:t>
            </a:r>
          </a:p>
        </p:txBody>
      </p:sp>
      <p:sp>
        <p:nvSpPr>
          <p:cNvPr id="5531" name="default_name"/>
          <p:cNvSpPr txBox="1"/>
          <p:nvPr/>
        </p:nvSpPr>
        <p:spPr>
          <a:xfrm>
            <a:off x="9899650" y="1622573"/>
            <a:ext cx="10985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口碑沉淀</a:t>
            </a:r>
          </a:p>
        </p:txBody>
      </p:sp>
      <p:sp>
        <p:nvSpPr>
          <p:cNvPr id="5532" name="default_name"/>
          <p:cNvSpPr txBox="1"/>
          <p:nvPr/>
        </p:nvSpPr>
        <p:spPr>
          <a:xfrm>
            <a:off x="7054850" y="1622573"/>
            <a:ext cx="102235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造势爆发</a:t>
            </a:r>
          </a:p>
        </p:txBody>
      </p:sp>
      <p:sp>
        <p:nvSpPr>
          <p:cNvPr id="5533" name="default_name"/>
          <p:cNvSpPr txBox="1"/>
          <p:nvPr/>
        </p:nvSpPr>
        <p:spPr>
          <a:xfrm>
            <a:off x="4203700" y="1622573"/>
            <a:ext cx="9017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上市预热</a:t>
            </a:r>
          </a:p>
        </p:txBody>
      </p:sp>
      <p:sp>
        <p:nvSpPr>
          <p:cNvPr id="5534" name="Text 37"/>
          <p:cNvSpPr txBox="1"/>
          <p:nvPr/>
        </p:nvSpPr>
        <p:spPr>
          <a:xfrm>
            <a:off x="6153150" y="2649607"/>
            <a:ext cx="2774950" cy="342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/>
              <a:t>新车重磅亮相上海车展、宝藏新品「春日开新小会」，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/>
              <a:t>花式巡展吸引用户打卡；五大圈层博主追剧式营销，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/>
              <a:t>多元内容种草带动传播声量</a:t>
            </a:r>
          </a:p>
        </p:txBody>
      </p:sp>
      <p:sp>
        <p:nvSpPr>
          <p:cNvPr id="5535" name="name_10  UGC"/>
          <p:cNvSpPr txBox="1"/>
          <p:nvPr/>
        </p:nvSpPr>
        <p:spPr>
          <a:xfrm>
            <a:off x="9042400" y="2649607"/>
            <a:ext cx="2774950" cy="342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 dirty="0"/>
              <a:t>发布博主车改纪录片：10平方的想象引发情绪共鸣 ；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 dirty="0" err="1"/>
              <a:t>同步发起【梦想改造车】话题征集，海量真实</a:t>
            </a:r>
            <a:r>
              <a:rPr lang="en-US" sz="733" dirty="0" err="1"/>
              <a:t>UGC</a:t>
            </a:r>
            <a:r>
              <a:rPr sz="733" dirty="0"/>
              <a:t>，</a:t>
            </a:r>
          </a:p>
          <a:p>
            <a:pPr algn="ctr">
              <a:lnSpc>
                <a:spcPts val="933"/>
              </a:lnSpc>
              <a:defRPr sz="12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733" dirty="0" err="1"/>
              <a:t>助力新车多元场景渗透，全民定义梦想座驾</a:t>
            </a:r>
            <a:endParaRPr sz="733" dirty="0"/>
          </a:p>
        </p:txBody>
      </p:sp>
      <p:sp>
        <p:nvSpPr>
          <p:cNvPr id="5536" name="default_name"/>
          <p:cNvSpPr txBox="1"/>
          <p:nvPr/>
        </p:nvSpPr>
        <p:spPr>
          <a:xfrm>
            <a:off x="2364109" y="591741"/>
            <a:ext cx="7463783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3200"/>
              </a:lnSpc>
              <a:defRPr sz="40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667" dirty="0" err="1"/>
              <a:t>宝藏新车</a:t>
            </a:r>
            <a:r>
              <a:rPr lang="en-US" altLang="zh-CN" sz="2667" dirty="0" err="1"/>
              <a:t>×</a:t>
            </a:r>
            <a:r>
              <a:rPr sz="2667" dirty="0" err="1"/>
              <a:t>智己</a:t>
            </a:r>
            <a:r>
              <a:rPr sz="2667" dirty="0"/>
              <a:t>  </a:t>
            </a:r>
            <a:r>
              <a:rPr sz="2667" dirty="0" err="1">
                <a:solidFill>
                  <a:srgbClr val="191919"/>
                </a:solidFill>
              </a:rPr>
              <a:t>新车共创，全民敢玩不怕晒</a:t>
            </a:r>
            <a:endParaRPr sz="2667" dirty="0">
              <a:solidFill>
                <a:srgbClr val="191919"/>
              </a:solidFill>
            </a:endParaRPr>
          </a:p>
        </p:txBody>
      </p:sp>
      <p:sp>
        <p:nvSpPr>
          <p:cNvPr id="5537" name="name_20254-6IP"/>
          <p:cNvSpPr txBox="1"/>
          <p:nvPr/>
        </p:nvSpPr>
        <p:spPr>
          <a:xfrm>
            <a:off x="84535" y="6685049"/>
            <a:ext cx="3376215" cy="8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lnSpc>
                <a:spcPts val="733"/>
              </a:lnSpc>
              <a:defRPr sz="800">
                <a:solidFill>
                  <a:srgbClr val="818181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533"/>
              <a:t>*数据来源：小红书灵犀平台   活动期：2025/4/3-2025/6/2，对比周期：2025/3/2-2025/4/2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E715FC-7A58-1E8E-BC33-3769B7BED894}"/>
              </a:ext>
            </a:extLst>
          </p:cNvPr>
          <p:cNvGrpSpPr/>
          <p:nvPr/>
        </p:nvGrpSpPr>
        <p:grpSpPr>
          <a:xfrm>
            <a:off x="315420" y="286491"/>
            <a:ext cx="1976237" cy="443020"/>
            <a:chOff x="473129" y="429735"/>
            <a:chExt cx="2964355" cy="664530"/>
          </a:xfrm>
        </p:grpSpPr>
        <p:pic>
          <p:nvPicPr>
            <p:cNvPr id="3" name="Line 18" descr="Line 18">
              <a:extLst>
                <a:ext uri="{FF2B5EF4-FFF2-40B4-BE49-F238E27FC236}">
                  <a16:creationId xmlns:a16="http://schemas.microsoft.com/office/drawing/2014/main" id="{93FFE992-A921-21A3-3B37-8E67C27B0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73129" y="599739"/>
              <a:ext cx="2511136" cy="29434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" name="default_name">
              <a:extLst>
                <a:ext uri="{FF2B5EF4-FFF2-40B4-BE49-F238E27FC236}">
                  <a16:creationId xmlns:a16="http://schemas.microsoft.com/office/drawing/2014/main" id="{099EA352-C463-F314-4C2D-E7E1C8DCE80A}"/>
                </a:ext>
              </a:extLst>
            </p:cNvPr>
            <p:cNvSpPr txBox="1"/>
            <p:nvPr/>
          </p:nvSpPr>
          <p:spPr>
            <a:xfrm>
              <a:off x="475208" y="429735"/>
              <a:ext cx="2266951" cy="3121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ts val="1800"/>
                </a:lnSpc>
                <a:defRPr sz="1500" spc="300">
                  <a:solidFill>
                    <a:srgbClr val="1A1A1A"/>
                  </a:solidFill>
                  <a:latin typeface="FZVariable-LanTingHeiK Regular"/>
                  <a:ea typeface="FZVariable-LanTingHeiK Regular"/>
                  <a:cs typeface="FZVariable-LanTingHeiK Regular"/>
                  <a:sym typeface="FZVariable-LanTingHeiK Regular"/>
                </a:defRPr>
              </a:lvl1pPr>
            </a:lstStyle>
            <a:p>
              <a:r>
                <a:rPr sz="1000" dirty="0" err="1"/>
                <a:t>行业解决方案</a:t>
              </a:r>
              <a:endParaRPr sz="1000" dirty="0"/>
            </a:p>
          </p:txBody>
        </p:sp>
        <p:sp>
          <p:nvSpPr>
            <p:cNvPr id="5" name="default_name">
              <a:extLst>
                <a:ext uri="{FF2B5EF4-FFF2-40B4-BE49-F238E27FC236}">
                  <a16:creationId xmlns:a16="http://schemas.microsoft.com/office/drawing/2014/main" id="{B488C65E-C494-D1D3-3B2B-F6AA3EC8707A}"/>
                </a:ext>
              </a:extLst>
            </p:cNvPr>
            <p:cNvSpPr txBox="1"/>
            <p:nvPr/>
          </p:nvSpPr>
          <p:spPr>
            <a:xfrm>
              <a:off x="1665833" y="782160"/>
              <a:ext cx="1771651" cy="3121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ts val="1800"/>
                </a:lnSpc>
                <a:defRPr sz="1500" spc="300">
                  <a:solidFill>
                    <a:srgbClr val="0BB77E"/>
                  </a:solidFill>
                  <a:latin typeface="FZVariable-LanTingHeiK Regular"/>
                  <a:ea typeface="FZVariable-LanTingHeiK Regular"/>
                  <a:cs typeface="FZVariable-LanTingHeiK Regular"/>
                  <a:sym typeface="FZVariable-LanTingHeiK Regular"/>
                </a:defRPr>
              </a:lvl1pPr>
            </a:lstStyle>
            <a:p>
              <a:r>
                <a:rPr sz="1000" dirty="0" err="1"/>
                <a:t>交通出行行业</a:t>
              </a:r>
              <a:endParaRPr sz="1000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A9E069E-69FB-A67F-9271-7062C2C22665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7" name="Vector" descr="Vector">
              <a:extLst>
                <a:ext uri="{FF2B5EF4-FFF2-40B4-BE49-F238E27FC236}">
                  <a16:creationId xmlns:a16="http://schemas.microsoft.com/office/drawing/2014/main" id="{90301FC7-7F54-40AC-A3A6-75A0FD7EA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B80317BD-56B9-2536-2839-010854747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3958E0B5-1F74-ECDC-A326-A9EE9E0A0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488806C4-9E18-D6F3-688A-921ADBBED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1545E75B-10E5-C47C-942F-91AA4E83F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2" name="Vector" descr="Vector">
              <a:extLst>
                <a:ext uri="{FF2B5EF4-FFF2-40B4-BE49-F238E27FC236}">
                  <a16:creationId xmlns:a16="http://schemas.microsoft.com/office/drawing/2014/main" id="{C7C0D039-B0C5-B314-2FCA-04A6FD3D7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3" name="Vector" descr="Vector">
              <a:extLst>
                <a:ext uri="{FF2B5EF4-FFF2-40B4-BE49-F238E27FC236}">
                  <a16:creationId xmlns:a16="http://schemas.microsoft.com/office/drawing/2014/main" id="{6B743C2D-9E81-86CB-4B86-BC6ED8EFA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4" name="Vector" descr="Vector">
              <a:extLst>
                <a:ext uri="{FF2B5EF4-FFF2-40B4-BE49-F238E27FC236}">
                  <a16:creationId xmlns:a16="http://schemas.microsoft.com/office/drawing/2014/main" id="{B8C21B61-C1CB-43C8-C2E4-69D94C3DF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5" name="Vector" descr="Vector">
              <a:extLst>
                <a:ext uri="{FF2B5EF4-FFF2-40B4-BE49-F238E27FC236}">
                  <a16:creationId xmlns:a16="http://schemas.microsoft.com/office/drawing/2014/main" id="{F349ADC3-9366-A406-0913-C74AA977C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0370420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9" name="Group 189" descr="Group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2" name="Rectangle 205" descr="Rectangle 2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50" y="2305050"/>
            <a:ext cx="5651500" cy="4171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3" name="Rectangle 52" descr="Rectangl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726" y="2495550"/>
            <a:ext cx="1422401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4" name="Rectangle 52" descr="Rectangl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226" y="2495550"/>
            <a:ext cx="1422401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5" name="Rectangle 52" descr="Rectangl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726" y="2495550"/>
            <a:ext cx="1422401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6" name="Rectangle 209" descr="Rectangle 20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2305050"/>
            <a:ext cx="2762250" cy="167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7" name="Rectangle 210" descr="Rectangle 2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4673600"/>
            <a:ext cx="2762250" cy="180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8" name="image 110" descr="imag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5750" y="5016500"/>
            <a:ext cx="762000" cy="133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9" name="image 111" descr="image 1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0300" y="5010150"/>
            <a:ext cx="1663700" cy="133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0" name="Rectangle 206" descr="Rectangle 2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0300" y="1670050"/>
            <a:ext cx="485775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1" name="Rectangle 210" descr="Rectangle 2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7500" y="1670050"/>
            <a:ext cx="247650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2" name="Rectangle 210" descr="Rectangle 2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7500" y="4102100"/>
            <a:ext cx="2476500" cy="571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3" name="image 107" descr="image 10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0750" y="34353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4" name="image 107" descr="image 10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60750" y="49212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5" name="image 107" descr="image 10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86250" y="34353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6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6250" y="46164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7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60750" y="46164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8" name="image 107" descr="image 10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6250" y="49212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9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6250" y="61023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0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60750" y="61023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1" name="image 107" descr="image 10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2250" y="34353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2" name="image 107" descr="image 10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02250" y="49212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3" name="image 107" descr="image 10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27750" y="34353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4" name="image 107" descr="image 10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27750" y="4921250"/>
            <a:ext cx="762000" cy="129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5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7750" y="61023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6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7750" y="46164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7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250" y="61023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8" name="Rectangle 54" descr="Rectangle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250" y="4616450"/>
            <a:ext cx="7620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9" name="image 107" descr="image 10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43750" y="3435350"/>
            <a:ext cx="762000" cy="132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0" name="image 107" descr="image 10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43750" y="4921250"/>
            <a:ext cx="1587500" cy="100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1" name="image 108" descr="image 10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3750" y="5397500"/>
            <a:ext cx="1587500" cy="819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2" name="image 107" descr="image 10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69250" y="3435350"/>
            <a:ext cx="762000" cy="132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3" name="image 109" descr="image 10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63200" y="2495550"/>
            <a:ext cx="1257300" cy="1181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4" name="Ellipse 34" descr="Ellipse 3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049000" y="3213100"/>
            <a:ext cx="63500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5" name="Rectangle 54" descr="Rectangle 5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43750" y="4622800"/>
            <a:ext cx="15875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6" name="Rectangle 54" descr="Rectangle 5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43750" y="6102350"/>
            <a:ext cx="1587500" cy="17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7" name="Ellipse 33" descr="Ellips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94800" y="2597150"/>
            <a:ext cx="920750" cy="25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8" name="Vector 53" descr="Vector 5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79595" y="2828925"/>
            <a:ext cx="89806" cy="584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9" name="Ellipse 77" descr="Ellipse 7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21800" y="2997200"/>
            <a:ext cx="920750" cy="254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80" name="name_7X"/>
          <p:cNvSpPr txBox="1"/>
          <p:nvPr/>
        </p:nvSpPr>
        <p:spPr>
          <a:xfrm>
            <a:off x="1857375" y="596898"/>
            <a:ext cx="8477251" cy="374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3000"/>
              </a:lnSpc>
              <a:defRPr sz="37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2467"/>
              <a:t>路书计划</a:t>
            </a:r>
            <a:r>
              <a:rPr sz="1200">
                <a:latin typeface="FZLanTingHeiS-R-GB"/>
                <a:ea typeface="FZLanTingHeiS-R-GB"/>
                <a:cs typeface="FZLanTingHeiS-R-GB"/>
                <a:sym typeface="FZLanTingHeiS-R-GB"/>
              </a:rPr>
              <a:t> </a:t>
            </a:r>
            <a:r>
              <a:rPr sz="2467"/>
              <a:t>×极氪7X </a:t>
            </a:r>
            <a:r>
              <a:rPr sz="2467">
                <a:solidFill>
                  <a:srgbClr val="191919"/>
                </a:solidFill>
              </a:rPr>
              <a:t>车型认知跨越式提升</a:t>
            </a:r>
          </a:p>
        </p:txBody>
      </p:sp>
      <p:sp>
        <p:nvSpPr>
          <p:cNvPr id="5581" name="IP  IPXFS"/>
          <p:cNvSpPr txBox="1"/>
          <p:nvPr/>
        </p:nvSpPr>
        <p:spPr>
          <a:xfrm>
            <a:off x="2079625" y="1104900"/>
            <a:ext cx="8032751" cy="405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600"/>
              </a:lnSpc>
              <a:defRPr sz="2000" spc="101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333" dirty="0"/>
              <a:t>搭载“</a:t>
            </a:r>
            <a:r>
              <a:rPr sz="1333" dirty="0" err="1"/>
              <a:t>路书计划</a:t>
            </a:r>
            <a:r>
              <a:rPr sz="1333" dirty="0"/>
              <a:t>”，</a:t>
            </a:r>
            <a:r>
              <a:rPr sz="1333" dirty="0" err="1"/>
              <a:t>借势暑期亲子出行趋势，打造#带孩子看世界</a:t>
            </a:r>
            <a:r>
              <a:rPr sz="1333" dirty="0"/>
              <a:t> </a:t>
            </a:r>
            <a:r>
              <a:rPr sz="1333" dirty="0" err="1"/>
              <a:t>的情感沟通切口</a:t>
            </a:r>
            <a:r>
              <a:rPr sz="1333" dirty="0"/>
              <a:t>，</a:t>
            </a:r>
          </a:p>
          <a:p>
            <a:pPr algn="ctr">
              <a:lnSpc>
                <a:spcPts val="1600"/>
              </a:lnSpc>
              <a:defRPr sz="2000" spc="101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1333" dirty="0" err="1"/>
              <a:t>IPFS+线索转化组合拳构建</a:t>
            </a:r>
            <a:r>
              <a:rPr sz="1333" dirty="0"/>
              <a:t> “</a:t>
            </a:r>
            <a:r>
              <a:rPr sz="1333" dirty="0" err="1"/>
              <a:t>心智</a:t>
            </a:r>
            <a:r>
              <a:rPr sz="1333" dirty="0"/>
              <a:t> + </a:t>
            </a:r>
            <a:r>
              <a:rPr sz="1333" dirty="0" err="1"/>
              <a:t>人群</a:t>
            </a:r>
            <a:r>
              <a:rPr sz="1333" dirty="0"/>
              <a:t>” </a:t>
            </a:r>
            <a:r>
              <a:rPr sz="1333" dirty="0" err="1"/>
              <a:t>双驱动链路</a:t>
            </a:r>
            <a:endParaRPr sz="1333" dirty="0"/>
          </a:p>
        </p:txBody>
      </p:sp>
      <p:grpSp>
        <p:nvGrpSpPr>
          <p:cNvPr id="5595" name="组合 137"/>
          <p:cNvGrpSpPr/>
          <p:nvPr/>
        </p:nvGrpSpPr>
        <p:grpSpPr>
          <a:xfrm>
            <a:off x="381000" y="1670050"/>
            <a:ext cx="2762250" cy="1054490"/>
            <a:chOff x="0" y="0"/>
            <a:chExt cx="4143375" cy="1581734"/>
          </a:xfrm>
        </p:grpSpPr>
        <p:pic>
          <p:nvPicPr>
            <p:cNvPr id="5584" name="Rectangle 204" descr="Rectangle 20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0" y="0"/>
              <a:ext cx="4143375" cy="15817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85" name="Rectangle 52" descr="Rectangle 52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0500" y="190500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86" name="Rectangle 3" descr="Rectangle 3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90499" y="190500"/>
              <a:ext cx="1143001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87" name="name_8200"/>
            <p:cNvSpPr txBox="1"/>
            <p:nvPr/>
          </p:nvSpPr>
          <p:spPr>
            <a:xfrm>
              <a:off x="685799" y="719359"/>
              <a:ext cx="800102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8200</a:t>
              </a:r>
            </a:p>
          </p:txBody>
        </p:sp>
        <p:sp>
          <p:nvSpPr>
            <p:cNvPr id="5588" name="default_name"/>
            <p:cNvSpPr txBox="1"/>
            <p:nvPr/>
          </p:nvSpPr>
          <p:spPr>
            <a:xfrm>
              <a:off x="1476374" y="810736"/>
              <a:ext cx="35242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万+</a:t>
              </a:r>
            </a:p>
          </p:txBody>
        </p:sp>
        <p:sp>
          <p:nvSpPr>
            <p:cNvPr id="5589" name="default_name"/>
            <p:cNvSpPr txBox="1"/>
            <p:nvPr/>
          </p:nvSpPr>
          <p:spPr>
            <a:xfrm>
              <a:off x="676274" y="1124128"/>
              <a:ext cx="103822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总曝光</a:t>
              </a:r>
            </a:p>
          </p:txBody>
        </p:sp>
        <p:sp>
          <p:nvSpPr>
            <p:cNvPr id="5590" name="name_2400"/>
            <p:cNvSpPr txBox="1"/>
            <p:nvPr/>
          </p:nvSpPr>
          <p:spPr>
            <a:xfrm>
              <a:off x="2457450" y="719359"/>
              <a:ext cx="800102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2400</a:t>
              </a:r>
            </a:p>
          </p:txBody>
        </p:sp>
        <p:sp>
          <p:nvSpPr>
            <p:cNvPr id="5591" name="default_name"/>
            <p:cNvSpPr txBox="1"/>
            <p:nvPr/>
          </p:nvSpPr>
          <p:spPr>
            <a:xfrm>
              <a:off x="3238500" y="810736"/>
              <a:ext cx="35242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万+</a:t>
              </a:r>
            </a:p>
          </p:txBody>
        </p:sp>
        <p:sp>
          <p:nvSpPr>
            <p:cNvPr id="5592" name="default_name"/>
            <p:cNvSpPr txBox="1"/>
            <p:nvPr/>
          </p:nvSpPr>
          <p:spPr>
            <a:xfrm>
              <a:off x="2333625" y="1124128"/>
              <a:ext cx="124777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话题总浏览量</a:t>
              </a:r>
            </a:p>
          </p:txBody>
        </p:sp>
        <p:sp>
          <p:nvSpPr>
            <p:cNvPr id="5593" name="default_name"/>
            <p:cNvSpPr txBox="1"/>
            <p:nvPr/>
          </p:nvSpPr>
          <p:spPr>
            <a:xfrm>
              <a:off x="1409700" y="259044"/>
              <a:ext cx="2571752" cy="243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400"/>
                </a:lnSpc>
                <a:defRPr sz="12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800"/>
                <a:t>全链路曝光破亿，亲子场景声量领跑</a:t>
              </a:r>
            </a:p>
          </p:txBody>
        </p:sp>
        <p:sp>
          <p:nvSpPr>
            <p:cNvPr id="5594" name="default_name"/>
            <p:cNvSpPr txBox="1"/>
            <p:nvPr/>
          </p:nvSpPr>
          <p:spPr>
            <a:xfrm>
              <a:off x="180974" y="224949"/>
              <a:ext cx="1162052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传播声量</a:t>
              </a:r>
            </a:p>
          </p:txBody>
        </p:sp>
      </p:grpSp>
      <p:grpSp>
        <p:nvGrpSpPr>
          <p:cNvPr id="5616" name="组合 136"/>
          <p:cNvGrpSpPr/>
          <p:nvPr/>
        </p:nvGrpSpPr>
        <p:grpSpPr>
          <a:xfrm>
            <a:off x="381000" y="2871058"/>
            <a:ext cx="2762250" cy="1139401"/>
            <a:chOff x="0" y="0"/>
            <a:chExt cx="4143375" cy="1709099"/>
          </a:xfrm>
        </p:grpSpPr>
        <p:pic>
          <p:nvPicPr>
            <p:cNvPr id="5596" name="Rectangle 211" descr="Rectangle 211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0" y="0"/>
              <a:ext cx="4143375" cy="17090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97" name="Rectangle 52" descr="Rectangle 52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0500" y="190499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98" name="Rectangle 3" descr="Rectangle 3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90499" y="190499"/>
              <a:ext cx="1143001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99" name="Rectangle 227" descr="Rectangle 227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524000" y="647699"/>
              <a:ext cx="2428876" cy="914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0" name="Vector 50" descr="Vector 50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19263" y="1323974"/>
              <a:ext cx="2038351" cy="182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1" name="Vector 49" descr="Vector 49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498582" y="909637"/>
              <a:ext cx="70146" cy="133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2" name="Vector 51" descr="Vector 51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546328" y="909637"/>
              <a:ext cx="70146" cy="133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3" name="Rectangle 222" descr="Rectangle 222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885949" y="1276349"/>
              <a:ext cx="285751" cy="476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4" name="Rectangle 224" descr="Rectangle 224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2933700" y="1266824"/>
              <a:ext cx="285751" cy="57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5" name="Rectangle 223" descr="Rectangle 223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2247900" y="1104899"/>
              <a:ext cx="285751" cy="2190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06" name="Rectangle 225" descr="Rectangle 225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3295650" y="1190624"/>
              <a:ext cx="285751" cy="1333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07" name="name_1452"/>
            <p:cNvSpPr txBox="1"/>
            <p:nvPr/>
          </p:nvSpPr>
          <p:spPr>
            <a:xfrm>
              <a:off x="495299" y="738410"/>
              <a:ext cx="752477" cy="466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1452</a:t>
              </a:r>
            </a:p>
          </p:txBody>
        </p:sp>
        <p:sp>
          <p:nvSpPr>
            <p:cNvPr id="5608" name="78"/>
            <p:cNvSpPr txBox="1"/>
            <p:nvPr/>
          </p:nvSpPr>
          <p:spPr>
            <a:xfrm>
              <a:off x="390524" y="1162048"/>
              <a:ext cx="952502" cy="2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733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人群资产增长</a:t>
              </a:r>
            </a:p>
            <a:p>
              <a:pPr algn="ctr">
                <a:lnSpc>
                  <a:spcPts val="733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排名+78名</a:t>
              </a:r>
            </a:p>
          </p:txBody>
        </p:sp>
        <p:sp>
          <p:nvSpPr>
            <p:cNvPr id="5609" name="default_name"/>
            <p:cNvSpPr txBox="1"/>
            <p:nvPr/>
          </p:nvSpPr>
          <p:spPr>
            <a:xfrm>
              <a:off x="1409700" y="259044"/>
              <a:ext cx="1638302" cy="243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400"/>
                </a:lnSpc>
                <a:defRPr sz="12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800"/>
                <a:t>目标人群资产大幅突破</a:t>
              </a:r>
            </a:p>
          </p:txBody>
        </p:sp>
        <p:sp>
          <p:nvSpPr>
            <p:cNvPr id="5610" name="default_name"/>
            <p:cNvSpPr txBox="1"/>
            <p:nvPr/>
          </p:nvSpPr>
          <p:spPr>
            <a:xfrm>
              <a:off x="180974" y="224949"/>
              <a:ext cx="1162052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人群渗透</a:t>
              </a:r>
            </a:p>
          </p:txBody>
        </p:sp>
        <p:sp>
          <p:nvSpPr>
            <p:cNvPr id="5611" name="name_118"/>
            <p:cNvSpPr txBox="1"/>
            <p:nvPr/>
          </p:nvSpPr>
          <p:spPr>
            <a:xfrm>
              <a:off x="1952625" y="860897"/>
              <a:ext cx="542927" cy="240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400"/>
                </a:lnSpc>
                <a:defRPr sz="11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733"/>
                <a:t>+118%</a:t>
              </a:r>
            </a:p>
          </p:txBody>
        </p:sp>
        <p:sp>
          <p:nvSpPr>
            <p:cNvPr id="5612" name="name_55"/>
            <p:cNvSpPr txBox="1"/>
            <p:nvPr/>
          </p:nvSpPr>
          <p:spPr>
            <a:xfrm>
              <a:off x="3057525" y="860897"/>
              <a:ext cx="485777" cy="240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400"/>
                </a:lnSpc>
                <a:defRPr sz="11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733"/>
                <a:t>+55%</a:t>
              </a:r>
            </a:p>
          </p:txBody>
        </p:sp>
        <p:sp>
          <p:nvSpPr>
            <p:cNvPr id="5613" name="default_name"/>
            <p:cNvSpPr txBox="1"/>
            <p:nvPr/>
          </p:nvSpPr>
          <p:spPr>
            <a:xfrm>
              <a:off x="1743075" y="1381124"/>
              <a:ext cx="952502" cy="1542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900"/>
                </a:lnSpc>
                <a:defRPr sz="7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467"/>
                <a:t>悦己顾家人群</a:t>
              </a:r>
            </a:p>
          </p:txBody>
        </p:sp>
        <p:sp>
          <p:nvSpPr>
            <p:cNvPr id="5614" name="AIPS"/>
            <p:cNvSpPr txBox="1"/>
            <p:nvPr/>
          </p:nvSpPr>
          <p:spPr>
            <a:xfrm>
              <a:off x="1895475" y="733424"/>
              <a:ext cx="1695452" cy="1542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900"/>
                </a:lnSpc>
                <a:defRPr sz="7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467"/>
                <a:t>目标人群AIPS渗透率</a:t>
              </a:r>
            </a:p>
          </p:txBody>
        </p:sp>
        <p:sp>
          <p:nvSpPr>
            <p:cNvPr id="5615" name="SUV"/>
            <p:cNvSpPr txBox="1"/>
            <p:nvPr/>
          </p:nvSpPr>
          <p:spPr>
            <a:xfrm>
              <a:off x="2819400" y="1381124"/>
              <a:ext cx="952502" cy="1542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900"/>
                </a:lnSpc>
                <a:defRPr sz="7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467"/>
                <a:t>SUV人群</a:t>
              </a:r>
            </a:p>
          </p:txBody>
        </p:sp>
      </p:grpSp>
      <p:grpSp>
        <p:nvGrpSpPr>
          <p:cNvPr id="5631" name="组合 135"/>
          <p:cNvGrpSpPr/>
          <p:nvPr/>
        </p:nvGrpSpPr>
        <p:grpSpPr>
          <a:xfrm>
            <a:off x="381000" y="4156978"/>
            <a:ext cx="2762250" cy="1100453"/>
            <a:chOff x="0" y="0"/>
            <a:chExt cx="4143375" cy="1650678"/>
          </a:xfrm>
        </p:grpSpPr>
        <p:pic>
          <p:nvPicPr>
            <p:cNvPr id="5617" name="Rectangle 212" descr="Rectangle 212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0" y="0"/>
              <a:ext cx="4143375" cy="16506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18" name="Vector 49" descr="Vector 49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071603" y="850105"/>
              <a:ext cx="105213" cy="1571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19" name="Rectangle 52" descr="Rectangle 52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0500" y="190500"/>
              <a:ext cx="3762375" cy="381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20" name="Rectangle 3" descr="Rectangle 3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90499" y="190500"/>
              <a:ext cx="1123951" cy="381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21" name="name_1"/>
            <p:cNvSpPr txBox="1"/>
            <p:nvPr/>
          </p:nvSpPr>
          <p:spPr>
            <a:xfrm>
              <a:off x="1066799" y="681259"/>
              <a:ext cx="180977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1</a:t>
              </a:r>
            </a:p>
          </p:txBody>
        </p:sp>
        <p:sp>
          <p:nvSpPr>
            <p:cNvPr id="5622" name="TOP"/>
            <p:cNvSpPr txBox="1"/>
            <p:nvPr/>
          </p:nvSpPr>
          <p:spPr>
            <a:xfrm>
              <a:off x="485774" y="745801"/>
              <a:ext cx="590552" cy="365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100"/>
                </a:lnSpc>
                <a:defRPr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200"/>
                <a:t>TOP</a:t>
              </a:r>
            </a:p>
          </p:txBody>
        </p:sp>
        <p:sp>
          <p:nvSpPr>
            <p:cNvPr id="5623" name="default_name"/>
            <p:cNvSpPr txBox="1"/>
            <p:nvPr/>
          </p:nvSpPr>
          <p:spPr>
            <a:xfrm>
              <a:off x="171449" y="1152524"/>
              <a:ext cx="1390652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品牌心智占比贡献榜</a:t>
              </a:r>
            </a:p>
          </p:txBody>
        </p:sp>
        <p:sp>
          <p:nvSpPr>
            <p:cNvPr id="5624" name="name_18"/>
            <p:cNvSpPr txBox="1"/>
            <p:nvPr/>
          </p:nvSpPr>
          <p:spPr>
            <a:xfrm>
              <a:off x="1828800" y="837086"/>
              <a:ext cx="695327" cy="249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lnSpc>
                  <a:spcPts val="1200"/>
                </a:lnSpc>
                <a:defRPr sz="15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000"/>
                <a:t>+</a:t>
              </a:r>
              <a:r>
                <a:rPr sz="1467"/>
                <a:t>18</a:t>
              </a:r>
              <a:r>
                <a:rPr sz="1000"/>
                <a:t>%</a:t>
              </a:r>
            </a:p>
          </p:txBody>
        </p:sp>
        <p:sp>
          <p:nvSpPr>
            <p:cNvPr id="5625" name="NPS"/>
            <p:cNvSpPr txBox="1"/>
            <p:nvPr/>
          </p:nvSpPr>
          <p:spPr>
            <a:xfrm>
              <a:off x="1704975" y="1152524"/>
              <a:ext cx="94297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NPS</a:t>
              </a:r>
            </a:p>
          </p:txBody>
        </p:sp>
        <p:sp>
          <p:nvSpPr>
            <p:cNvPr id="5626" name="name_39"/>
            <p:cNvSpPr txBox="1"/>
            <p:nvPr/>
          </p:nvSpPr>
          <p:spPr>
            <a:xfrm>
              <a:off x="3209925" y="671734"/>
              <a:ext cx="409577" cy="4662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39</a:t>
              </a:r>
            </a:p>
          </p:txBody>
        </p:sp>
        <p:sp>
          <p:nvSpPr>
            <p:cNvPr id="5627" name="default_name"/>
            <p:cNvSpPr txBox="1"/>
            <p:nvPr/>
          </p:nvSpPr>
          <p:spPr>
            <a:xfrm>
              <a:off x="3600450" y="772634"/>
              <a:ext cx="219077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名</a:t>
              </a:r>
            </a:p>
          </p:txBody>
        </p:sp>
        <p:sp>
          <p:nvSpPr>
            <p:cNvPr id="5628" name="Text 29"/>
            <p:cNvSpPr txBox="1"/>
            <p:nvPr/>
          </p:nvSpPr>
          <p:spPr>
            <a:xfrm>
              <a:off x="2809875" y="1152524"/>
              <a:ext cx="1238252" cy="269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733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乘用车赛道</a:t>
              </a:r>
            </a:p>
            <a:p>
              <a:pPr algn="ctr">
                <a:lnSpc>
                  <a:spcPts val="733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pPr>
              <a:r>
                <a:rPr sz="600"/>
                <a:t>阅读渗透率排名</a:t>
              </a:r>
            </a:p>
          </p:txBody>
        </p:sp>
        <p:sp>
          <p:nvSpPr>
            <p:cNvPr id="5629" name="default_name"/>
            <p:cNvSpPr txBox="1"/>
            <p:nvPr/>
          </p:nvSpPr>
          <p:spPr>
            <a:xfrm>
              <a:off x="1409700" y="268036"/>
              <a:ext cx="2609852" cy="2259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300"/>
                </a:lnSpc>
                <a:defRPr sz="11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733"/>
                <a:t>从“一款车”到“一种家庭生活方式”</a:t>
              </a:r>
            </a:p>
          </p:txBody>
        </p:sp>
        <p:sp>
          <p:nvSpPr>
            <p:cNvPr id="5630" name="default_name"/>
            <p:cNvSpPr txBox="1"/>
            <p:nvPr/>
          </p:nvSpPr>
          <p:spPr>
            <a:xfrm>
              <a:off x="180974" y="224947"/>
              <a:ext cx="1162052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心智占领</a:t>
              </a:r>
            </a:p>
          </p:txBody>
        </p:sp>
      </p:grpSp>
      <p:grpSp>
        <p:nvGrpSpPr>
          <p:cNvPr id="5648" name="组合 70"/>
          <p:cNvGrpSpPr/>
          <p:nvPr/>
        </p:nvGrpSpPr>
        <p:grpSpPr>
          <a:xfrm>
            <a:off x="381000" y="5403952"/>
            <a:ext cx="2762250" cy="1066706"/>
            <a:chOff x="0" y="0"/>
            <a:chExt cx="4143375" cy="1600057"/>
          </a:xfrm>
        </p:grpSpPr>
        <p:pic>
          <p:nvPicPr>
            <p:cNvPr id="5632" name="Rectangle 213" descr="Rectangle 213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0" y="0"/>
              <a:ext cx="4143375" cy="16000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3" name="Polygon 5" descr="Polygon 5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466849" y="933449"/>
              <a:ext cx="66676" cy="952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4" name="Ellipse 33" descr="Ellipse 33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90499" y="1028699"/>
              <a:ext cx="1133476" cy="3143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5" name="Ellipse 76" descr="Ellipse 7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71462" y="1307790"/>
              <a:ext cx="952501" cy="876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6" name="Ellipse 77" descr="Ellipse 7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271462" y="917264"/>
              <a:ext cx="952501" cy="876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7" name="Ellipse 34" descr="Ellipse 34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90499" y="666749"/>
              <a:ext cx="1133476" cy="2952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8" name="Rectangle 52" descr="Rectangle 52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90500" y="190499"/>
              <a:ext cx="3762375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39" name="Rectangle 3" descr="Rectangle 3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90499" y="190499"/>
              <a:ext cx="1143001" cy="381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40" name="IPXFS"/>
            <p:cNvSpPr txBox="1"/>
            <p:nvPr/>
          </p:nvSpPr>
          <p:spPr>
            <a:xfrm>
              <a:off x="238124" y="742949"/>
              <a:ext cx="101917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 dirty="0" err="1"/>
                <a:t>IPFS高效引流</a:t>
              </a:r>
              <a:endParaRPr sz="600" dirty="0"/>
            </a:p>
          </p:txBody>
        </p:sp>
        <p:sp>
          <p:nvSpPr>
            <p:cNvPr id="5641" name="default_name"/>
            <p:cNvSpPr txBox="1"/>
            <p:nvPr/>
          </p:nvSpPr>
          <p:spPr>
            <a:xfrm>
              <a:off x="238124" y="1104899"/>
              <a:ext cx="103822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FFFFFF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私信+表单组合收口</a:t>
              </a:r>
            </a:p>
          </p:txBody>
        </p:sp>
        <p:sp>
          <p:nvSpPr>
            <p:cNvPr id="5642" name="-44"/>
            <p:cNvSpPr txBox="1"/>
            <p:nvPr/>
          </p:nvSpPr>
          <p:spPr>
            <a:xfrm>
              <a:off x="3076575" y="781049"/>
              <a:ext cx="733427" cy="2498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lnSpc>
                  <a:spcPts val="1200"/>
                </a:lnSpc>
                <a:defRPr sz="15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pPr>
              <a:r>
                <a:rPr sz="1000"/>
                <a:t>-</a:t>
              </a:r>
              <a:r>
                <a:rPr sz="1467"/>
                <a:t>44</a:t>
              </a:r>
              <a:r>
                <a:rPr sz="1000"/>
                <a:t>%</a:t>
              </a:r>
            </a:p>
          </p:txBody>
        </p:sp>
        <p:sp>
          <p:nvSpPr>
            <p:cNvPr id="5643" name="default_name"/>
            <p:cNvSpPr txBox="1"/>
            <p:nvPr/>
          </p:nvSpPr>
          <p:spPr>
            <a:xfrm>
              <a:off x="3009900" y="1152524"/>
              <a:ext cx="84772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私信开口成本</a:t>
              </a:r>
            </a:p>
          </p:txBody>
        </p:sp>
        <p:sp>
          <p:nvSpPr>
            <p:cNvPr id="5644" name="name_250"/>
            <p:cNvSpPr txBox="1"/>
            <p:nvPr/>
          </p:nvSpPr>
          <p:spPr>
            <a:xfrm>
              <a:off x="1876425" y="709835"/>
              <a:ext cx="600077" cy="466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700"/>
                </a:lnSpc>
                <a:defRPr sz="2200">
                  <a:solidFill>
                    <a:srgbClr val="0BB77E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467"/>
                <a:t>250</a:t>
              </a:r>
            </a:p>
          </p:txBody>
        </p:sp>
        <p:sp>
          <p:nvSpPr>
            <p:cNvPr id="5645" name="CPL"/>
            <p:cNvSpPr txBox="1"/>
            <p:nvPr/>
          </p:nvSpPr>
          <p:spPr>
            <a:xfrm>
              <a:off x="1666875" y="1152524"/>
              <a:ext cx="1000127" cy="190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900">
                  <a:solidFill>
                    <a:srgbClr val="333333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600"/>
                <a:t>关联笔记最优CPL</a:t>
              </a:r>
            </a:p>
          </p:txBody>
        </p:sp>
        <p:sp>
          <p:nvSpPr>
            <p:cNvPr id="5646" name="default_name"/>
            <p:cNvSpPr txBox="1"/>
            <p:nvPr/>
          </p:nvSpPr>
          <p:spPr>
            <a:xfrm>
              <a:off x="1409700" y="268036"/>
              <a:ext cx="2486027" cy="2259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300"/>
                </a:lnSpc>
                <a:defRPr sz="1100">
                  <a:solidFill>
                    <a:srgbClr val="191919"/>
                  </a:solidFill>
                  <a:latin typeface="FZVariable-LanTingHeiK Normal"/>
                  <a:ea typeface="FZVariable-LanTingHeiK Normal"/>
                  <a:cs typeface="FZVariable-LanTingHeiK Normal"/>
                  <a:sym typeface="FZVariable-LanTingHeiK Normal"/>
                </a:defRPr>
              </a:lvl1pPr>
            </a:lstStyle>
            <a:p>
              <a:r>
                <a:rPr sz="733"/>
                <a:t>前端到链路后效，实现线索聚焦</a:t>
              </a:r>
            </a:p>
          </p:txBody>
        </p:sp>
        <p:sp>
          <p:nvSpPr>
            <p:cNvPr id="5647" name="default_name"/>
            <p:cNvSpPr txBox="1"/>
            <p:nvPr/>
          </p:nvSpPr>
          <p:spPr>
            <a:xfrm>
              <a:off x="180974" y="224949"/>
              <a:ext cx="1162052" cy="3121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1800"/>
                </a:lnSpc>
                <a:defRPr sz="1500">
                  <a:solidFill>
                    <a:srgbClr val="FFFFFF"/>
                  </a:solidFill>
                  <a:latin typeface="FZVariable-LanTingHeiK Medium"/>
                  <a:ea typeface="FZVariable-LanTingHeiK Medium"/>
                  <a:cs typeface="FZVariable-LanTingHeiK Medium"/>
                  <a:sym typeface="FZVariable-LanTingHeiK Medium"/>
                </a:defRPr>
              </a:lvl1pPr>
            </a:lstStyle>
            <a:p>
              <a:r>
                <a:rPr sz="1000"/>
                <a:t>助力转化</a:t>
              </a:r>
            </a:p>
          </p:txBody>
        </p:sp>
      </p:grpSp>
      <p:sp>
        <p:nvSpPr>
          <p:cNvPr id="5649" name="Text 40"/>
          <p:cNvSpPr txBox="1"/>
          <p:nvPr/>
        </p:nvSpPr>
        <p:spPr>
          <a:xfrm>
            <a:off x="3454400" y="2599285"/>
            <a:ext cx="16002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真实趋势长出</a:t>
            </a:r>
          </a:p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「好路书」</a:t>
            </a:r>
          </a:p>
        </p:txBody>
      </p:sp>
      <p:sp>
        <p:nvSpPr>
          <p:cNvPr id="5650" name="Text 41"/>
          <p:cNvSpPr txBox="1"/>
          <p:nvPr/>
        </p:nvSpPr>
        <p:spPr>
          <a:xfrm>
            <a:off x="5295900" y="2599285"/>
            <a:ext cx="16002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真实需求激发</a:t>
            </a:r>
          </a:p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「好交互」</a:t>
            </a:r>
          </a:p>
        </p:txBody>
      </p:sp>
      <p:sp>
        <p:nvSpPr>
          <p:cNvPr id="5651" name="Text 42"/>
          <p:cNvSpPr txBox="1"/>
          <p:nvPr/>
        </p:nvSpPr>
        <p:spPr>
          <a:xfrm>
            <a:off x="7137400" y="2599285"/>
            <a:ext cx="16002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真实家庭塑造</a:t>
            </a:r>
          </a:p>
          <a:p>
            <a:pPr algn="ctr">
              <a:lnSpc>
                <a:spcPts val="1200"/>
              </a:lnSpc>
              <a:defRPr sz="15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000"/>
              <a:t>「好群像」</a:t>
            </a:r>
          </a:p>
        </p:txBody>
      </p:sp>
      <p:sp>
        <p:nvSpPr>
          <p:cNvPr id="5652" name="Text 43"/>
          <p:cNvSpPr txBox="1"/>
          <p:nvPr/>
        </p:nvSpPr>
        <p:spPr>
          <a:xfrm>
            <a:off x="3454400" y="3060460"/>
            <a:ext cx="1600200" cy="29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lnSpc>
                <a:spcPts val="12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</a:defRPr>
            </a:lvl1pPr>
          </a:lstStyle>
          <a:p>
            <a:r>
              <a:rPr sz="667" dirty="0" err="1"/>
              <a:t>热点趋势×亲子场景×独特情绪</a:t>
            </a:r>
            <a:endParaRPr sz="667" dirty="0"/>
          </a:p>
          <a:p>
            <a:r>
              <a:rPr sz="667" dirty="0" err="1"/>
              <a:t>定制不扫兴的亲子启迪之旅</a:t>
            </a:r>
            <a:endParaRPr sz="667" dirty="0"/>
          </a:p>
        </p:txBody>
      </p:sp>
      <p:sp>
        <p:nvSpPr>
          <p:cNvPr id="5653" name="SPU"/>
          <p:cNvSpPr txBox="1"/>
          <p:nvPr/>
        </p:nvSpPr>
        <p:spPr>
          <a:xfrm>
            <a:off x="5143500" y="3104159"/>
            <a:ext cx="19050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67" dirty="0" err="1"/>
              <a:t>评论区真实互动好口碑，深度链接车型</a:t>
            </a:r>
            <a:endParaRPr sz="667" dirty="0"/>
          </a:p>
          <a:p>
            <a:pPr algn="ctr">
              <a:lnSpc>
                <a:spcPts val="8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67" dirty="0" err="1"/>
              <a:t>让家庭自驾兴趣人群成为SPU</a:t>
            </a:r>
            <a:r>
              <a:rPr sz="667" dirty="0"/>
              <a:t> </a:t>
            </a:r>
            <a:r>
              <a:rPr sz="667" dirty="0" err="1"/>
              <a:t>种草人群</a:t>
            </a:r>
            <a:endParaRPr sz="667" dirty="0"/>
          </a:p>
        </p:txBody>
      </p:sp>
      <p:sp>
        <p:nvSpPr>
          <p:cNvPr id="5654" name="Text 45"/>
          <p:cNvSpPr txBox="1"/>
          <p:nvPr/>
        </p:nvSpPr>
        <p:spPr>
          <a:xfrm>
            <a:off x="6985000" y="3104159"/>
            <a:ext cx="1905000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8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67"/>
              <a:t>多层级亲子博主矩阵极氪出发</a:t>
            </a:r>
          </a:p>
          <a:p>
            <a:pPr algn="ctr">
              <a:lnSpc>
                <a:spcPts val="8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67"/>
              <a:t>故事讲好每一个#不扫兴父母 的自驾向往</a:t>
            </a:r>
          </a:p>
        </p:txBody>
      </p:sp>
      <p:sp>
        <p:nvSpPr>
          <p:cNvPr id="5655" name="IP"/>
          <p:cNvSpPr txBox="1"/>
          <p:nvPr/>
        </p:nvSpPr>
        <p:spPr>
          <a:xfrm>
            <a:off x="4260850" y="1804715"/>
            <a:ext cx="3689350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533"/>
              </a:lnSpc>
              <a:defRPr sz="1900" spc="116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67"/>
              <a:t>IP锚定认知标签</a:t>
            </a:r>
          </a:p>
          <a:p>
            <a:pPr algn="ctr">
              <a:lnSpc>
                <a:spcPts val="1533"/>
              </a:lnSpc>
              <a:defRPr sz="1900" spc="116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67"/>
              <a:t>打造行业首个亲子路书心智标杆</a:t>
            </a:r>
          </a:p>
        </p:txBody>
      </p:sp>
      <p:sp>
        <p:nvSpPr>
          <p:cNvPr id="5656" name="XFS"/>
          <p:cNvSpPr txBox="1"/>
          <p:nvPr/>
        </p:nvSpPr>
        <p:spPr>
          <a:xfrm>
            <a:off x="9525000" y="1798365"/>
            <a:ext cx="1854200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533"/>
              </a:lnSpc>
              <a:defRPr sz="1900" spc="116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67" dirty="0" err="1"/>
              <a:t>FS长效种草</a:t>
            </a:r>
            <a:endParaRPr sz="1267" dirty="0"/>
          </a:p>
          <a:p>
            <a:pPr algn="ctr">
              <a:lnSpc>
                <a:spcPts val="1533"/>
              </a:lnSpc>
              <a:defRPr sz="1900" spc="116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67" dirty="0" err="1"/>
              <a:t>沉淀家庭标签认知</a:t>
            </a:r>
            <a:endParaRPr sz="1267" dirty="0"/>
          </a:p>
        </p:txBody>
      </p:sp>
      <p:sp>
        <p:nvSpPr>
          <p:cNvPr id="5657" name="KOS"/>
          <p:cNvSpPr txBox="1"/>
          <p:nvPr/>
        </p:nvSpPr>
        <p:spPr>
          <a:xfrm>
            <a:off x="9525000" y="4230415"/>
            <a:ext cx="1854200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1533"/>
              </a:lnSpc>
              <a:defRPr sz="1900" spc="116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67"/>
              <a:t>KOS矩阵高效承接</a:t>
            </a:r>
          </a:p>
          <a:p>
            <a:pPr algn="ctr">
              <a:lnSpc>
                <a:spcPts val="1533"/>
              </a:lnSpc>
              <a:defRPr sz="1900" spc="116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pPr>
            <a:r>
              <a:rPr sz="1267"/>
              <a:t>闭环转化链路</a:t>
            </a:r>
          </a:p>
        </p:txBody>
      </p:sp>
      <p:sp>
        <p:nvSpPr>
          <p:cNvPr id="5658" name="default_name"/>
          <p:cNvSpPr txBox="1"/>
          <p:nvPr/>
        </p:nvSpPr>
        <p:spPr>
          <a:xfrm>
            <a:off x="4279900" y="46419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特色路书攻略</a:t>
            </a:r>
          </a:p>
        </p:txBody>
      </p:sp>
      <p:sp>
        <p:nvSpPr>
          <p:cNvPr id="5659" name="default_name"/>
          <p:cNvSpPr txBox="1"/>
          <p:nvPr/>
        </p:nvSpPr>
        <p:spPr>
          <a:xfrm>
            <a:off x="3454400" y="46419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亲子出游氛围</a:t>
            </a:r>
          </a:p>
        </p:txBody>
      </p:sp>
      <p:sp>
        <p:nvSpPr>
          <p:cNvPr id="5660" name="default_name"/>
          <p:cNvSpPr txBox="1"/>
          <p:nvPr/>
        </p:nvSpPr>
        <p:spPr>
          <a:xfrm>
            <a:off x="4279900" y="61278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丰富内容承接</a:t>
            </a:r>
          </a:p>
        </p:txBody>
      </p:sp>
      <p:sp>
        <p:nvSpPr>
          <p:cNvPr id="5661" name="default_name"/>
          <p:cNvSpPr txBox="1"/>
          <p:nvPr/>
        </p:nvSpPr>
        <p:spPr>
          <a:xfrm>
            <a:off x="3454400" y="61278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达人一人一故事</a:t>
            </a:r>
          </a:p>
        </p:txBody>
      </p:sp>
      <p:sp>
        <p:nvSpPr>
          <p:cNvPr id="5662" name="default_name"/>
          <p:cNvSpPr txBox="1"/>
          <p:nvPr/>
        </p:nvSpPr>
        <p:spPr>
          <a:xfrm>
            <a:off x="6121400" y="61278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旅行攻略向交互</a:t>
            </a:r>
          </a:p>
        </p:txBody>
      </p:sp>
      <p:sp>
        <p:nvSpPr>
          <p:cNvPr id="5663" name="default_name"/>
          <p:cNvSpPr txBox="1"/>
          <p:nvPr/>
        </p:nvSpPr>
        <p:spPr>
          <a:xfrm>
            <a:off x="6121400" y="46419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路线组件应用</a:t>
            </a:r>
          </a:p>
        </p:txBody>
      </p:sp>
      <p:sp>
        <p:nvSpPr>
          <p:cNvPr id="5664" name="default_name"/>
          <p:cNvSpPr txBox="1"/>
          <p:nvPr/>
        </p:nvSpPr>
        <p:spPr>
          <a:xfrm>
            <a:off x="5295900" y="61278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车型功能向交互</a:t>
            </a:r>
          </a:p>
        </p:txBody>
      </p:sp>
      <p:sp>
        <p:nvSpPr>
          <p:cNvPr id="5665" name="default_name"/>
          <p:cNvSpPr txBox="1"/>
          <p:nvPr/>
        </p:nvSpPr>
        <p:spPr>
          <a:xfrm>
            <a:off x="5295900" y="4641968"/>
            <a:ext cx="7747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达人主动交互</a:t>
            </a:r>
          </a:p>
        </p:txBody>
      </p:sp>
      <p:sp>
        <p:nvSpPr>
          <p:cNvPr id="5666" name="name_18"/>
          <p:cNvSpPr txBox="1"/>
          <p:nvPr/>
        </p:nvSpPr>
        <p:spPr>
          <a:xfrm>
            <a:off x="11093450" y="3314848"/>
            <a:ext cx="546100" cy="31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0BB77E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1467"/>
              <a:t>18%</a:t>
            </a:r>
          </a:p>
        </p:txBody>
      </p:sp>
      <p:sp>
        <p:nvSpPr>
          <p:cNvPr id="5667" name="CTR"/>
          <p:cNvSpPr txBox="1"/>
          <p:nvPr/>
        </p:nvSpPr>
        <p:spPr>
          <a:xfrm>
            <a:off x="11087100" y="3563628"/>
            <a:ext cx="55880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CTR</a:t>
            </a:r>
          </a:p>
        </p:txBody>
      </p:sp>
      <p:sp>
        <p:nvSpPr>
          <p:cNvPr id="5668" name="KOC"/>
          <p:cNvSpPr txBox="1"/>
          <p:nvPr/>
        </p:nvSpPr>
        <p:spPr>
          <a:xfrm>
            <a:off x="7137400" y="4648318"/>
            <a:ext cx="16002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KOC 路线加热、产品力内容种草</a:t>
            </a:r>
          </a:p>
        </p:txBody>
      </p:sp>
      <p:sp>
        <p:nvSpPr>
          <p:cNvPr id="5669" name="default_name"/>
          <p:cNvSpPr txBox="1"/>
          <p:nvPr/>
        </p:nvSpPr>
        <p:spPr>
          <a:xfrm>
            <a:off x="7137400" y="6127868"/>
            <a:ext cx="1600200" cy="12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100"/>
              </a:lnSpc>
              <a:defRPr sz="900" spc="54">
                <a:solidFill>
                  <a:srgbClr val="191919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00"/>
              <a:t>多城亲子活动沉淀品牌车主群像</a:t>
            </a:r>
          </a:p>
        </p:txBody>
      </p:sp>
      <p:sp>
        <p:nvSpPr>
          <p:cNvPr id="5670" name="default_name"/>
          <p:cNvSpPr txBox="1"/>
          <p:nvPr/>
        </p:nvSpPr>
        <p:spPr>
          <a:xfrm>
            <a:off x="9245600" y="4794755"/>
            <a:ext cx="2374900" cy="13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333333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lvl1pPr>
          </a:lstStyle>
          <a:p>
            <a:r>
              <a:rPr sz="667"/>
              <a:t>通过「私信+表单」深度联动，高效承接流量并精准转化</a:t>
            </a:r>
          </a:p>
        </p:txBody>
      </p:sp>
      <p:sp>
        <p:nvSpPr>
          <p:cNvPr id="5671" name="default_name"/>
          <p:cNvSpPr txBox="1"/>
          <p:nvPr/>
        </p:nvSpPr>
        <p:spPr>
          <a:xfrm>
            <a:off x="9232900" y="2660651"/>
            <a:ext cx="844550" cy="162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200">
                <a:solidFill>
                  <a:srgbClr val="FFFFFF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800"/>
              <a:t>顾己悦家人群</a:t>
            </a:r>
          </a:p>
        </p:txBody>
      </p:sp>
      <p:sp>
        <p:nvSpPr>
          <p:cNvPr id="5672" name="- -DNA"/>
          <p:cNvSpPr txBox="1"/>
          <p:nvPr/>
        </p:nvSpPr>
        <p:spPr>
          <a:xfrm>
            <a:off x="9201150" y="3473450"/>
            <a:ext cx="1117600" cy="17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733"/>
              </a:lnSpc>
              <a:defRPr sz="9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00"/>
              <a:t>情绪</a:t>
            </a:r>
            <a:r>
              <a:rPr sz="600">
                <a:solidFill>
                  <a:srgbClr val="191919"/>
                </a:solidFill>
              </a:rPr>
              <a:t>-不扫兴的满满启迪感</a:t>
            </a:r>
          </a:p>
          <a:p>
            <a:pPr>
              <a:lnSpc>
                <a:spcPts val="733"/>
              </a:lnSpc>
              <a:defRPr sz="900">
                <a:solidFill>
                  <a:srgbClr val="0BB77E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600"/>
              <a:t>产品</a:t>
            </a:r>
            <a:r>
              <a:rPr sz="600">
                <a:solidFill>
                  <a:srgbClr val="191919"/>
                </a:solidFill>
              </a:rPr>
              <a:t>-家庭座舱DNA强化</a:t>
            </a:r>
          </a:p>
        </p:txBody>
      </p:sp>
      <p:sp>
        <p:nvSpPr>
          <p:cNvPr id="5673" name="default_name"/>
          <p:cNvSpPr txBox="1"/>
          <p:nvPr/>
        </p:nvSpPr>
        <p:spPr>
          <a:xfrm>
            <a:off x="9398000" y="3058029"/>
            <a:ext cx="768350" cy="13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sz="1000">
                <a:solidFill>
                  <a:srgbClr val="191919"/>
                </a:solidFill>
                <a:latin typeface="FZVariable-LanTingHeiK Medium"/>
                <a:ea typeface="FZVariable-LanTingHeiK Medium"/>
                <a:cs typeface="FZVariable-LanTingHeiK Medium"/>
                <a:sym typeface="FZVariable-LanTingHeiK Medium"/>
              </a:defRPr>
            </a:lvl1pPr>
          </a:lstStyle>
          <a:p>
            <a:r>
              <a:rPr sz="667"/>
              <a:t>「亲子出行」场景</a:t>
            </a:r>
          </a:p>
        </p:txBody>
      </p:sp>
      <p:sp>
        <p:nvSpPr>
          <p:cNvPr id="5674" name="name_20254-6IP"/>
          <p:cNvSpPr txBox="1"/>
          <p:nvPr/>
        </p:nvSpPr>
        <p:spPr>
          <a:xfrm>
            <a:off x="84535" y="6685049"/>
            <a:ext cx="3376215" cy="85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lnSpc>
                <a:spcPts val="733"/>
              </a:lnSpc>
              <a:defRPr sz="800">
                <a:solidFill>
                  <a:srgbClr val="818181"/>
                </a:solidFill>
                <a:latin typeface="FZVariable-LanTingHeiK Normal"/>
                <a:ea typeface="FZVariable-LanTingHeiK Normal"/>
                <a:cs typeface="FZVariable-LanTingHeiK Normal"/>
                <a:sym typeface="FZVariable-LanTingHeiK Normal"/>
              </a:defRPr>
            </a:pPr>
            <a:r>
              <a:rPr sz="533"/>
              <a:t>*数据来源：小红书内部数据，活动计算周期为2025/8/5-9/4，对比周期为2025/7/5-8/4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0E3BC15-F8E6-4F41-4746-099185C2969F}"/>
              </a:ext>
            </a:extLst>
          </p:cNvPr>
          <p:cNvGrpSpPr/>
          <p:nvPr/>
        </p:nvGrpSpPr>
        <p:grpSpPr>
          <a:xfrm>
            <a:off x="315420" y="286491"/>
            <a:ext cx="1976237" cy="443020"/>
            <a:chOff x="473129" y="429735"/>
            <a:chExt cx="2964355" cy="664530"/>
          </a:xfrm>
        </p:grpSpPr>
        <p:pic>
          <p:nvPicPr>
            <p:cNvPr id="5" name="Line 18" descr="Line 18">
              <a:extLst>
                <a:ext uri="{FF2B5EF4-FFF2-40B4-BE49-F238E27FC236}">
                  <a16:creationId xmlns:a16="http://schemas.microsoft.com/office/drawing/2014/main" id="{833665D7-1B3E-45CF-B4EB-669D7AA70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473129" y="599739"/>
              <a:ext cx="2511136" cy="29434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" name="default_name">
              <a:extLst>
                <a:ext uri="{FF2B5EF4-FFF2-40B4-BE49-F238E27FC236}">
                  <a16:creationId xmlns:a16="http://schemas.microsoft.com/office/drawing/2014/main" id="{F8149F40-FA73-7793-9B02-CC2D4876C160}"/>
                </a:ext>
              </a:extLst>
            </p:cNvPr>
            <p:cNvSpPr txBox="1"/>
            <p:nvPr/>
          </p:nvSpPr>
          <p:spPr>
            <a:xfrm>
              <a:off x="475208" y="429735"/>
              <a:ext cx="2266951" cy="3121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ts val="1800"/>
                </a:lnSpc>
                <a:defRPr sz="1500" spc="300">
                  <a:solidFill>
                    <a:srgbClr val="1A1A1A"/>
                  </a:solidFill>
                  <a:latin typeface="FZVariable-LanTingHeiK Regular"/>
                  <a:ea typeface="FZVariable-LanTingHeiK Regular"/>
                  <a:cs typeface="FZVariable-LanTingHeiK Regular"/>
                  <a:sym typeface="FZVariable-LanTingHeiK Regular"/>
                </a:defRPr>
              </a:lvl1pPr>
            </a:lstStyle>
            <a:p>
              <a:r>
                <a:rPr sz="1000" dirty="0" err="1"/>
                <a:t>行业解决方案</a:t>
              </a:r>
              <a:endParaRPr sz="1000" dirty="0"/>
            </a:p>
          </p:txBody>
        </p:sp>
        <p:sp>
          <p:nvSpPr>
            <p:cNvPr id="7" name="default_name">
              <a:extLst>
                <a:ext uri="{FF2B5EF4-FFF2-40B4-BE49-F238E27FC236}">
                  <a16:creationId xmlns:a16="http://schemas.microsoft.com/office/drawing/2014/main" id="{963D7B46-85E7-9905-F9B5-92BBA164A013}"/>
                </a:ext>
              </a:extLst>
            </p:cNvPr>
            <p:cNvSpPr txBox="1"/>
            <p:nvPr/>
          </p:nvSpPr>
          <p:spPr>
            <a:xfrm>
              <a:off x="1665833" y="782160"/>
              <a:ext cx="1771651" cy="3121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ts val="1800"/>
                </a:lnSpc>
                <a:defRPr sz="1500" spc="300">
                  <a:solidFill>
                    <a:srgbClr val="0BB77E"/>
                  </a:solidFill>
                  <a:latin typeface="FZVariable-LanTingHeiK Regular"/>
                  <a:ea typeface="FZVariable-LanTingHeiK Regular"/>
                  <a:cs typeface="FZVariable-LanTingHeiK Regular"/>
                  <a:sym typeface="FZVariable-LanTingHeiK Regular"/>
                </a:defRPr>
              </a:lvl1pPr>
            </a:lstStyle>
            <a:p>
              <a:r>
                <a:rPr sz="1000" dirty="0" err="1"/>
                <a:t>交通出行行业</a:t>
              </a:r>
              <a:endParaRPr sz="10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9EA50B-CC59-5CE9-9878-7FCE47488D32}"/>
              </a:ext>
            </a:extLst>
          </p:cNvPr>
          <p:cNvGrpSpPr/>
          <p:nvPr/>
        </p:nvGrpSpPr>
        <p:grpSpPr>
          <a:xfrm>
            <a:off x="11233150" y="317500"/>
            <a:ext cx="641350" cy="304800"/>
            <a:chOff x="16849725" y="476250"/>
            <a:chExt cx="962025" cy="457200"/>
          </a:xfrm>
        </p:grpSpPr>
        <p:pic>
          <p:nvPicPr>
            <p:cNvPr id="3" name="Vector" descr="Vector">
              <a:extLst>
                <a:ext uri="{FF2B5EF4-FFF2-40B4-BE49-F238E27FC236}">
                  <a16:creationId xmlns:a16="http://schemas.microsoft.com/office/drawing/2014/main" id="{1359A51A-D78E-533E-5B8F-26DEB101A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6849725" y="476250"/>
              <a:ext cx="962025" cy="45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Vector" descr="Vector">
              <a:extLst>
                <a:ext uri="{FF2B5EF4-FFF2-40B4-BE49-F238E27FC236}">
                  <a16:creationId xmlns:a16="http://schemas.microsoft.com/office/drawing/2014/main" id="{B44DB338-3CF4-0347-AB77-A35961C81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7628477" y="598111"/>
              <a:ext cx="47626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Vector" descr="Vector">
              <a:extLst>
                <a:ext uri="{FF2B5EF4-FFF2-40B4-BE49-F238E27FC236}">
                  <a16:creationId xmlns:a16="http://schemas.microsoft.com/office/drawing/2014/main" id="{C832B31F-1BB2-3062-AD7B-981102449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7454179" y="582947"/>
              <a:ext cx="219076" cy="24765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Vector" descr="Vector">
              <a:extLst>
                <a:ext uri="{FF2B5EF4-FFF2-40B4-BE49-F238E27FC236}">
                  <a16:creationId xmlns:a16="http://schemas.microsoft.com/office/drawing/2014/main" id="{972F5CED-7711-CEF1-FEB0-1D9FB249B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7207886" y="777366"/>
              <a:ext cx="95251" cy="476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Vector" descr="Vector">
              <a:extLst>
                <a:ext uri="{FF2B5EF4-FFF2-40B4-BE49-F238E27FC236}">
                  <a16:creationId xmlns:a16="http://schemas.microsoft.com/office/drawing/2014/main" id="{C55FB1D9-57E5-C9E9-58AF-D390DFC9F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7304246" y="598269"/>
              <a:ext cx="152401" cy="2286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2" name="Vector" descr="Vector">
              <a:extLst>
                <a:ext uri="{FF2B5EF4-FFF2-40B4-BE49-F238E27FC236}">
                  <a16:creationId xmlns:a16="http://schemas.microsoft.com/office/drawing/2014/main" id="{3041947E-097E-CC4D-5086-1DA163995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7150844" y="643918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3" name="Vector" descr="Vector">
              <a:extLst>
                <a:ext uri="{FF2B5EF4-FFF2-40B4-BE49-F238E27FC236}">
                  <a16:creationId xmlns:a16="http://schemas.microsoft.com/office/drawing/2014/main" id="{6223FA22-B61F-F5EA-C0FC-16873B706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7220274" y="582790"/>
              <a:ext cx="104776" cy="1809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4" name="Vector" descr="Vector">
              <a:extLst>
                <a:ext uri="{FF2B5EF4-FFF2-40B4-BE49-F238E27FC236}">
                  <a16:creationId xmlns:a16="http://schemas.microsoft.com/office/drawing/2014/main" id="{325C19C1-96FD-536A-3EFB-5E3F1CEC0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6987223" y="643762"/>
              <a:ext cx="57151" cy="16192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5" name="Vector" descr="Vector">
              <a:extLst>
                <a:ext uri="{FF2B5EF4-FFF2-40B4-BE49-F238E27FC236}">
                  <a16:creationId xmlns:a16="http://schemas.microsoft.com/office/drawing/2014/main" id="{6F9D8C73-CF97-333D-1940-39B8F9861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7041775" y="582869"/>
              <a:ext cx="76201" cy="247651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249547670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Macintosh PowerPoint</Application>
  <PresentationFormat>宽屏</PresentationFormat>
  <Paragraphs>625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等线 Light</vt:lpstr>
      <vt:lpstr>默陌专辑手写体</vt:lpstr>
      <vt:lpstr>FZLanTingHeiS-R-GB</vt:lpstr>
      <vt:lpstr>等线</vt:lpstr>
      <vt:lpstr>方正可变兰亭黑 GBK DemiBold</vt:lpstr>
      <vt:lpstr>方正可变兰亭黑 GBK Normal</vt:lpstr>
      <vt:lpstr>方正可变兰亭黑 GBK SemiBold</vt:lpstr>
      <vt:lpstr>Arial</vt:lpstr>
      <vt:lpstr>FZVariable-LanTingHeiK DemiBold</vt:lpstr>
      <vt:lpstr>FZVariable-LanTingHeiK Medium</vt:lpstr>
      <vt:lpstr>FZVariable-LanTingHeiK Normal</vt:lpstr>
      <vt:lpstr>FZVariable-LanTingHeiK Regular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柏瑞(许冰)</dc:creator>
  <cp:lastModifiedBy>柏瑞(许冰)</cp:lastModifiedBy>
  <cp:revision>1</cp:revision>
  <dcterms:created xsi:type="dcterms:W3CDTF">2025-11-17T10:05:37Z</dcterms:created>
  <dcterms:modified xsi:type="dcterms:W3CDTF">2025-11-17T10:05:50Z</dcterms:modified>
</cp:coreProperties>
</file>